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8" r:id="rId2"/>
    <p:sldId id="256" r:id="rId3"/>
    <p:sldId id="259" r:id="rId4"/>
    <p:sldId id="260" r:id="rId5"/>
    <p:sldId id="261" r:id="rId6"/>
    <p:sldId id="262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108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0CEF5-4124-458A-8583-FB2A0D68282E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3B765-2686-4739-8603-5834023752E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89067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09DFA-F781-71DC-9D3A-ECC464C6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79AD58-081B-C7CD-9101-33B3A98B9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B56AC6-6E78-3A66-B47E-E960E449D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F68E9-4CFC-EA7F-61B8-D93F53CEC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06574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0.6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MY" b="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MY" b="0" i="0">
                    <a:latin typeface="Cambria Math" panose="02040503050406030204" pitchFamily="18" charset="0"/>
                  </a:rPr>
                  <a:t>0.6𝜇𝐽</a:t>
                </a:r>
                <a:endParaRPr lang="en-MY" b="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02378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A8445-1434-A6C5-DD3D-393248473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14B00D-312B-B559-3C5E-31DB4BE9C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6CA29B-829D-7A3E-2072-AB92EB018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4FCE3-8BD4-1305-E035-7B9237F58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23526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940CB-83AA-FEED-6D38-FC36FE394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382B3-F7E2-5A8F-E2BE-4719F475E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D6721-3C08-F3F7-DCE1-9351FC1CD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01A84-4386-F919-3545-F441461C7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326D1-54C0-6645-11B9-C995CA547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04071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672CD-2146-A154-CB60-45C2AE3B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4CFBA-CC5B-FD7D-D602-95D158FE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F5399-CF13-1A74-3193-FB091646A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F2552-908B-26F0-683B-6CA8592B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2340E-1E35-1792-237B-E1E419D1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35110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39A0E-42E0-28EE-A652-E3B48B044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53DC9-E969-6C3A-A673-075A8607C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93A57-068D-0431-657D-841E745BC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23DA3-1F90-5953-EE0A-00B4D56FC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073B0-0893-FEEE-5D0A-31C8A8AF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9418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BFDA9-AFF2-2193-8F0F-FEE067377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2D64B-B17A-756A-873D-D580991F2B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BDFAC-E7C7-9EA5-1225-34435CB30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67A79-CC94-AA11-7A35-762654D8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652DF-803F-1BCD-40FE-BA513CFD7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C13ED-563C-395B-B1D8-92C7A0EED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70031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38F2-59AD-91D5-831E-F539FE69A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1DE0C-B675-0DDB-F4A3-1D6950E1B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4E4A2-6689-557D-7517-4E25FC33A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28DF93-BA40-2821-7EF0-9BD0D0A20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EAE9F4-45C3-8A9B-02B1-644E6979C8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5D81FC-1D00-EFA1-3DDB-C4634FB38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1851B1-80B1-D619-7F06-0F8E89C8A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C0266-1D1D-F642-3E67-D9255178A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18140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57CD1-7190-1DED-9F40-7DCA9C672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54E00-4BD4-2900-B7EC-530770CF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D50B4-6816-6438-6383-1167B81C0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8A394-E2E6-EFB4-BCD3-45EF27F5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2426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D5E243-5463-7691-A214-28343B5DB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5AB2A8-BB1A-B244-E84C-2BD2B469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629AF-CD06-ED3A-7AC2-F26C10D9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20022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B308A-6A8A-BCCB-F6F9-CB915B900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6F399-8DC7-F7B9-9B1C-D6F0C3AE9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A30F3-8CEB-A7F2-82C0-255700ECF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95D97-FFBA-67D7-860A-AAFB90009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18DEB-F09B-799A-4B47-24536127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DC1FC-1BD9-1043-38E7-480220A24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53493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92CA-AF88-D64A-2D0A-8B2F9FE5D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9B5D9-87CB-DE19-AC1A-230BF51E6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C1227-2884-8153-D35A-B4F45C2B4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531CE-C6E7-A01F-E604-3F4B61872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99F5A-5453-F268-0F10-3FB21E28C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12E33-F8D9-37A7-D117-830612FC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9421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80ED1-526A-2729-4ACC-A8C245D6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E80B4-FBD1-4A7B-9CC6-20BF9F741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A7411-E7D8-A6C9-9056-F59B95605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A80FC-282A-7E6F-EE62-CBCE49782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7EEB0-DB70-2C66-81A4-A309224A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8176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BD3C9F-AF0C-BBE6-0F98-6C25C7C901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6AB9E-C065-27C1-DB2C-ACA843A38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19D27-5EC9-8652-91EB-6A78D89E6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45C3E-F9BC-9DB4-04C4-1ADC3814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8F4AB-406B-715D-6FCC-D99A2EB4A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1436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FD0A0E-460E-E9FA-E9E4-87AE7EE35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5FA3C-465B-83E9-D0E7-54669221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DCB74-1911-22F8-3203-FBFEBF84F8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6523D-066E-1413-0583-CBB11B742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E1E20-D761-F365-AE58-8616DCE38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74157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9E101-8B62-ECAE-2C79-C28FEC5E5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E87BEFE-31A3-C3D8-0DCB-823A7F5EF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87" y="463322"/>
            <a:ext cx="11811256" cy="42538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67DB3D-1320-B7D5-103E-FD5C510681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667" t="32796" r="25476" b="31208"/>
          <a:stretch>
            <a:fillRect/>
          </a:stretch>
        </p:blipFill>
        <p:spPr>
          <a:xfrm>
            <a:off x="9593943" y="5259640"/>
            <a:ext cx="2206172" cy="13588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2192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4C75A69A-2B8B-32D1-9EBF-4FFB28A6B2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131" t="31313" r="14285" b="50228"/>
          <a:stretch>
            <a:fillRect/>
          </a:stretch>
        </p:blipFill>
        <p:spPr>
          <a:xfrm>
            <a:off x="340279" y="508000"/>
            <a:ext cx="9733940" cy="2921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52307E-A03B-4420-30B1-095F4E84264D}"/>
                  </a:ext>
                </a:extLst>
              </p:cNvPr>
              <p:cNvSpPr txBox="1"/>
              <p:nvPr/>
            </p:nvSpPr>
            <p:spPr>
              <a:xfrm>
                <a:off x="10307401" y="5787408"/>
                <a:ext cx="1422400" cy="5847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3200" b="0" i="1" smtClean="0">
                          <a:latin typeface="Cambria Math" panose="02040503050406030204" pitchFamily="18" charset="0"/>
                        </a:rPr>
                        <m:t>0.6</m:t>
                      </m:r>
                      <m:r>
                        <a:rPr lang="en-MY" sz="32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MY" sz="3200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MY" sz="3200" b="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52307E-A03B-4420-30B1-095F4E842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7401" y="5787408"/>
                <a:ext cx="142240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AF0D7DFF-0B11-7D10-98FA-C69D9662FC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7781" y="2670628"/>
            <a:ext cx="5241458" cy="340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45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E8168-E4E2-C7C6-44AF-21E379AF4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0B6BFA1-F8FD-8912-8833-B1D23A067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47" y="265746"/>
            <a:ext cx="8794433" cy="63112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9C2886-1853-42C6-3CC3-E49696FB2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59" y="4915231"/>
            <a:ext cx="2529841" cy="16618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87791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5C962B-7CEA-A8C9-7CBE-40416847C814}"/>
              </a:ext>
            </a:extLst>
          </p:cNvPr>
          <p:cNvSpPr txBox="1"/>
          <p:nvPr/>
        </p:nvSpPr>
        <p:spPr>
          <a:xfrm>
            <a:off x="486696" y="341442"/>
            <a:ext cx="10530348" cy="1513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628015" lvl="0">
              <a:lnSpc>
                <a:spcPct val="113000"/>
              </a:lnSpc>
              <a:spcBef>
                <a:spcPts val="600"/>
              </a:spcBef>
              <a:tabLst>
                <a:tab pos="650240" algn="l"/>
                <a:tab pos="950595" algn="l"/>
              </a:tabLst>
            </a:pPr>
            <a:r>
              <a:rPr lang="ms-MY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4(a)  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ms-MY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circular</a:t>
            </a:r>
            <a:r>
              <a:rPr lang="ms-MY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coil</a:t>
            </a:r>
            <a:r>
              <a:rPr lang="ms-MY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100</a:t>
            </a:r>
            <a:r>
              <a:rPr lang="ms-MY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turns</a:t>
            </a:r>
            <a:r>
              <a:rPr lang="ms-MY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ms-MY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ms-MY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plane</a:t>
            </a:r>
            <a:r>
              <a:rPr lang="ms-MY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area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8.0</a:t>
            </a:r>
            <a:r>
              <a:rPr lang="ms-MY" spc="-5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× 10</a:t>
            </a:r>
            <a:r>
              <a:rPr lang="ms-MY" spc="0" baseline="300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−3</a:t>
            </a:r>
            <a:r>
              <a:rPr lang="ms-MY" spc="0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 m</a:t>
            </a:r>
            <a:r>
              <a:rPr lang="ms-MY" spc="0" baseline="300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2</a:t>
            </a:r>
            <a:r>
              <a:rPr lang="ms-MY" spc="0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ms-MY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placed</a:t>
            </a:r>
            <a:r>
              <a:rPr lang="ms-MY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ms-MY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magnetic field of 0.2 T.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spcBef>
                <a:spcPts val="25"/>
              </a:spcBef>
              <a:buSzPts val="1200"/>
              <a:tabLst>
                <a:tab pos="1316355" algn="l"/>
              </a:tabLst>
            </a:pPr>
            <a:r>
              <a:rPr lang="ms-MY" dirty="0">
                <a:latin typeface="Times New Roman" panose="02020603050405020304" pitchFamily="18" charset="0"/>
                <a:ea typeface="Times New Roman" panose="02020603050405020304" pitchFamily="18" charset="0"/>
              </a:rPr>
              <a:t>(i)  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Calculate</a:t>
            </a:r>
            <a:r>
              <a:rPr lang="ms-MY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magnetic</a:t>
            </a:r>
            <a:r>
              <a:rPr lang="ms-MY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flux</a:t>
            </a:r>
            <a:r>
              <a:rPr lang="ms-MY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linkage</a:t>
            </a:r>
            <a:r>
              <a:rPr lang="ms-MY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through</a:t>
            </a:r>
            <a:r>
              <a:rPr lang="ms-MY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coil</a:t>
            </a:r>
            <a:r>
              <a:rPr lang="ms-MY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</a:t>
            </a:r>
            <a:r>
              <a:rPr lang="ms-MY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plane</a:t>
            </a:r>
            <a:r>
              <a:rPr lang="ms-MY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coil 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makes</a:t>
            </a:r>
            <a:r>
              <a:rPr lang="ms-MY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 angle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30°</a:t>
            </a:r>
            <a:r>
              <a:rPr lang="ms-MY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ms-MY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magnetic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field. 								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 </a:t>
            </a:r>
            <a:r>
              <a:rPr lang="ms-MY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ms-MY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ms-MY" spc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(ii)  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coil</a:t>
            </a:r>
            <a:r>
              <a:rPr lang="ms-MY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ms-MY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then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rotated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about</a:t>
            </a:r>
            <a:r>
              <a:rPr lang="ms-MY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</a:t>
            </a:r>
            <a:r>
              <a:rPr lang="ms-MY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axis</a:t>
            </a:r>
            <a:r>
              <a:rPr lang="ms-MY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rotation</a:t>
            </a:r>
            <a:r>
              <a:rPr lang="ms-MY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perpendicular</a:t>
            </a:r>
            <a:r>
              <a:rPr lang="ms-MY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ms-MY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uniform magnetic field at a constant speed of 10.0 revolutions per second. Calculate 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maximum value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emf 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induced.	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 </a:t>
            </a:r>
            <a:r>
              <a:rPr lang="ms-MY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13A244-8FC1-696E-3135-B2EF484C62AD}"/>
              </a:ext>
            </a:extLst>
          </p:cNvPr>
          <p:cNvSpPr txBox="1"/>
          <p:nvPr/>
        </p:nvSpPr>
        <p:spPr>
          <a:xfrm>
            <a:off x="486696" y="2070977"/>
            <a:ext cx="10781072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905"/>
              </a:spcBef>
              <a:buSzPts val="1100"/>
              <a:tabLst>
                <a:tab pos="950595" algn="l"/>
              </a:tabLst>
            </a:pP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   A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600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turns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solenoid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0.01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long.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current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decreased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0.4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s,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induced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emf is</a:t>
            </a:r>
            <a:r>
              <a:rPr lang="ms-MY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0.015 V.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Calculate 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endParaRPr lang="en-MY" dirty="0">
              <a:effectLst/>
            </a:endParaRPr>
          </a:p>
          <a:p>
            <a:pPr>
              <a:spcBef>
                <a:spcPts val="200"/>
              </a:spcBef>
              <a:buSzPts val="1200"/>
              <a:tabLst>
                <a:tab pos="1316355" algn="l"/>
              </a:tabLst>
            </a:pP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(i)   self-inductance.									</a:t>
            </a:r>
            <a:r>
              <a:rPr lang="ms-MY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 </a:t>
            </a:r>
            <a:r>
              <a:rPr lang="ms-MY" sz="1600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z="1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sz="16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buSzPts val="1200"/>
              <a:tabLst>
                <a:tab pos="1316355" algn="l"/>
              </a:tabLst>
            </a:pP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(ii)  cross-sectional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area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solenoid.							</a:t>
            </a:r>
            <a:r>
              <a:rPr lang="ms-MY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 </a:t>
            </a:r>
            <a:r>
              <a:rPr lang="ms-MY" sz="1600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z="1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sz="16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buSzPts val="1200"/>
              <a:tabLst>
                <a:tab pos="1316355" algn="l"/>
              </a:tabLst>
            </a:pPr>
            <a:r>
              <a:rPr lang="ms-MY" dirty="0">
                <a:latin typeface="Times New Roman" panose="02020603050405020304" pitchFamily="18" charset="0"/>
                <a:ea typeface="Times New Roman" panose="02020603050405020304" pitchFamily="18" charset="0"/>
              </a:rPr>
              <a:t>(iii)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magnetic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flux linkage passing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through the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solenoid when the current is 3A.			</a:t>
            </a:r>
            <a:r>
              <a:rPr lang="ms-MY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 </a:t>
            </a:r>
            <a:r>
              <a:rPr lang="ms-MY" sz="1600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z="1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sz="16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77D542-AD5B-DADF-0519-DE1CD62A7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788" y="5287547"/>
            <a:ext cx="3077004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381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776691-198A-4219-6C06-0E96023B5258}"/>
              </a:ext>
            </a:extLst>
          </p:cNvPr>
          <p:cNvSpPr txBox="1"/>
          <p:nvPr/>
        </p:nvSpPr>
        <p:spPr>
          <a:xfrm>
            <a:off x="522027" y="219460"/>
            <a:ext cx="106964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MY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4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(a) A square coil of sides 15 cm and 300 turns has a resistance of 3.0 Ω. A uniform magnetic field is applied perpendicular to the plane of the coil. The magnitude of this field is increased uniformly from zero to 0.8 Wb m</a:t>
            </a:r>
            <a:r>
              <a:rPr lang="en-MY" sz="18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-2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 in a time of 0.8 s. Determine the magnitude of the induced emf and current in the coil. 													[4 </a:t>
            </a:r>
            <a:r>
              <a:rPr lang="en-MY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marks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]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ADDAB-2CD2-C238-C0B2-4F316D9AE826}"/>
              </a:ext>
            </a:extLst>
          </p:cNvPr>
          <p:cNvSpPr txBox="1"/>
          <p:nvPr/>
        </p:nvSpPr>
        <p:spPr>
          <a:xfrm>
            <a:off x="522027" y="1666123"/>
            <a:ext cx="106964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(b) A steady current of 2 A in a coil of 400 turns causes a flux linkage of 10</a:t>
            </a:r>
            <a:r>
              <a:rPr lang="en-MY" sz="18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-4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Wb. Calculate the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>
              <a:buFont typeface="+mj-lt"/>
              <a:buAutoNum type="romanLcPeriod"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inductance of the coil.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>
              <a:buFont typeface="+mj-lt"/>
              <a:buAutoNum type="romanLcPeriod"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average induced emf in the coil if the current reduces to zero in 0.08 s.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>
              <a:buFont typeface="+mj-lt"/>
              <a:buAutoNum type="romanLcPeriod"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energy stored in the coil. 						</a:t>
            </a:r>
          </a:p>
          <a:p>
            <a:pPr lvl="0"/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										[6 </a:t>
            </a:r>
            <a:r>
              <a:rPr lang="en-MY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marks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]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F8C10F-CF63-3202-5C94-589B3BA78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8704" y="5436988"/>
            <a:ext cx="2829320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008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29AC3A-486E-F2C8-8E47-022C6E40774E}"/>
              </a:ext>
            </a:extLst>
          </p:cNvPr>
          <p:cNvSpPr txBox="1"/>
          <p:nvPr/>
        </p:nvSpPr>
        <p:spPr>
          <a:xfrm>
            <a:off x="704234" y="423604"/>
            <a:ext cx="10887997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3020" lvl="0" algn="just">
              <a:lnSpc>
                <a:spcPct val="150000"/>
              </a:lnSpc>
              <a:spcBef>
                <a:spcPts val="500"/>
              </a:spcBef>
              <a:tabLst>
                <a:tab pos="464185" algn="l"/>
                <a:tab pos="1003935" algn="l"/>
              </a:tabLst>
            </a:pP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4(a) A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turns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coil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cross-sectional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area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5.8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 10</a:t>
            </a:r>
            <a:r>
              <a:rPr lang="en-US" spc="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-2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placed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uniform magnetic field of 1.8 T.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11430" lvl="1" indent="-285750" algn="just">
              <a:lnSpc>
                <a:spcPct val="150000"/>
              </a:lnSpc>
              <a:buFont typeface="+mj-lt"/>
              <a:buAutoNum type="alphaLcPeriod"/>
              <a:tabLst>
                <a:tab pos="147701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Calculate</a:t>
            </a:r>
            <a:r>
              <a:rPr lang="en-US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magnetic</a:t>
            </a:r>
            <a:r>
              <a:rPr lang="en-US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flux</a:t>
            </a:r>
            <a:r>
              <a:rPr lang="en-US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linkage</a:t>
            </a:r>
            <a:r>
              <a:rPr lang="en-US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coil</a:t>
            </a:r>
            <a:r>
              <a:rPr lang="en-US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</a:t>
            </a:r>
            <a:r>
              <a:rPr lang="en-US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plane</a:t>
            </a:r>
            <a:r>
              <a:rPr lang="en-US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coil makes an angle of 60° to the magnetic field.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15875" lvl="1" indent="-285750" algn="just">
              <a:lnSpc>
                <a:spcPct val="150000"/>
              </a:lnSpc>
              <a:buFont typeface="+mj-lt"/>
              <a:buAutoNum type="alphaLcPeriod"/>
              <a:tabLst>
                <a:tab pos="147701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the coil rotates about an axis perpendicular to the uniform magnetic field at a constant angular velocity of 20 revolutions per second, calculate the maximum induced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e.m.f.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 the coil.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r"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[5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b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F75AAB-BDDE-EC9C-2EF2-9EFDF0FB5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99" y="2724240"/>
            <a:ext cx="2970530" cy="2371725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709CBF43-5F78-6A69-AE8C-A624618DC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22619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MY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F0A314D-BE84-9F8C-04DE-8ED254CE6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149" y="3054298"/>
            <a:ext cx="683292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76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76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76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76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76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76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76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76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76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76375" algn="l"/>
              </a:tabLs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(b) FIGURE 5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shows a single loop of radius 10 cm with resistance of 0.4 Ω is placed perpendicularly in a uniform magnetic field of 1.6 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76375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Calculate the time taken for the magnetic field to reduce by 1.2 T if the induced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e.m.f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produced is 0.08 V.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76375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(ii) Calculate the induced current in the loop when the magnetic field decreases.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76375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(iii) By using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Len’z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law, state the direction of induced current in (b) (ii).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76375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[5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marks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62621F-579A-D5A3-33E6-1908BD915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33" y="5354934"/>
            <a:ext cx="3105583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39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9A8151-C6B4-D001-77A9-42B86A4F9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9951"/>
            <a:ext cx="3250965" cy="17719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F513ED-0199-750F-E2DF-194C4351A476}"/>
              </a:ext>
            </a:extLst>
          </p:cNvPr>
          <p:cNvSpPr txBox="1"/>
          <p:nvPr/>
        </p:nvSpPr>
        <p:spPr>
          <a:xfrm>
            <a:off x="3621505" y="260230"/>
            <a:ext cx="81694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a) FIGURE 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a model box placed in a uniform magnetic field of 0.2 T directed in the +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axis. Determine the magnetic flux through the shaded surface.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[3 marks]</a:t>
            </a:r>
            <a:endParaRPr lang="en-M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47C31E-B776-33F2-5A51-5F7BA74CB530}"/>
              </a:ext>
            </a:extLst>
          </p:cNvPr>
          <p:cNvSpPr txBox="1"/>
          <p:nvPr/>
        </p:nvSpPr>
        <p:spPr>
          <a:xfrm>
            <a:off x="3621505" y="1375943"/>
            <a:ext cx="81694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single turn coil of radius 10 cm rotates at 20 revolutions per second in a uniform magnetic field of 0.6 T. Calculate the induced emf when the plane of the coil makes an angle of 25° with the magnetic field. 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 marks]</a:t>
            </a:r>
            <a:endParaRPr lang="en-M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940FEF-3955-645B-62F7-0ED9BD5EF73B}"/>
              </a:ext>
            </a:extLst>
          </p:cNvPr>
          <p:cNvSpPr txBox="1"/>
          <p:nvPr/>
        </p:nvSpPr>
        <p:spPr>
          <a:xfrm>
            <a:off x="3621505" y="2804401"/>
            <a:ext cx="81694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coil of self-inductance 5.0 H is connected in series with a switch to a 12 V battery. The total resistance in the circuit is 6.0 Ω. Calculate the: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of current increase at the instant the switch is closed.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 value of the current.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energy stored in the inductor when the current is maximum. 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 marks]</a:t>
            </a:r>
            <a:endParaRPr lang="en-M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D6E90D-D475-B3C9-AAED-61C5AFD55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6160" y="5831142"/>
            <a:ext cx="3010320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972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C1F5B-40F0-EB16-B902-464AFEFCA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1D8074-A159-39B5-15BC-D7D44FE7BB6B}"/>
              </a:ext>
            </a:extLst>
          </p:cNvPr>
          <p:cNvSpPr txBox="1"/>
          <p:nvPr/>
        </p:nvSpPr>
        <p:spPr>
          <a:xfrm>
            <a:off x="751113" y="763564"/>
            <a:ext cx="109009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loop of area 0.50 cm² with its plane perpendicular to a uniform magnetic field of 2.0 T is turned through 90° so that its plane is parallel to the magnetic field in 0.15 s. Calculate the: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change of magnetic flux in the coil.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ii) induced emf.</a:t>
            </a:r>
          </a:p>
          <a:p>
            <a:pPr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[4 marks]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6EEF67-FD8D-E4AC-87C4-B36C410622C3}"/>
              </a:ext>
            </a:extLst>
          </p:cNvPr>
          <p:cNvSpPr txBox="1"/>
          <p:nvPr/>
        </p:nvSpPr>
        <p:spPr>
          <a:xfrm>
            <a:off x="751113" y="2240892"/>
            <a:ext cx="1090095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long ideal solenoid is connected in series to a battery of emf 12 V with negligible internal resistance and a resistor of 20 Ω. A coil is tightly wound over the central portion of the solenoid. The solenoid has a diameter of 5.0 cm and 60 turns per cm of length. The coil has 100 turns. Determine the: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mutual inductance of the combination.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ii) magnetic flux linkage through the coil.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iii) average emf induced in the coil when the circuit is switched off and the current drops to zero in 20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 marks]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04C358-35F1-CE42-7A7C-02F3B6F22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816" y="4468935"/>
            <a:ext cx="4887007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994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C7688-2094-CF4F-ECF6-9E59E5F68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487B2C-FE96-0909-6D7D-690B81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48" y="2413338"/>
            <a:ext cx="3726529" cy="20313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5A9D66-C3BA-3A9F-A115-DC325C4317BE}"/>
              </a:ext>
            </a:extLst>
          </p:cNvPr>
          <p:cNvSpPr txBox="1"/>
          <p:nvPr/>
        </p:nvSpPr>
        <p:spPr>
          <a:xfrm>
            <a:off x="802878" y="349293"/>
            <a:ext cx="1062712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a) A rectangular coil of 60 turns, dimensions 0.100 m by 0.200 m, and resistance 10.0 Ω rotates with angular speed 287 rpm about the y-axis in a region where a 1.00 T magnetic field is directed along the x-axis. Calculate the: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induced emf in the coil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induced current in the coil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induced emf at t = 0.05 s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 marks]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B0D128-4CF9-D37A-F1B3-79B0B94A69B9}"/>
              </a:ext>
            </a:extLst>
          </p:cNvPr>
          <p:cNvSpPr txBox="1"/>
          <p:nvPr/>
        </p:nvSpPr>
        <p:spPr>
          <a:xfrm>
            <a:off x="4246377" y="2413338"/>
            <a:ext cx="71836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A 10 cm long solenoid has 150 turns and an area of cross-section of 28 cm² as shown in the FIGURE 4. Coil C consists of 160 turns of insulated wire and is wound tightly around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solenoid. Calculate the flux linkage in the coil C for a current of 3.5 A in the solenoid.</a:t>
            </a:r>
          </a:p>
          <a:p>
            <a:pPr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 marks]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71C529-96DA-BC4F-BE0F-074ED82F3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978" y="5594179"/>
            <a:ext cx="4848902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140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</TotalTime>
  <Words>1048</Words>
  <Application>Microsoft Office PowerPoint</Application>
  <PresentationFormat>Widescreen</PresentationFormat>
  <Paragraphs>55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Shafiq</dc:creator>
  <cp:lastModifiedBy>SHAFIQ R</cp:lastModifiedBy>
  <cp:revision>5</cp:revision>
  <dcterms:created xsi:type="dcterms:W3CDTF">2026-03-16T04:40:40Z</dcterms:created>
  <dcterms:modified xsi:type="dcterms:W3CDTF">2026-04-16T15:04:06Z</dcterms:modified>
</cp:coreProperties>
</file>