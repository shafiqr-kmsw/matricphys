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69" r:id="rId9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1" autoAdjust="0"/>
    <p:restoredTop sz="94660"/>
  </p:normalViewPr>
  <p:slideViewPr>
    <p:cSldViewPr snapToGrid="0">
      <p:cViewPr varScale="1">
        <p:scale>
          <a:sx n="40" d="100"/>
          <a:sy n="40" d="100"/>
        </p:scale>
        <p:origin x="72" y="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C2071B-C938-43B8-86ED-532A4DF3425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AFAE13-0B06-407D-84C8-1382F2F7A020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06363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1a)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AFAE13-0B06-407D-84C8-1382F2F7A020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47848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D751DC-A03C-41D3-8164-F52DCCFC3959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68109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BDD17-4897-B666-F056-B5CC9A87DC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80C17F-8FE5-7E2F-CD19-CEA95F50DC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2D60-7C20-9AC1-D67C-842D4273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B618-5C1D-D51D-64B0-9F77DD239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DFC41-7DC5-F863-71DE-C2F47D81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52804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860B6-AEF5-3B83-0CA3-0B4721D2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59B47-9700-E06C-C7AA-7A56200CF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3CDF26-87A2-DE13-6208-D3867C07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078FC-15F3-D766-34AF-5892FC91A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DACCF-3B5D-F878-D67B-122C4833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67335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539E-43AD-79A5-C6FA-481547155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166075-E50A-5853-74D6-D531CAFD5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AB3AF-B9B9-05EF-825D-28B576E67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B3686-036F-2AF6-90D6-E678FC254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6DA6A-1B68-8D7F-064F-BF3B774E0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41703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64897-23A3-628D-40B1-65CCF6A05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2476-6BFB-B658-2D8C-D4B052BE34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EA49D-52E0-DD45-A10C-534CEEA8B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4AB31-3F86-0032-1278-BD44A222D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4755A-3830-B71B-5276-185E41A60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04F1F-39AD-9F2B-5B9D-3032EAE0D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66444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ADA6E-3D1A-C966-76F4-5E45AB006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11EA2-6104-AE55-91CF-093DBE45B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5F2AA4-4A3C-3C5C-7E37-56B082CB4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134806-BE6E-D853-29D1-EF66BD2E1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E67EB3-D298-0B57-7A6B-854F6248C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CC9A0F-8C90-43F4-96F5-A9DFA6B76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D8095E-BF90-A7F2-4A9D-3B8C3ADEB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68CB9A-5A65-9047-91C6-E4F4C74C9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31718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BC90-84BB-1372-63B1-192DD60A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C285C4-96F4-D20D-337B-60D41873E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E5E44-8889-F489-C6D6-7FFC730F1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003B0-F9E3-3DB5-72D6-6B3F7C9E2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5939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9E4D54-39D7-C933-9DE0-6D378A6AF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6EE851-0430-7AED-1339-C64C08D61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400CB-F9FC-990D-5F2C-4A40EF60B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0860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2CC2E-72FE-0F29-9913-E08BD2669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7BF59-D7DF-8944-E698-8E029A860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06D4D3-6E9C-4A61-AC94-87A1885E0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75BAF9-740C-D08B-46BB-FCD8069A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AAEF7-BDD4-0F03-676B-49F1B6E4E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DBADF-C2DC-3D7E-2ADD-7D834A9AC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74221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5647-9CEA-A974-7930-7A5F73A36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603F5C-451A-0CDE-54A0-102CA9E4D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E19669-77DC-B49B-AB3E-6BFB00D81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26066-B814-C38F-F731-7FE39852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F7CAB-630C-E228-36A9-7D9794FDE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2D2578-4E35-F9DE-3040-D5C91DB79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60277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27373-CA51-D97B-FEA7-FBABA56A9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6A0AEC-54EF-2696-4CB0-50FB4C534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BA8C3-239A-4838-CEEE-40F11C6A8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C518E-DD01-2AA4-5CA5-0739B072E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02776-58D4-6439-6038-5A970F58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34131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1CCBCC-B10C-58F7-AFBD-28B6702FE3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D50D35-8DCB-E91D-A3A8-6CE36E98A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DEE95-470E-2167-7AE9-59B5ACF9C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ED6F3-9568-0486-7D22-25B9EAAA8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3DFF0-244B-9E7A-9181-B3876ADF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32015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CAF78A-1A43-3344-C1CD-F2A1DCC3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2E2E7-77DA-0D32-78A4-95F8F0937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C73D9-7A87-6379-E875-C559A93027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56312-4E88-4A31-B42E-95F0AF521EC9}" type="datetimeFigureOut">
              <a:rPr lang="en-MY" smtClean="0"/>
              <a:t>16/4/2026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7A835-3774-78AC-C0CC-7D3EFED97E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F076-5400-5124-4D88-D823550D0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747271-8001-4B20-8F33-D66A448300A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48743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24040C0-ED48-344F-1DE3-062580AEC3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00"/>
          <a:stretch>
            <a:fillRect/>
          </a:stretch>
        </p:blipFill>
        <p:spPr>
          <a:xfrm>
            <a:off x="9353858" y="5292799"/>
            <a:ext cx="2468054" cy="12980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DE78DD2-2EE2-553C-BD95-BC5EF248AB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68" t="21491" r="15322" b="12885"/>
          <a:stretch>
            <a:fillRect/>
          </a:stretch>
        </p:blipFill>
        <p:spPr>
          <a:xfrm>
            <a:off x="575186" y="132737"/>
            <a:ext cx="9527162" cy="511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111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F63E6C6-FDB5-25C1-10BC-4A1E7FBA7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48" y="299115"/>
            <a:ext cx="9496425" cy="52863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01B327-5868-025E-38F3-D936A1285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9089" y="4030100"/>
            <a:ext cx="2365427" cy="25287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15892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E9263-0918-C935-0AD9-3D253F6ED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581F51-2C96-543C-5A96-2E86F305DD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09" t="70139"/>
          <a:stretch>
            <a:fillRect/>
          </a:stretch>
        </p:blipFill>
        <p:spPr>
          <a:xfrm>
            <a:off x="72260" y="580590"/>
            <a:ext cx="9586673" cy="17791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8EA098-7077-D595-C452-33617F6C7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08" y="5135563"/>
            <a:ext cx="2181224" cy="12714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C62C815-E874-26D8-226C-3B1E0B1181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41" r="21082" b="30160"/>
          <a:stretch>
            <a:fillRect/>
          </a:stretch>
        </p:blipFill>
        <p:spPr>
          <a:xfrm>
            <a:off x="9264699" y="223883"/>
            <a:ext cx="2816942" cy="24925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B40D77-1132-9A1D-3765-13D7BCEF679A}"/>
              </a:ext>
            </a:extLst>
          </p:cNvPr>
          <p:cNvSpPr txBox="1"/>
          <p:nvPr/>
        </p:nvSpPr>
        <p:spPr>
          <a:xfrm>
            <a:off x="72261" y="450998"/>
            <a:ext cx="88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1a)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ABCD0D-CD24-0397-BF07-370D65D3654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1422"/>
          <a:stretch>
            <a:fillRect/>
          </a:stretch>
        </p:blipFill>
        <p:spPr>
          <a:xfrm>
            <a:off x="134968" y="2080033"/>
            <a:ext cx="8752846" cy="24182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7C4F8A-735A-F985-7412-81CC1A255085}"/>
              </a:ext>
            </a:extLst>
          </p:cNvPr>
          <p:cNvSpPr txBox="1"/>
          <p:nvPr/>
        </p:nvSpPr>
        <p:spPr>
          <a:xfrm>
            <a:off x="110359" y="2209625"/>
            <a:ext cx="88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1b)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94C6B-A475-341B-1180-16FC876A7A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066" r="25349" b="36167"/>
          <a:stretch>
            <a:fillRect/>
          </a:stretch>
        </p:blipFill>
        <p:spPr>
          <a:xfrm>
            <a:off x="9021800" y="2754115"/>
            <a:ext cx="2816941" cy="342621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16AD152-CC17-2E8B-69F4-4161898949FC}"/>
              </a:ext>
            </a:extLst>
          </p:cNvPr>
          <p:cNvSpPr/>
          <p:nvPr/>
        </p:nvSpPr>
        <p:spPr>
          <a:xfrm>
            <a:off x="8458200" y="1967697"/>
            <a:ext cx="8445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1862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0693A95-9D45-1777-4F1C-ECEA9C359A07}"/>
              </a:ext>
            </a:extLst>
          </p:cNvPr>
          <p:cNvSpPr txBox="1"/>
          <p:nvPr/>
        </p:nvSpPr>
        <p:spPr>
          <a:xfrm>
            <a:off x="3693806" y="568404"/>
            <a:ext cx="75038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50240" marR="629285" algn="just">
              <a:spcBef>
                <a:spcPts val="1135"/>
              </a:spcBef>
              <a:buNone/>
            </a:pPr>
            <a:r>
              <a:rPr lang="ms-MY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   A proton is released from rest in a uniform magnetic field between two parallel plates that are separated by 5 cm as shown in </a:t>
            </a:r>
            <a:r>
              <a:rPr lang="ms-MY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</a:t>
            </a:r>
            <a:r>
              <a:rPr lang="ms-MY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The electric field strength between the plates is</a:t>
            </a:r>
            <a:r>
              <a:rPr lang="ms-MY" sz="1800" spc="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5000 NC</a:t>
            </a:r>
            <a:r>
              <a:rPr lang="ms-MY" sz="1800" baseline="30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−1</a:t>
            </a:r>
            <a:r>
              <a:rPr lang="ms-MY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Calculate the</a:t>
            </a:r>
            <a:endParaRPr lang="en-MY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51B9F4-2510-BDE6-3B41-12344E220CAD}"/>
              </a:ext>
            </a:extLst>
          </p:cNvPr>
          <p:cNvGrpSpPr>
            <a:grpSpLocks/>
          </p:cNvGrpSpPr>
          <p:nvPr/>
        </p:nvGrpSpPr>
        <p:grpSpPr>
          <a:xfrm>
            <a:off x="440100" y="896788"/>
            <a:ext cx="3606539" cy="2262157"/>
            <a:chOff x="0" y="0"/>
            <a:chExt cx="2075940" cy="815339"/>
          </a:xfrm>
        </p:grpSpPr>
        <p:sp>
          <p:nvSpPr>
            <p:cNvPr id="7" name="Graphic 145">
              <a:extLst>
                <a:ext uri="{FF2B5EF4-FFF2-40B4-BE49-F238E27FC236}">
                  <a16:creationId xmlns:a16="http://schemas.microsoft.com/office/drawing/2014/main" id="{9144FCD4-C665-5C34-A0E6-C25822757106}"/>
                </a:ext>
              </a:extLst>
            </p:cNvPr>
            <p:cNvSpPr/>
            <p:nvPr/>
          </p:nvSpPr>
          <p:spPr>
            <a:xfrm>
              <a:off x="0" y="210184"/>
              <a:ext cx="67310" cy="554355"/>
            </a:xfrm>
            <a:custGeom>
              <a:avLst/>
              <a:gdLst/>
              <a:ahLst/>
              <a:cxnLst/>
              <a:rect l="l" t="t" r="r" b="b"/>
              <a:pathLst>
                <a:path w="67310" h="554355">
                  <a:moveTo>
                    <a:pt x="2667" y="498728"/>
                  </a:moveTo>
                  <a:lnTo>
                    <a:pt x="1524" y="498728"/>
                  </a:lnTo>
                  <a:lnTo>
                    <a:pt x="1016" y="498982"/>
                  </a:lnTo>
                  <a:lnTo>
                    <a:pt x="254" y="499491"/>
                  </a:lnTo>
                  <a:lnTo>
                    <a:pt x="0" y="500506"/>
                  </a:lnTo>
                  <a:lnTo>
                    <a:pt x="507" y="501142"/>
                  </a:lnTo>
                  <a:lnTo>
                    <a:pt x="33528" y="554101"/>
                  </a:lnTo>
                  <a:lnTo>
                    <a:pt x="35356" y="551179"/>
                  </a:lnTo>
                  <a:lnTo>
                    <a:pt x="32004" y="551179"/>
                  </a:lnTo>
                  <a:lnTo>
                    <a:pt x="32004" y="545617"/>
                  </a:lnTo>
                  <a:lnTo>
                    <a:pt x="3175" y="499491"/>
                  </a:lnTo>
                  <a:lnTo>
                    <a:pt x="2667" y="498728"/>
                  </a:lnTo>
                  <a:close/>
                </a:path>
                <a:path w="67310" h="554355">
                  <a:moveTo>
                    <a:pt x="32004" y="545617"/>
                  </a:moveTo>
                  <a:lnTo>
                    <a:pt x="32004" y="551179"/>
                  </a:lnTo>
                  <a:lnTo>
                    <a:pt x="35179" y="551179"/>
                  </a:lnTo>
                  <a:lnTo>
                    <a:pt x="35179" y="550291"/>
                  </a:lnTo>
                  <a:lnTo>
                    <a:pt x="32257" y="550291"/>
                  </a:lnTo>
                  <a:lnTo>
                    <a:pt x="33591" y="548157"/>
                  </a:lnTo>
                  <a:lnTo>
                    <a:pt x="32004" y="545617"/>
                  </a:lnTo>
                  <a:close/>
                </a:path>
                <a:path w="67310" h="554355">
                  <a:moveTo>
                    <a:pt x="65659" y="498728"/>
                  </a:moveTo>
                  <a:lnTo>
                    <a:pt x="64388" y="498728"/>
                  </a:lnTo>
                  <a:lnTo>
                    <a:pt x="64007" y="499491"/>
                  </a:lnTo>
                  <a:lnTo>
                    <a:pt x="35179" y="545617"/>
                  </a:lnTo>
                  <a:lnTo>
                    <a:pt x="35179" y="551179"/>
                  </a:lnTo>
                  <a:lnTo>
                    <a:pt x="35356" y="551179"/>
                  </a:lnTo>
                  <a:lnTo>
                    <a:pt x="66675" y="501142"/>
                  </a:lnTo>
                  <a:lnTo>
                    <a:pt x="67182" y="500506"/>
                  </a:lnTo>
                  <a:lnTo>
                    <a:pt x="66929" y="499491"/>
                  </a:lnTo>
                  <a:lnTo>
                    <a:pt x="66167" y="498982"/>
                  </a:lnTo>
                  <a:lnTo>
                    <a:pt x="65659" y="498728"/>
                  </a:lnTo>
                  <a:close/>
                </a:path>
                <a:path w="67310" h="554355">
                  <a:moveTo>
                    <a:pt x="33591" y="548157"/>
                  </a:moveTo>
                  <a:lnTo>
                    <a:pt x="32257" y="550291"/>
                  </a:lnTo>
                  <a:lnTo>
                    <a:pt x="34925" y="550291"/>
                  </a:lnTo>
                  <a:lnTo>
                    <a:pt x="33591" y="548157"/>
                  </a:lnTo>
                  <a:close/>
                </a:path>
                <a:path w="67310" h="554355">
                  <a:moveTo>
                    <a:pt x="35179" y="545617"/>
                  </a:moveTo>
                  <a:lnTo>
                    <a:pt x="33591" y="548157"/>
                  </a:lnTo>
                  <a:lnTo>
                    <a:pt x="34925" y="550291"/>
                  </a:lnTo>
                  <a:lnTo>
                    <a:pt x="35179" y="550291"/>
                  </a:lnTo>
                  <a:lnTo>
                    <a:pt x="35179" y="545617"/>
                  </a:lnTo>
                  <a:close/>
                </a:path>
                <a:path w="67310" h="554355">
                  <a:moveTo>
                    <a:pt x="33591" y="5943"/>
                  </a:moveTo>
                  <a:lnTo>
                    <a:pt x="32004" y="8483"/>
                  </a:lnTo>
                  <a:lnTo>
                    <a:pt x="32004" y="545617"/>
                  </a:lnTo>
                  <a:lnTo>
                    <a:pt x="33591" y="548157"/>
                  </a:lnTo>
                  <a:lnTo>
                    <a:pt x="35178" y="545617"/>
                  </a:lnTo>
                  <a:lnTo>
                    <a:pt x="35179" y="8483"/>
                  </a:lnTo>
                  <a:lnTo>
                    <a:pt x="33591" y="5943"/>
                  </a:lnTo>
                  <a:close/>
                </a:path>
                <a:path w="67310" h="554355">
                  <a:moveTo>
                    <a:pt x="33528" y="0"/>
                  </a:moveTo>
                  <a:lnTo>
                    <a:pt x="507" y="52958"/>
                  </a:lnTo>
                  <a:lnTo>
                    <a:pt x="0" y="53594"/>
                  </a:lnTo>
                  <a:lnTo>
                    <a:pt x="254" y="54609"/>
                  </a:lnTo>
                  <a:lnTo>
                    <a:pt x="1016" y="55118"/>
                  </a:lnTo>
                  <a:lnTo>
                    <a:pt x="1778" y="55499"/>
                  </a:lnTo>
                  <a:lnTo>
                    <a:pt x="2582" y="55499"/>
                  </a:lnTo>
                  <a:lnTo>
                    <a:pt x="3175" y="54609"/>
                  </a:lnTo>
                  <a:lnTo>
                    <a:pt x="32003" y="8483"/>
                  </a:lnTo>
                  <a:lnTo>
                    <a:pt x="32004" y="2921"/>
                  </a:lnTo>
                  <a:lnTo>
                    <a:pt x="35356" y="2921"/>
                  </a:lnTo>
                  <a:lnTo>
                    <a:pt x="33528" y="0"/>
                  </a:lnTo>
                  <a:close/>
                </a:path>
                <a:path w="67310" h="554355">
                  <a:moveTo>
                    <a:pt x="35356" y="2921"/>
                  </a:moveTo>
                  <a:lnTo>
                    <a:pt x="35179" y="2921"/>
                  </a:lnTo>
                  <a:lnTo>
                    <a:pt x="35179" y="8483"/>
                  </a:lnTo>
                  <a:lnTo>
                    <a:pt x="64007" y="54609"/>
                  </a:lnTo>
                  <a:lnTo>
                    <a:pt x="64452" y="55499"/>
                  </a:lnTo>
                  <a:lnTo>
                    <a:pt x="65405" y="55499"/>
                  </a:lnTo>
                  <a:lnTo>
                    <a:pt x="66167" y="55118"/>
                  </a:lnTo>
                  <a:lnTo>
                    <a:pt x="66929" y="54609"/>
                  </a:lnTo>
                  <a:lnTo>
                    <a:pt x="67182" y="53594"/>
                  </a:lnTo>
                  <a:lnTo>
                    <a:pt x="66675" y="52958"/>
                  </a:lnTo>
                  <a:lnTo>
                    <a:pt x="35356" y="2921"/>
                  </a:lnTo>
                  <a:close/>
                </a:path>
                <a:path w="67310" h="554355">
                  <a:moveTo>
                    <a:pt x="35179" y="2921"/>
                  </a:moveTo>
                  <a:lnTo>
                    <a:pt x="32004" y="2921"/>
                  </a:lnTo>
                  <a:lnTo>
                    <a:pt x="32004" y="8483"/>
                  </a:lnTo>
                  <a:lnTo>
                    <a:pt x="33591" y="5943"/>
                  </a:lnTo>
                  <a:lnTo>
                    <a:pt x="32257" y="3809"/>
                  </a:lnTo>
                  <a:lnTo>
                    <a:pt x="35179" y="3809"/>
                  </a:lnTo>
                  <a:lnTo>
                    <a:pt x="35179" y="2921"/>
                  </a:lnTo>
                  <a:close/>
                </a:path>
                <a:path w="67310" h="554355">
                  <a:moveTo>
                    <a:pt x="35179" y="3809"/>
                  </a:moveTo>
                  <a:lnTo>
                    <a:pt x="34925" y="3809"/>
                  </a:lnTo>
                  <a:lnTo>
                    <a:pt x="33591" y="5943"/>
                  </a:lnTo>
                  <a:lnTo>
                    <a:pt x="35179" y="8483"/>
                  </a:lnTo>
                  <a:lnTo>
                    <a:pt x="35179" y="3809"/>
                  </a:lnTo>
                  <a:close/>
                </a:path>
                <a:path w="67310" h="554355">
                  <a:moveTo>
                    <a:pt x="34925" y="3809"/>
                  </a:moveTo>
                  <a:lnTo>
                    <a:pt x="32257" y="3809"/>
                  </a:lnTo>
                  <a:lnTo>
                    <a:pt x="33591" y="5943"/>
                  </a:lnTo>
                  <a:lnTo>
                    <a:pt x="34925" y="38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endParaRPr lang="en-MY"/>
            </a:p>
          </p:txBody>
        </p:sp>
        <p:sp>
          <p:nvSpPr>
            <p:cNvPr id="8" name="Graphic 146">
              <a:extLst>
                <a:ext uri="{FF2B5EF4-FFF2-40B4-BE49-F238E27FC236}">
                  <a16:creationId xmlns:a16="http://schemas.microsoft.com/office/drawing/2014/main" id="{3D9FA75C-85BE-10A5-D322-DD93E624F440}"/>
                </a:ext>
              </a:extLst>
            </p:cNvPr>
            <p:cNvSpPr/>
            <p:nvPr/>
          </p:nvSpPr>
          <p:spPr>
            <a:xfrm>
              <a:off x="22732" y="175132"/>
              <a:ext cx="2050414" cy="1270"/>
            </a:xfrm>
            <a:custGeom>
              <a:avLst/>
              <a:gdLst/>
              <a:ahLst/>
              <a:cxnLst/>
              <a:rect l="l" t="t" r="r" b="b"/>
              <a:pathLst>
                <a:path w="2050414">
                  <a:moveTo>
                    <a:pt x="0" y="0"/>
                  </a:moveTo>
                  <a:lnTo>
                    <a:pt x="2050288" y="0"/>
                  </a:lnTo>
                </a:path>
              </a:pathLst>
            </a:custGeom>
            <a:ln w="5715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endParaRPr lang="en-MY"/>
            </a:p>
          </p:txBody>
        </p:sp>
        <p:sp>
          <p:nvSpPr>
            <p:cNvPr id="9" name="Graphic 147">
              <a:extLst>
                <a:ext uri="{FF2B5EF4-FFF2-40B4-BE49-F238E27FC236}">
                  <a16:creationId xmlns:a16="http://schemas.microsoft.com/office/drawing/2014/main" id="{7A78B21F-D62C-30D5-0CC8-A270820C8EAE}"/>
                </a:ext>
              </a:extLst>
            </p:cNvPr>
            <p:cNvSpPr/>
            <p:nvPr/>
          </p:nvSpPr>
          <p:spPr>
            <a:xfrm>
              <a:off x="41782" y="0"/>
              <a:ext cx="1983739" cy="114935"/>
            </a:xfrm>
            <a:custGeom>
              <a:avLst/>
              <a:gdLst/>
              <a:ahLst/>
              <a:cxnLst/>
              <a:rect l="l" t="t" r="r" b="b"/>
              <a:pathLst>
                <a:path w="1983739" h="114935">
                  <a:moveTo>
                    <a:pt x="0" y="53720"/>
                  </a:moveTo>
                  <a:lnTo>
                    <a:pt x="109600" y="53720"/>
                  </a:lnTo>
                </a:path>
                <a:path w="1983739" h="114935">
                  <a:moveTo>
                    <a:pt x="53721" y="0"/>
                  </a:moveTo>
                  <a:lnTo>
                    <a:pt x="53721" y="107441"/>
                  </a:lnTo>
                </a:path>
                <a:path w="1983739" h="114935">
                  <a:moveTo>
                    <a:pt x="220980" y="53593"/>
                  </a:moveTo>
                  <a:lnTo>
                    <a:pt x="330200" y="53593"/>
                  </a:lnTo>
                </a:path>
                <a:path w="1983739" h="114935">
                  <a:moveTo>
                    <a:pt x="274447" y="0"/>
                  </a:moveTo>
                  <a:lnTo>
                    <a:pt x="274447" y="107187"/>
                  </a:lnTo>
                </a:path>
                <a:path w="1983739" h="114935">
                  <a:moveTo>
                    <a:pt x="434339" y="53593"/>
                  </a:moveTo>
                  <a:lnTo>
                    <a:pt x="543433" y="53593"/>
                  </a:lnTo>
                </a:path>
                <a:path w="1983739" h="114935">
                  <a:moveTo>
                    <a:pt x="487807" y="0"/>
                  </a:moveTo>
                  <a:lnTo>
                    <a:pt x="487807" y="107187"/>
                  </a:lnTo>
                </a:path>
                <a:path w="1983739" h="114935">
                  <a:moveTo>
                    <a:pt x="643763" y="61213"/>
                  </a:moveTo>
                  <a:lnTo>
                    <a:pt x="752983" y="61213"/>
                  </a:lnTo>
                </a:path>
                <a:path w="1983739" h="114935">
                  <a:moveTo>
                    <a:pt x="697357" y="7619"/>
                  </a:moveTo>
                  <a:lnTo>
                    <a:pt x="697357" y="114807"/>
                  </a:lnTo>
                </a:path>
                <a:path w="1983739" h="114935">
                  <a:moveTo>
                    <a:pt x="845693" y="57403"/>
                  </a:moveTo>
                  <a:lnTo>
                    <a:pt x="954913" y="57403"/>
                  </a:lnTo>
                </a:path>
                <a:path w="1983739" h="114935">
                  <a:moveTo>
                    <a:pt x="899287" y="3809"/>
                  </a:moveTo>
                  <a:lnTo>
                    <a:pt x="899287" y="110998"/>
                  </a:lnTo>
                </a:path>
                <a:path w="1983739" h="114935">
                  <a:moveTo>
                    <a:pt x="1043813" y="61213"/>
                  </a:moveTo>
                  <a:lnTo>
                    <a:pt x="1153033" y="61213"/>
                  </a:lnTo>
                </a:path>
                <a:path w="1983739" h="114935">
                  <a:moveTo>
                    <a:pt x="1097407" y="7619"/>
                  </a:moveTo>
                  <a:lnTo>
                    <a:pt x="1097407" y="114807"/>
                  </a:lnTo>
                </a:path>
                <a:path w="1983739" h="114935">
                  <a:moveTo>
                    <a:pt x="1253363" y="61213"/>
                  </a:moveTo>
                  <a:lnTo>
                    <a:pt x="1362583" y="61213"/>
                  </a:lnTo>
                </a:path>
                <a:path w="1983739" h="114935">
                  <a:moveTo>
                    <a:pt x="1306957" y="7619"/>
                  </a:moveTo>
                  <a:lnTo>
                    <a:pt x="1306957" y="114807"/>
                  </a:lnTo>
                </a:path>
                <a:path w="1983739" h="114935">
                  <a:moveTo>
                    <a:pt x="1455293" y="61213"/>
                  </a:moveTo>
                  <a:lnTo>
                    <a:pt x="1564513" y="61213"/>
                  </a:lnTo>
                </a:path>
                <a:path w="1983739" h="114935">
                  <a:moveTo>
                    <a:pt x="1508887" y="7619"/>
                  </a:moveTo>
                  <a:lnTo>
                    <a:pt x="1508887" y="114807"/>
                  </a:lnTo>
                </a:path>
                <a:path w="1983739" h="114935">
                  <a:moveTo>
                    <a:pt x="1661033" y="61213"/>
                  </a:moveTo>
                  <a:lnTo>
                    <a:pt x="1770252" y="61213"/>
                  </a:lnTo>
                </a:path>
                <a:path w="1983739" h="114935">
                  <a:moveTo>
                    <a:pt x="1714627" y="7619"/>
                  </a:moveTo>
                  <a:lnTo>
                    <a:pt x="1714627" y="114807"/>
                  </a:lnTo>
                </a:path>
                <a:path w="1983739" h="114935">
                  <a:moveTo>
                    <a:pt x="1874393" y="61213"/>
                  </a:moveTo>
                  <a:lnTo>
                    <a:pt x="1983613" y="61213"/>
                  </a:lnTo>
                </a:path>
                <a:path w="1983739" h="114935">
                  <a:moveTo>
                    <a:pt x="1927987" y="7619"/>
                  </a:moveTo>
                  <a:lnTo>
                    <a:pt x="1927987" y="114807"/>
                  </a:lnTo>
                </a:path>
              </a:pathLst>
            </a:custGeom>
            <a:ln w="1270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endParaRPr lang="en-MY"/>
            </a:p>
          </p:txBody>
        </p:sp>
        <p:sp>
          <p:nvSpPr>
            <p:cNvPr id="10" name="Graphic 148">
              <a:extLst>
                <a:ext uri="{FF2B5EF4-FFF2-40B4-BE49-F238E27FC236}">
                  <a16:creationId xmlns:a16="http://schemas.microsoft.com/office/drawing/2014/main" id="{59616FB7-B4AE-5368-4E51-BD819A06733D}"/>
                </a:ext>
              </a:extLst>
            </p:cNvPr>
            <p:cNvSpPr/>
            <p:nvPr/>
          </p:nvSpPr>
          <p:spPr>
            <a:xfrm>
              <a:off x="25526" y="814069"/>
              <a:ext cx="2050414" cy="1270"/>
            </a:xfrm>
            <a:custGeom>
              <a:avLst/>
              <a:gdLst/>
              <a:ahLst/>
              <a:cxnLst/>
              <a:rect l="l" t="t" r="r" b="b"/>
              <a:pathLst>
                <a:path w="2050414">
                  <a:moveTo>
                    <a:pt x="0" y="0"/>
                  </a:moveTo>
                  <a:lnTo>
                    <a:pt x="2050033" y="0"/>
                  </a:lnTo>
                </a:path>
              </a:pathLst>
            </a:custGeom>
            <a:ln w="57150">
              <a:solidFill>
                <a:srgbClr val="000000"/>
              </a:solidFill>
              <a:prstDash val="solid"/>
            </a:ln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endParaRPr lang="en-MY"/>
            </a:p>
          </p:txBody>
        </p:sp>
        <p:pic>
          <p:nvPicPr>
            <p:cNvPr id="11" name="Image 149">
              <a:extLst>
                <a:ext uri="{FF2B5EF4-FFF2-40B4-BE49-F238E27FC236}">
                  <a16:creationId xmlns:a16="http://schemas.microsoft.com/office/drawing/2014/main" id="{7B93947E-1822-4CA3-9450-0C28379EC48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06907" y="207263"/>
              <a:ext cx="147954" cy="139573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4F05CC4-9078-3BBD-633B-C826B145699B}"/>
              </a:ext>
            </a:extLst>
          </p:cNvPr>
          <p:cNvSpPr txBox="1"/>
          <p:nvPr/>
        </p:nvSpPr>
        <p:spPr>
          <a:xfrm>
            <a:off x="4354734" y="1768733"/>
            <a:ext cx="7151012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10"/>
              </a:spcBef>
              <a:buSzPts val="1100"/>
              <a:tabLst>
                <a:tab pos="950595" algn="l"/>
              </a:tabLst>
            </a:pP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(a)   magnitude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and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direction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of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electric</a:t>
            </a:r>
            <a:r>
              <a:rPr lang="ms-MY" sz="1800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force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acted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on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ms-MY" sz="1800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proton.							</a:t>
            </a:r>
            <a:r>
              <a:rPr lang="ms-MY" dirty="0">
                <a:latin typeface="Times New Roman" panose="02020603050405020304" pitchFamily="18" charset="0"/>
                <a:ea typeface="Times New Roman" panose="02020603050405020304" pitchFamily="18" charset="0"/>
              </a:rPr>
              <a:t>[3 </a:t>
            </a:r>
            <a:r>
              <a:rPr lang="ms-MY" i="1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marks</a:t>
            </a:r>
            <a:r>
              <a:rPr lang="ms-MY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]</a:t>
            </a:r>
            <a:endParaRPr lang="en-MY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Bef>
                <a:spcPts val="610"/>
              </a:spcBef>
              <a:buSzPts val="1100"/>
              <a:tabLst>
                <a:tab pos="950595" algn="l"/>
              </a:tabLst>
            </a:pP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(b)   acceleration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of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proton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due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to</a:t>
            </a:r>
            <a:r>
              <a:rPr lang="ms-MY" sz="1800" spc="-3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electric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field.	</a:t>
            </a:r>
            <a:r>
              <a:rPr lang="ms-MY" dirty="0">
                <a:latin typeface="Times New Roman" panose="02020603050405020304" pitchFamily="18" charset="0"/>
                <a:ea typeface="Times New Roman" panose="02020603050405020304" pitchFamily="18" charset="0"/>
              </a:rPr>
              <a:t>[3 </a:t>
            </a:r>
            <a:r>
              <a:rPr lang="ms-MY" i="1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marks</a:t>
            </a:r>
            <a:r>
              <a:rPr lang="ms-MY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]</a:t>
            </a:r>
            <a:endParaRPr lang="en-MY" sz="1800" spc="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Bef>
                <a:spcPts val="595"/>
              </a:spcBef>
              <a:buSzPts val="1100"/>
              <a:tabLst>
                <a:tab pos="950595" algn="l"/>
              </a:tabLst>
            </a:pP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(c)   potential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difference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between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parallel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plates.	</a:t>
            </a:r>
            <a:r>
              <a:rPr lang="ms-MY" dirty="0">
                <a:latin typeface="Times New Roman" panose="02020603050405020304" pitchFamily="18" charset="0"/>
                <a:ea typeface="Times New Roman" panose="02020603050405020304" pitchFamily="18" charset="0"/>
              </a:rPr>
              <a:t>[3 </a:t>
            </a:r>
            <a:r>
              <a:rPr lang="ms-MY" i="1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marks</a:t>
            </a:r>
            <a:r>
              <a:rPr lang="ms-MY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]</a:t>
            </a:r>
            <a:endParaRPr lang="en-MY" sz="1800" spc="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Bef>
                <a:spcPts val="605"/>
              </a:spcBef>
              <a:buSzPts val="1100"/>
              <a:tabLst>
                <a:tab pos="950595" algn="l"/>
              </a:tabLst>
            </a:pP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(d)   a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change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potential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energy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of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proton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when</a:t>
            </a:r>
            <a:r>
              <a:rPr lang="ms-MY" sz="1800" spc="-2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it</a:t>
            </a:r>
            <a:r>
              <a:rPr lang="ms-MY" sz="1800" spc="-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reaches</a:t>
            </a:r>
            <a:r>
              <a:rPr lang="ms-MY" sz="1800" spc="-15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negative</a:t>
            </a:r>
            <a:r>
              <a:rPr lang="ms-MY" sz="1800" spc="-2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plate.						</a:t>
            </a:r>
            <a:r>
              <a:rPr lang="ms-MY" dirty="0">
                <a:latin typeface="Times New Roman" panose="02020603050405020304" pitchFamily="18" charset="0"/>
                <a:ea typeface="Times New Roman" panose="02020603050405020304" pitchFamily="18" charset="0"/>
              </a:rPr>
              <a:t>[3 </a:t>
            </a:r>
            <a:r>
              <a:rPr lang="ms-MY" i="1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marks</a:t>
            </a:r>
            <a:r>
              <a:rPr lang="ms-MY" spc="-10" dirty="0">
                <a:latin typeface="Times New Roman" panose="02020603050405020304" pitchFamily="18" charset="0"/>
                <a:ea typeface="Times New Roman" panose="02020603050405020304" pitchFamily="18" charset="0"/>
              </a:rPr>
              <a:t>]</a:t>
            </a:r>
            <a:endParaRPr lang="en-MY" sz="1800" spc="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None/>
            </a:pPr>
            <a:endParaRPr lang="en-MY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23FCAF-A4B2-BFF1-AF33-AD57955E6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3029" y="5414113"/>
            <a:ext cx="2705478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53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E8FC07-A1AB-D795-7DC8-93879CB94E93}"/>
              </a:ext>
            </a:extLst>
          </p:cNvPr>
          <p:cNvSpPr txBox="1"/>
          <p:nvPr/>
        </p:nvSpPr>
        <p:spPr>
          <a:xfrm>
            <a:off x="4851348" y="542218"/>
            <a:ext cx="651745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8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1</a:t>
            </a:r>
            <a:r>
              <a:rPr lang="en-MY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 (a) Three charges of magnitudes + 0.3 </a:t>
            </a:r>
            <a:r>
              <a:rPr lang="en-MY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μC</a:t>
            </a:r>
            <a:r>
              <a:rPr lang="en-MY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, + 0.6 </a:t>
            </a:r>
            <a:r>
              <a:rPr lang="en-MY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μC</a:t>
            </a:r>
            <a:r>
              <a:rPr lang="en-MY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and + 0.3 </a:t>
            </a:r>
            <a:r>
              <a:rPr lang="en-MY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μC</a:t>
            </a:r>
            <a:r>
              <a:rPr lang="en-MY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are placed on each corner of a left angled triangle with sides 6.0 cm, 8.0 cm and 10.0 cm respectively, as shown in </a:t>
            </a:r>
            <a:r>
              <a:rPr lang="en-MY" sz="18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FIGURE 1</a:t>
            </a:r>
            <a:r>
              <a:rPr lang="en-MY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. Determine 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66151A-6E0A-8EA5-8352-7A2DEBDBC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65" y="389204"/>
            <a:ext cx="4106410" cy="17993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FD88AB-3A2D-15ED-28FC-8867246DC643}"/>
              </a:ext>
            </a:extLst>
          </p:cNvPr>
          <p:cNvSpPr txBox="1"/>
          <p:nvPr/>
        </p:nvSpPr>
        <p:spPr>
          <a:xfrm>
            <a:off x="4851348" y="1742547"/>
            <a:ext cx="66264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(</a:t>
            </a:r>
            <a:r>
              <a:rPr lang="en-MY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i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) the electric field at charge + 0.6 </a:t>
            </a:r>
            <a:r>
              <a:rPr lang="en-MY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μC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. </a:t>
            </a:r>
            <a:endParaRPr lang="en-MY" sz="20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</a:endParaRPr>
          </a:p>
          <a:p>
            <a:pPr>
              <a:buNone/>
            </a:pP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(ii) the force experienced by the charge + 0.6 </a:t>
            </a:r>
            <a:r>
              <a:rPr lang="en-MY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μC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. 									[7 </a:t>
            </a:r>
            <a:r>
              <a:rPr lang="en-MY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marks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] </a:t>
            </a:r>
            <a:endParaRPr lang="en-MY" sz="20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40549D-D469-E91B-57A0-8BC7E8CDAC8F}"/>
              </a:ext>
            </a:extLst>
          </p:cNvPr>
          <p:cNvSpPr txBox="1"/>
          <p:nvPr/>
        </p:nvSpPr>
        <p:spPr>
          <a:xfrm>
            <a:off x="890516" y="2746655"/>
            <a:ext cx="109557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(b) An isolated charge, </a:t>
            </a:r>
            <a:r>
              <a:rPr lang="en-MY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Q 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of 5 x 10</a:t>
            </a:r>
            <a:r>
              <a:rPr lang="en-MY" sz="1800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-6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C is placed in a region and it creates an electric field around it. Calculate the work done to move a test charge </a:t>
            </a:r>
            <a:r>
              <a:rPr lang="en-MY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q 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of 2 x 10</a:t>
            </a:r>
            <a:r>
              <a:rPr lang="en-MY" sz="1800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-7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C from point S to point P, which are located at 60 cm and 30 cm respectively from charge </a:t>
            </a:r>
            <a:r>
              <a:rPr lang="en-MY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Q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. 								[3 </a:t>
            </a:r>
            <a:r>
              <a:rPr lang="en-MY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marks</a:t>
            </a:r>
            <a:r>
              <a:rPr lang="en-MY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]</a:t>
            </a:r>
            <a:endParaRPr lang="en-MY" sz="20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2D3F79-5469-2EF0-37B1-202EE9D25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7145" y="5745475"/>
            <a:ext cx="2772162" cy="73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112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>
            <a:extLst>
              <a:ext uri="{FF2B5EF4-FFF2-40B4-BE49-F238E27FC236}">
                <a16:creationId xmlns:a16="http://schemas.microsoft.com/office/drawing/2014/main" id="{8FF6CA19-DA51-C281-A761-8D25156D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52" y="383855"/>
            <a:ext cx="9692640" cy="2011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7141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(a) Two point charges, q₁ and q₂ are located on the y-axis. Charge q₁ = +2.3 µC is placed at y = -0.56 m and charge q₂ = -5.3 µC is located at y = +0.37 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) Calculate the magnitude and direction of the net electric field at the origin due to these two point charges.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(ii) Determine the magnitude and direction of the electric force exerted on a third charge, q₃ = -3.8 µC placed at the origin.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[6 marks]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F60EEB-5618-FBEF-12B9-ECE7E0F7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29" y="2500516"/>
            <a:ext cx="3285201" cy="41794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DBE2D63-90C1-A882-1CA6-65314A8B01EE}"/>
              </a:ext>
            </a:extLst>
          </p:cNvPr>
          <p:cNvSpPr txBox="1"/>
          <p:nvPr/>
        </p:nvSpPr>
        <p:spPr>
          <a:xfrm>
            <a:off x="3476930" y="2566098"/>
            <a:ext cx="73041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(b) FIGURE 1 shows a stationary alpha particle is accelerated at 7.86 x 10⁹ m s⁻² from the positive plate towards the negative plate. The alpha particle has a mass of 6.64 x 10⁻²⁷ kg and a charge of +2e travels between two parallel plates separated by 2.50 cm.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) Calculate the magnitude of the electric field strength between the plates.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</a:rPr>
              <a:t>(ii) Determine the time taken for the particle to reach the negative plate.</a:t>
            </a:r>
          </a:p>
          <a:p>
            <a:pPr algn="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1F1F1F"/>
                </a:solidFill>
                <a:latin typeface="Google Sans Text"/>
              </a:rPr>
              <a:t>[4 marks]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Google Sans Tex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D57D29E-6197-EB87-A2F0-700AE0AE4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072" y="5277063"/>
            <a:ext cx="3077004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411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0693A95-9D45-1777-4F1C-ECEA9C359A07}"/>
              </a:ext>
            </a:extLst>
          </p:cNvPr>
          <p:cNvSpPr txBox="1"/>
          <p:nvPr/>
        </p:nvSpPr>
        <p:spPr>
          <a:xfrm>
            <a:off x="3693806" y="568404"/>
            <a:ext cx="75038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50240" marR="629285" algn="just">
              <a:spcBef>
                <a:spcPts val="1135"/>
              </a:spcBef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FIGURE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shows a point P is located at the midway between two points charges, Q₁ = +8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Q₂ = -3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Both charges are separated by a distance of 0.5 m. Another point Q located 0.6m from point P. Calculate the:</a:t>
            </a:r>
            <a:endParaRPr lang="en-MY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F05CC4-9078-3BBD-633B-C826B145699B}"/>
              </a:ext>
            </a:extLst>
          </p:cNvPr>
          <p:cNvSpPr txBox="1"/>
          <p:nvPr/>
        </p:nvSpPr>
        <p:spPr>
          <a:xfrm>
            <a:off x="4261762" y="2060410"/>
            <a:ext cx="71510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magnitude and direction of electrostatic force acting on charge Q₂. 							[3 marks]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magnitude and direction of electric field strength at point P.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						[4 marks]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electric potential at point Q.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						[3 marks</a:t>
            </a:r>
            <a:r>
              <a:rPr lang="ms-MY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ms-MY" sz="1800" spc="-1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endParaRPr lang="en-MY" sz="1800" spc="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8C64FB-17C8-329B-7109-4314BF885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34" y="276727"/>
            <a:ext cx="4161000" cy="31522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959217-A3FD-984E-0CD6-1DE6ED0E1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917" y="5934361"/>
            <a:ext cx="3834083" cy="71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94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6ECE09-775C-A37D-C240-25BC44653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29" y="514030"/>
            <a:ext cx="2029108" cy="1295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2BBC16-E297-3AF6-DDF1-D8C193BCC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29" y="2690623"/>
            <a:ext cx="2114845" cy="15242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570AB0-1C2A-AF8C-9D5B-DE3FD9BCD483}"/>
              </a:ext>
            </a:extLst>
          </p:cNvPr>
          <p:cNvSpPr txBox="1"/>
          <p:nvPr/>
        </p:nvSpPr>
        <p:spPr>
          <a:xfrm>
            <a:off x="3045823" y="514030"/>
            <a:ext cx="871074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shows two parallel plates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a separation distance of 20 cm. Potential difference between the plate is 20 V.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Calculate electric field strength between the plates.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ii) If an electron held at midpoint between the plates is released, calculate the acceleration for it to reach plate X. 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 marks</a:t>
            </a:r>
            <a:r>
              <a:rPr lang="en-US" dirty="0"/>
              <a:t>]</a:t>
            </a:r>
            <a:endParaRPr lang="en-M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E67A30-AE72-3A06-22CB-4B8B60950CE6}"/>
              </a:ext>
            </a:extLst>
          </p:cNvPr>
          <p:cNvSpPr txBox="1"/>
          <p:nvPr/>
        </p:nvSpPr>
        <p:spPr>
          <a:xfrm>
            <a:off x="3050177" y="3217595"/>
            <a:ext cx="87063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Two points charges, Q₁ = -12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Q₂ = +8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arranged as shown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Calculate the magnitude and direction of the resultant electric field at the origin.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[5 marks</a:t>
            </a:r>
            <a:r>
              <a:rPr lang="en-US" dirty="0"/>
              <a:t>]</a:t>
            </a:r>
            <a:endParaRPr lang="en-MY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3FA26C-9C69-299E-06BF-DC7CD8F15FFF}"/>
              </a:ext>
            </a:extLst>
          </p:cNvPr>
          <p:cNvSpPr txBox="1"/>
          <p:nvPr/>
        </p:nvSpPr>
        <p:spPr>
          <a:xfrm>
            <a:off x="435429" y="2039917"/>
            <a:ext cx="2235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1a</a:t>
            </a:r>
            <a:endParaRPr lang="en-MY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F189A8-9722-E205-230F-38658415A012}"/>
              </a:ext>
            </a:extLst>
          </p:cNvPr>
          <p:cNvSpPr txBox="1"/>
          <p:nvPr/>
        </p:nvSpPr>
        <p:spPr>
          <a:xfrm>
            <a:off x="332020" y="4311544"/>
            <a:ext cx="2235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1b</a:t>
            </a:r>
            <a:endParaRPr lang="en-MY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A320E65-E9EE-4EE1-FF82-9FFEC81157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7308" y="5981969"/>
            <a:ext cx="513469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834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52E4-8A51-DA94-FB9F-FC66D8D5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60F2AA-DFEA-5837-CA76-E46E458057A4}"/>
              </a:ext>
            </a:extLst>
          </p:cNvPr>
          <p:cNvSpPr txBox="1"/>
          <p:nvPr/>
        </p:nvSpPr>
        <p:spPr>
          <a:xfrm>
            <a:off x="3677193" y="766077"/>
            <a:ext cx="810550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FIGURE 1 shows two point charges Q₁ = +12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Q₂ = –10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placed 10 cm apart.</a:t>
            </a:r>
          </a:p>
          <a:p>
            <a:pPr marL="400050" indent="-400050">
              <a:buAutoNum type="roman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Coulomb force on charge Q₁.</a:t>
            </a:r>
          </a:p>
          <a:p>
            <a:pPr marL="400050" indent="-400050">
              <a:buAutoNum type="roman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work done to bring a positive test charge 2.0 × 10⁻⁷ C from infinity to point A.</a:t>
            </a:r>
          </a:p>
          <a:p>
            <a:pPr marL="400050" indent="-400050">
              <a:buAutoNum type="roman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potential energy of the system when the positive test charge 2.0 × 10⁻⁷ C is located at A.</a:t>
            </a:r>
          </a:p>
          <a:p>
            <a:pPr algn="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[10 marks]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DCA012-87EC-E9D6-800A-987945DB0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6" y="766077"/>
            <a:ext cx="3330480" cy="17785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B095F2-DF75-9512-BDBE-ECB137FBD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689" y="5701343"/>
            <a:ext cx="4887007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829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821</Words>
  <Application>Microsoft Office PowerPoint</Application>
  <PresentationFormat>Widescreen</PresentationFormat>
  <Paragraphs>42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Google Sans Text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Shafiq</dc:creator>
  <cp:lastModifiedBy>SHAFIQ R</cp:lastModifiedBy>
  <cp:revision>4</cp:revision>
  <dcterms:created xsi:type="dcterms:W3CDTF">2026-03-16T04:21:53Z</dcterms:created>
  <dcterms:modified xsi:type="dcterms:W3CDTF">2026-04-16T15:01:39Z</dcterms:modified>
</cp:coreProperties>
</file>