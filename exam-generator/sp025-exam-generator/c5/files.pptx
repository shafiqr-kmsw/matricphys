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8" r:id="rId2"/>
    <p:sldId id="256" r:id="rId3"/>
    <p:sldId id="259" r:id="rId4"/>
    <p:sldId id="260" r:id="rId5"/>
    <p:sldId id="261" r:id="rId6"/>
    <p:sldId id="267" r:id="rId7"/>
    <p:sldId id="268" r:id="rId8"/>
    <p:sldId id="269" r:id="rId9"/>
    <p:sldId id="270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35" d="100"/>
          <a:sy n="35" d="100"/>
        </p:scale>
        <p:origin x="108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30CEF5-4124-458A-8583-FB2A0D68282E}" type="datetimeFigureOut">
              <a:rPr lang="en-MY" smtClean="0"/>
              <a:t>16/4/2026</a:t>
            </a:fld>
            <a:endParaRPr lang="en-MY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MY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43B765-2686-4739-8603-5834023752E4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0890679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009DFA-F781-71DC-9D3A-ECC464C66E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79AD58-081B-C7CD-9101-33B3A98B9D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B56AC6-6E78-3A66-B47E-E960E449DB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MY" dirty="0"/>
              <a:t>C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7F68E9-4CFC-EA7F-61B8-D93F53CEC2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43B765-2686-4739-8603-5834023752E4}" type="slidenum">
              <a:rPr lang="en-MY" smtClean="0"/>
              <a:t>1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7065744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MY" b="0" i="1" smtClean="0">
                          <a:latin typeface="Cambria Math" panose="02040503050406030204" pitchFamily="18" charset="0"/>
                        </a:rPr>
                        <m:t>0.6</m:t>
                      </m:r>
                      <m:r>
                        <a:rPr lang="en-MY" b="0" i="1" smtClean="0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MY" b="0" i="1" smtClean="0">
                          <a:latin typeface="Cambria Math" panose="02040503050406030204" pitchFamily="18" charset="0"/>
                        </a:rPr>
                        <m:t>𝐽</m:t>
                      </m:r>
                    </m:oMath>
                  </m:oMathPara>
                </a14:m>
                <a:endParaRPr lang="en-MY" b="0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MY" b="0" i="0">
                    <a:latin typeface="Cambria Math" panose="02040503050406030204" pitchFamily="18" charset="0"/>
                  </a:rPr>
                  <a:t>0.6𝜇𝐽</a:t>
                </a:r>
                <a:endParaRPr lang="en-MY" b="0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43B765-2686-4739-8603-5834023752E4}" type="slidenum">
              <a:rPr lang="en-MY" smtClean="0"/>
              <a:t>2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5023780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AA8445-1434-A6C5-DD3D-393248473B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14B00D-312B-B559-3C5E-31DB4BE9C4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6CA29B-829D-7A3E-2072-AB92EB0181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MY" dirty="0"/>
              <a:t>C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F4FCE3-8BD4-1305-E035-7B9237F58B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43B765-2686-4739-8603-5834023752E4}" type="slidenum">
              <a:rPr lang="en-MY" smtClean="0"/>
              <a:t>3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6235263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2940CB-83AA-FEED-6D38-FC36FE3944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1382B3-F7E2-5A8F-E2BE-4719F475EF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11" indent="0" algn="ctr">
              <a:buNone/>
              <a:defRPr sz="2000"/>
            </a:lvl2pPr>
            <a:lvl3pPr marL="914423" indent="0" algn="ctr">
              <a:buNone/>
              <a:defRPr sz="1801"/>
            </a:lvl3pPr>
            <a:lvl4pPr marL="1371634" indent="0" algn="ctr">
              <a:buNone/>
              <a:defRPr sz="1600"/>
            </a:lvl4pPr>
            <a:lvl5pPr marL="1828846" indent="0" algn="ctr">
              <a:buNone/>
              <a:defRPr sz="1600"/>
            </a:lvl5pPr>
            <a:lvl6pPr marL="2286057" indent="0" algn="ctr">
              <a:buNone/>
              <a:defRPr sz="1600"/>
            </a:lvl6pPr>
            <a:lvl7pPr marL="2743269" indent="0" algn="ctr">
              <a:buNone/>
              <a:defRPr sz="1600"/>
            </a:lvl7pPr>
            <a:lvl8pPr marL="3200480" indent="0" algn="ctr">
              <a:buNone/>
              <a:defRPr sz="1600"/>
            </a:lvl8pPr>
            <a:lvl9pPr marL="3657691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BD6721-3C08-F3F7-DCE1-9351FC1CD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36931-D21D-4CEE-8596-8652B0B9C773}" type="datetimeFigureOut">
              <a:rPr lang="en-MY" smtClean="0"/>
              <a:t>16/4/2026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701A84-4386-F919-3545-F441461C72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5326D1-54C0-6645-11B9-C995CA5479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A0F0D-ECA7-4992-9E43-97B5575AE35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1040719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4672CD-2146-A154-CB60-45C2AE3B0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14CFBA-CC5B-FD7D-D602-95D158FE06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2F5399-CF13-1A74-3193-FB091646A5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36931-D21D-4CEE-8596-8652B0B9C773}" type="datetimeFigureOut">
              <a:rPr lang="en-MY" smtClean="0"/>
              <a:t>16/4/2026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BF2552-908B-26F0-683B-6CA8592B37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62340E-1E35-1792-237B-E1E419D14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A0F0D-ECA7-4992-9E43-97B5575AE35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8351105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39A0E-42E0-28EE-A652-E3B48B0440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053DC9-E969-6C3A-A673-075A8607C4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11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23" indent="0">
              <a:buNone/>
              <a:defRPr sz="1801">
                <a:solidFill>
                  <a:schemeClr val="tx1">
                    <a:tint val="75000"/>
                  </a:schemeClr>
                </a:solidFill>
              </a:defRPr>
            </a:lvl3pPr>
            <a:lvl4pPr marL="13716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4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5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6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8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9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593A57-068D-0431-657D-841E745BCC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36931-D21D-4CEE-8596-8652B0B9C773}" type="datetimeFigureOut">
              <a:rPr lang="en-MY" smtClean="0"/>
              <a:t>16/4/2026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123DA3-1F90-5953-EE0A-00B4D56FC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D073B0-0893-FEEE-5D0A-31C8A8AF5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A0F0D-ECA7-4992-9E43-97B5575AE35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0941851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BFDA9-AFF2-2193-8F0F-FEE0673775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82D64B-B17A-756A-873D-D580991F2B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1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9BDFAC-E7C7-9EA5-1225-34435CB309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1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C67A79-CC94-AA11-7A35-762654D813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36931-D21D-4CEE-8596-8652B0B9C773}" type="datetimeFigureOut">
              <a:rPr lang="en-MY" smtClean="0"/>
              <a:t>16/4/2026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3652DF-803F-1BCD-40FE-BA513CFD71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8C13ED-563C-395B-B1D8-92C7A0EED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A0F0D-ECA7-4992-9E43-97B5575AE35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7700315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9438F2-59AD-91D5-831E-F539FE69A0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81DE0C-B675-0DDB-F4A3-1D6950E1B2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11" indent="0">
              <a:buNone/>
              <a:defRPr sz="2000" b="1"/>
            </a:lvl2pPr>
            <a:lvl3pPr marL="914423" indent="0">
              <a:buNone/>
              <a:defRPr sz="1801" b="1"/>
            </a:lvl3pPr>
            <a:lvl4pPr marL="1371634" indent="0">
              <a:buNone/>
              <a:defRPr sz="1600" b="1"/>
            </a:lvl4pPr>
            <a:lvl5pPr marL="1828846" indent="0">
              <a:buNone/>
              <a:defRPr sz="1600" b="1"/>
            </a:lvl5pPr>
            <a:lvl6pPr marL="2286057" indent="0">
              <a:buNone/>
              <a:defRPr sz="1600" b="1"/>
            </a:lvl6pPr>
            <a:lvl7pPr marL="2743269" indent="0">
              <a:buNone/>
              <a:defRPr sz="1600" b="1"/>
            </a:lvl7pPr>
            <a:lvl8pPr marL="3200480" indent="0">
              <a:buNone/>
              <a:defRPr sz="1600" b="1"/>
            </a:lvl8pPr>
            <a:lvl9pPr marL="3657691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64E4A2-6689-557D-7517-4E25FC33AB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28DF93-BA40-2821-7EF0-9BD0D0A202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11" indent="0">
              <a:buNone/>
              <a:defRPr sz="2000" b="1"/>
            </a:lvl2pPr>
            <a:lvl3pPr marL="914423" indent="0">
              <a:buNone/>
              <a:defRPr sz="1801" b="1"/>
            </a:lvl3pPr>
            <a:lvl4pPr marL="1371634" indent="0">
              <a:buNone/>
              <a:defRPr sz="1600" b="1"/>
            </a:lvl4pPr>
            <a:lvl5pPr marL="1828846" indent="0">
              <a:buNone/>
              <a:defRPr sz="1600" b="1"/>
            </a:lvl5pPr>
            <a:lvl6pPr marL="2286057" indent="0">
              <a:buNone/>
              <a:defRPr sz="1600" b="1"/>
            </a:lvl6pPr>
            <a:lvl7pPr marL="2743269" indent="0">
              <a:buNone/>
              <a:defRPr sz="1600" b="1"/>
            </a:lvl7pPr>
            <a:lvl8pPr marL="3200480" indent="0">
              <a:buNone/>
              <a:defRPr sz="1600" b="1"/>
            </a:lvl8pPr>
            <a:lvl9pPr marL="3657691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EAE9F4-45C3-8A9B-02B1-644E6979C8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95D81FC-1D00-EFA1-3DDB-C4634FB38A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36931-D21D-4CEE-8596-8652B0B9C773}" type="datetimeFigureOut">
              <a:rPr lang="en-MY" smtClean="0"/>
              <a:t>16/4/2026</a:t>
            </a:fld>
            <a:endParaRPr lang="en-MY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91851B1-80B1-D619-7F06-0F8E89C8A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44C0266-1D1D-F642-3E67-D9255178A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A0F0D-ECA7-4992-9E43-97B5575AE35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2181402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D57CD1-7190-1DED-9F40-7DCA9C6728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854E00-4BD4-2900-B7EC-530770CF22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36931-D21D-4CEE-8596-8652B0B9C773}" type="datetimeFigureOut">
              <a:rPr lang="en-MY" smtClean="0"/>
              <a:t>16/4/2026</a:t>
            </a:fld>
            <a:endParaRPr lang="en-MY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4D50B4-6816-6438-6383-1167B81C09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08A394-E2E6-EFB4-BCD3-45EF27F52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A0F0D-ECA7-4992-9E43-97B5575AE35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8242696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FD5E243-5463-7691-A214-28343B5DB3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36931-D21D-4CEE-8596-8652B0B9C773}" type="datetimeFigureOut">
              <a:rPr lang="en-MY" smtClean="0"/>
              <a:t>16/4/2026</a:t>
            </a:fld>
            <a:endParaRPr lang="en-MY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45AB2A8-BB1A-B244-E84C-2BD2B469C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A629AF-CD06-ED3A-7AC2-F26C10D94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A0F0D-ECA7-4992-9E43-97B5575AE35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5200227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6B308A-6A8A-BCCB-F6F9-CB915B900F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26F399-8DC7-F7B9-9B1C-D6F0C3AE90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7"/>
            <a:ext cx="6172201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3A30F3-8CEB-A7F2-82C0-255700ECF9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11" indent="0">
              <a:buNone/>
              <a:defRPr sz="1401"/>
            </a:lvl2pPr>
            <a:lvl3pPr marL="914423" indent="0">
              <a:buNone/>
              <a:defRPr sz="1200"/>
            </a:lvl3pPr>
            <a:lvl4pPr marL="1371634" indent="0">
              <a:buNone/>
              <a:defRPr sz="1001"/>
            </a:lvl4pPr>
            <a:lvl5pPr marL="1828846" indent="0">
              <a:buNone/>
              <a:defRPr sz="1001"/>
            </a:lvl5pPr>
            <a:lvl6pPr marL="2286057" indent="0">
              <a:buNone/>
              <a:defRPr sz="1001"/>
            </a:lvl6pPr>
            <a:lvl7pPr marL="2743269" indent="0">
              <a:buNone/>
              <a:defRPr sz="1001"/>
            </a:lvl7pPr>
            <a:lvl8pPr marL="3200480" indent="0">
              <a:buNone/>
              <a:defRPr sz="1001"/>
            </a:lvl8pPr>
            <a:lvl9pPr marL="3657691" indent="0">
              <a:buNone/>
              <a:defRPr sz="100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D95D97-FFBA-67D7-860A-AAFB900096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36931-D21D-4CEE-8596-8652B0B9C773}" type="datetimeFigureOut">
              <a:rPr lang="en-MY" smtClean="0"/>
              <a:t>16/4/2026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318DEB-F09B-799A-4B47-245361271E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4DC1FC-1BD9-1043-38E7-480220A24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A0F0D-ECA7-4992-9E43-97B5575AE35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8534937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F292CA-AF88-D64A-2D0A-8B2F9FE5D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939B5D9-87CB-DE19-AC1A-230BF51E6D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1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11" indent="0">
              <a:buNone/>
              <a:defRPr sz="2800"/>
            </a:lvl2pPr>
            <a:lvl3pPr marL="914423" indent="0">
              <a:buNone/>
              <a:defRPr sz="2400"/>
            </a:lvl3pPr>
            <a:lvl4pPr marL="1371634" indent="0">
              <a:buNone/>
              <a:defRPr sz="2000"/>
            </a:lvl4pPr>
            <a:lvl5pPr marL="1828846" indent="0">
              <a:buNone/>
              <a:defRPr sz="2000"/>
            </a:lvl5pPr>
            <a:lvl6pPr marL="2286057" indent="0">
              <a:buNone/>
              <a:defRPr sz="2000"/>
            </a:lvl6pPr>
            <a:lvl7pPr marL="2743269" indent="0">
              <a:buNone/>
              <a:defRPr sz="2000"/>
            </a:lvl7pPr>
            <a:lvl8pPr marL="3200480" indent="0">
              <a:buNone/>
              <a:defRPr sz="2000"/>
            </a:lvl8pPr>
            <a:lvl9pPr marL="3657691" indent="0">
              <a:buNone/>
              <a:defRPr sz="2000"/>
            </a:lvl9pPr>
          </a:lstStyle>
          <a:p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6C1227-2884-8153-D35A-B4F45C2B4A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11" indent="0">
              <a:buNone/>
              <a:defRPr sz="1401"/>
            </a:lvl2pPr>
            <a:lvl3pPr marL="914423" indent="0">
              <a:buNone/>
              <a:defRPr sz="1200"/>
            </a:lvl3pPr>
            <a:lvl4pPr marL="1371634" indent="0">
              <a:buNone/>
              <a:defRPr sz="1001"/>
            </a:lvl4pPr>
            <a:lvl5pPr marL="1828846" indent="0">
              <a:buNone/>
              <a:defRPr sz="1001"/>
            </a:lvl5pPr>
            <a:lvl6pPr marL="2286057" indent="0">
              <a:buNone/>
              <a:defRPr sz="1001"/>
            </a:lvl6pPr>
            <a:lvl7pPr marL="2743269" indent="0">
              <a:buNone/>
              <a:defRPr sz="1001"/>
            </a:lvl7pPr>
            <a:lvl8pPr marL="3200480" indent="0">
              <a:buNone/>
              <a:defRPr sz="1001"/>
            </a:lvl8pPr>
            <a:lvl9pPr marL="3657691" indent="0">
              <a:buNone/>
              <a:defRPr sz="100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4531CE-C6E7-A01F-E604-3F4B61872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36931-D21D-4CEE-8596-8652B0B9C773}" type="datetimeFigureOut">
              <a:rPr lang="en-MY" smtClean="0"/>
              <a:t>16/4/2026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099F5A-5453-F268-0F10-3FB21E28C5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C12E33-F8D9-37A7-D117-830612FC4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A0F0D-ECA7-4992-9E43-97B5575AE35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3294211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80ED1-526A-2729-4ACC-A8C245D67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AE80B4-FBD1-4A7B-9CC6-20BF9F7412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0A7411-E7D8-A6C9-9056-F59B956053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36931-D21D-4CEE-8596-8652B0B9C773}" type="datetimeFigureOut">
              <a:rPr lang="en-MY" smtClean="0"/>
              <a:t>16/4/2026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CA80FC-282A-7E6F-EE62-CBCE49782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C7EEB0-DB70-2C66-81A4-A309224AC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A0F0D-ECA7-4992-9E43-97B5575AE35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6817699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BD3C9F-AF0C-BBE6-0F98-6C25C7C901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26AB9E-C065-27C1-DB2C-ACA843A38E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B19D27-5EC9-8652-91EB-6A78D89E6B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36931-D21D-4CEE-8596-8652B0B9C773}" type="datetimeFigureOut">
              <a:rPr lang="en-MY" smtClean="0"/>
              <a:t>16/4/2026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145C3E-F9BC-9DB4-04C4-1ADC38149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88F4AB-406B-715D-6FCC-D99A2EB4A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A0F0D-ECA7-4992-9E43-97B5575AE35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8143624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FD0A0E-460E-E9FA-E9E4-87AE7EE35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95FA3C-465B-83E9-D0E7-54669221BB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1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9DCB74-1911-22F8-3203-FBFEBF84F8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1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736931-D21D-4CEE-8596-8652B0B9C773}" type="datetimeFigureOut">
              <a:rPr lang="en-MY" smtClean="0"/>
              <a:t>16/4/2026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86523D-066E-1413-0583-CBB11B742D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1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1E1E20-D761-F365-AE58-8616DCE384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1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4A0F0D-ECA7-4992-9E43-97B5575AE35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8741575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23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6" indent="-228606" algn="l" defTabSz="914423" rtl="0" eaLnBrk="1" latinLnBrk="0" hangingPunct="1">
        <a:lnSpc>
          <a:spcPct val="90000"/>
        </a:lnSpc>
        <a:spcBef>
          <a:spcPts val="1001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18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29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41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52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63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971875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429086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886298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23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1pPr>
      <a:lvl2pPr marL="457211" algn="l" defTabSz="914423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2pPr>
      <a:lvl3pPr marL="914423" algn="l" defTabSz="914423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3pPr>
      <a:lvl4pPr marL="1371634" algn="l" defTabSz="914423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1828846" algn="l" defTabSz="914423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286057" algn="l" defTabSz="914423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743269" algn="l" defTabSz="914423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200480" algn="l" defTabSz="914423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657691" algn="l" defTabSz="914423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89E101-8B62-ECAE-2C79-C28FEC5E5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9D858967-92EB-42DB-0E34-15269457BD6A}"/>
              </a:ext>
            </a:extLst>
          </p:cNvPr>
          <p:cNvSpPr txBox="1"/>
          <p:nvPr/>
        </p:nvSpPr>
        <p:spPr>
          <a:xfrm>
            <a:off x="365760" y="444699"/>
            <a:ext cx="1092708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Y" sz="2800" dirty="0"/>
              <a:t>5. An AC circuit contains a 15 Ω resistor, a 3.0 </a:t>
            </a:r>
            <a:r>
              <a:rPr lang="en-MY" sz="2800" dirty="0" err="1"/>
              <a:t>μF</a:t>
            </a:r>
            <a:r>
              <a:rPr lang="en-MY" sz="2800" dirty="0"/>
              <a:t> capacitor, and a 3.1 </a:t>
            </a:r>
            <a:r>
              <a:rPr lang="en-MY" sz="2800" dirty="0" err="1"/>
              <a:t>mH</a:t>
            </a:r>
            <a:r>
              <a:rPr lang="en-MY" sz="2800" dirty="0"/>
              <a:t> inductor connected in series to an AC</a:t>
            </a:r>
          </a:p>
          <a:p>
            <a:r>
              <a:rPr lang="en-MY" sz="2800" dirty="0"/>
              <a:t>power supply with a 75.0 V and frequency of 2.2 kHz.</a:t>
            </a:r>
          </a:p>
          <a:p>
            <a:r>
              <a:rPr lang="en-MY" sz="2800" dirty="0"/>
              <a:t>(a) Calculate the rms current [4 marks]</a:t>
            </a:r>
          </a:p>
          <a:p>
            <a:r>
              <a:rPr lang="en-MY" sz="2800" dirty="0"/>
              <a:t>(b) Calculate the rms voltage across the capacitor. [1 marks]</a:t>
            </a:r>
          </a:p>
          <a:p>
            <a:r>
              <a:rPr lang="en-MY" sz="2800" dirty="0"/>
              <a:t>(c) Calculate the power factor and phase angle for this circuit [3 marks]</a:t>
            </a:r>
          </a:p>
          <a:p>
            <a:r>
              <a:rPr lang="en-MY" sz="2800" dirty="0"/>
              <a:t>(d) Sketch a label phasor diagram to show the current and the supply voltage. [2 marks]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75705C5-AD09-026F-CAD5-FFE77304A3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3520" y="3794759"/>
            <a:ext cx="2712720" cy="2725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21928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>
            <a:extLst>
              <a:ext uri="{FF2B5EF4-FFF2-40B4-BE49-F238E27FC236}">
                <a16:creationId xmlns:a16="http://schemas.microsoft.com/office/drawing/2014/main" id="{89CF4BA6-A096-4F28-A69E-22A1F64BF9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7299" y="334327"/>
            <a:ext cx="9677401" cy="4653347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EDE1F412-5DFE-9B7F-6899-B6E5231B50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27148" y="4800600"/>
            <a:ext cx="3144621" cy="190595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6847451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1E8168-E4E2-C7C6-44AF-21E379AF40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444A6F1F-67B3-F62D-7658-6C91F7E462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270" y="605790"/>
            <a:ext cx="11513459" cy="326517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4BDA28E9-2188-60A8-0DB8-4FDAE1D145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63929" y="5455920"/>
            <a:ext cx="2561345" cy="108108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4877917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71213B-CB77-4489-8740-FC3B3474D7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FA7608C-B236-FE67-8607-BD7EBEB92D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2632" y="213571"/>
            <a:ext cx="4004936" cy="137574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F2DFC49-A17E-1F8D-C97D-4FA155269DA3}"/>
              </a:ext>
            </a:extLst>
          </p:cNvPr>
          <p:cNvSpPr txBox="1"/>
          <p:nvPr/>
        </p:nvSpPr>
        <p:spPr>
          <a:xfrm>
            <a:off x="342899" y="1923481"/>
            <a:ext cx="1150075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a) FIGURE 5 shows a graph of alternating current through a 220 Ω resistor.</a:t>
            </a:r>
          </a:p>
          <a:p>
            <a:pPr marL="400050" indent="-400050">
              <a:buAutoNum type="romanLcParenR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 the rms current through the resistor </a:t>
            </a:r>
          </a:p>
          <a:p>
            <a:pPr marL="400050" indent="-400050">
              <a:buAutoNum type="romanLcParenR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 the peak voltage across the resistor </a:t>
            </a:r>
          </a:p>
          <a:p>
            <a:pPr marL="400050" indent="-400050">
              <a:buAutoNum type="romanLcParenR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the equation of voltage across the resistor iv) Calculate the average power dissipated by the resistor</a:t>
            </a:r>
          </a:p>
          <a:p>
            <a:pPr algn="r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[6 marks]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683997-8120-C975-C3D1-C6DA2BB36731}"/>
              </a:ext>
            </a:extLst>
          </p:cNvPr>
          <p:cNvSpPr txBox="1"/>
          <p:nvPr/>
        </p:nvSpPr>
        <p:spPr>
          <a:xfrm>
            <a:off x="342898" y="3734977"/>
            <a:ext cx="1150075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b) A sinusoidal voltage V(t) = 20 sin (50πt) is applied to a series RLC circuit with R = 670 Ω, L = 250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C = 47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μF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00050" indent="-400050">
              <a:buAutoNum type="romanLcParenR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 the impedance of the circuit </a:t>
            </a:r>
          </a:p>
          <a:p>
            <a:pPr marL="400050" indent="-400050">
              <a:buAutoNum type="romanLcParenR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 the phase angle of the circuit</a:t>
            </a:r>
          </a:p>
          <a:p>
            <a:pPr algn="r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 marks]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FF9524A-2FCE-E445-E511-47E50490B4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2336" y="5348848"/>
            <a:ext cx="4801270" cy="1295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9007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1E72D4-6C8B-7FC3-CB47-15C1587D9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306B72F-990D-52FA-5848-A1FB30045E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241" y="636161"/>
            <a:ext cx="2543530" cy="156231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6AD7F64-D38B-6BF0-2AD1-9A4F179783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241" y="2313893"/>
            <a:ext cx="2248214" cy="188621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341F0B8-9856-6405-D48A-D510C9E832CC}"/>
              </a:ext>
            </a:extLst>
          </p:cNvPr>
          <p:cNvSpPr txBox="1"/>
          <p:nvPr/>
        </p:nvSpPr>
        <p:spPr>
          <a:xfrm>
            <a:off x="3045823" y="423930"/>
            <a:ext cx="868493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a) FIGURE 5a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shows graphs of sinusoidal alternating current (AC) and a sinusoidal alternating voltage against time across a resistor R.</a:t>
            </a:r>
          </a:p>
          <a:p>
            <a:pPr marL="400050" indent="-400050">
              <a:buAutoNum type="romanLcParenR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 the resistance R.</a:t>
            </a:r>
          </a:p>
          <a:p>
            <a:pPr marL="400050" indent="-400050">
              <a:buAutoNum type="romanLcParenR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Express the sinusoidal voltage equation.</a:t>
            </a:r>
          </a:p>
          <a:p>
            <a:pPr algn="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 marks]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E42601-D63F-C39E-BD1C-F17D671240FF}"/>
              </a:ext>
            </a:extLst>
          </p:cNvPr>
          <p:cNvSpPr txBox="1"/>
          <p:nvPr/>
        </p:nvSpPr>
        <p:spPr>
          <a:xfrm>
            <a:off x="3049731" y="2274838"/>
            <a:ext cx="868102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b) FIGURE 5b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shows the values of root means square voltage across the resistor R, inductor, L and capacitor, C. Calculate the</a:t>
            </a:r>
          </a:p>
          <a:p>
            <a:pPr>
              <a:buNone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source voltage and phase angle of the source voltage with respect to the current. Does the source voltage lag or lead the current?</a:t>
            </a:r>
          </a:p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ii) power factor of the circuit.</a:t>
            </a:r>
          </a:p>
          <a:p>
            <a:pPr algn="r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[6 marks]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48B4353-2258-D432-9DC3-58DAB430F7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5940" y="4587955"/>
            <a:ext cx="4906060" cy="924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0108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F257762-BC1D-C931-26E2-F9D0A0AADA4A}"/>
              </a:ext>
            </a:extLst>
          </p:cNvPr>
          <p:cNvSpPr txBox="1"/>
          <p:nvPr/>
        </p:nvSpPr>
        <p:spPr>
          <a:xfrm>
            <a:off x="788068" y="422521"/>
            <a:ext cx="1105100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a)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 AC source has an output voltage of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300 sin 100 π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The source is connected to a 1.20 H inductor. Calculate the: </a:t>
            </a:r>
          </a:p>
          <a:p>
            <a:pPr marL="400050" indent="-400050">
              <a:buAutoNum type="romanLcParenR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rms voltage </a:t>
            </a:r>
          </a:p>
          <a:p>
            <a:pPr marL="400050" indent="-400050">
              <a:buAutoNum type="romanLcParenR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rms current in the inductor </a:t>
            </a:r>
          </a:p>
          <a:p>
            <a:pPr marL="400050" indent="-400050">
              <a:buAutoNum type="romanLcParenR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average power </a:t>
            </a:r>
          </a:p>
          <a:p>
            <a:pPr algn="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 marks]</a:t>
            </a:r>
            <a:endParaRPr lang="en-MY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3B56FF-A154-A01A-FD0C-A9C7B2812EFB}"/>
              </a:ext>
            </a:extLst>
          </p:cNvPr>
          <p:cNvSpPr txBox="1"/>
          <p:nvPr/>
        </p:nvSpPr>
        <p:spPr>
          <a:xfrm>
            <a:off x="788068" y="2594084"/>
            <a:ext cx="1105100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 AC source that has a peak voltage of 120 V and a frequency of 50.0 Hz is connected in series to a 900 Ω resistor, a 2.40 H inductor and a 10.0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μF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capacitor. Calculate the: </a:t>
            </a:r>
          </a:p>
          <a:p>
            <a:pPr marL="400050" indent="-400050">
              <a:buAutoNum type="romanLcParenR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impedance of the circuit </a:t>
            </a:r>
          </a:p>
          <a:p>
            <a:pPr marL="400050" indent="-400050">
              <a:buAutoNum type="romanLcParenR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angle of the circuit </a:t>
            </a:r>
          </a:p>
          <a:p>
            <a:pPr marL="400050" indent="-400050">
              <a:buAutoNum type="romanLcParenR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power factor of the circuit </a:t>
            </a:r>
          </a:p>
          <a:p>
            <a:pPr algn="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 marks]</a:t>
            </a:r>
            <a:endParaRPr lang="en-MY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AD4BF58-9669-3AF2-D372-34306B49B4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8311" y="5701512"/>
            <a:ext cx="3143689" cy="1095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64718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EBBDB45-7D5F-6F32-0BF6-383E664F76D4}"/>
              </a:ext>
            </a:extLst>
          </p:cNvPr>
          <p:cNvSpPr txBox="1"/>
          <p:nvPr/>
        </p:nvSpPr>
        <p:spPr>
          <a:xfrm>
            <a:off x="943897" y="545691"/>
            <a:ext cx="9748684" cy="3034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11430" lvl="0">
              <a:lnSpc>
                <a:spcPct val="150000"/>
              </a:lnSpc>
              <a:spcBef>
                <a:spcPts val="500"/>
              </a:spcBef>
              <a:tabLst>
                <a:tab pos="554355" algn="l"/>
              </a:tabLst>
            </a:pPr>
            <a:r>
              <a:rPr lang="en-US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5  An</a:t>
            </a:r>
            <a:r>
              <a:rPr lang="en-US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AC</a:t>
            </a:r>
            <a:r>
              <a:rPr lang="en-US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source</a:t>
            </a:r>
            <a:r>
              <a:rPr lang="en-US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of</a:t>
            </a:r>
            <a:r>
              <a:rPr lang="en-US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10</a:t>
            </a:r>
            <a:r>
              <a:rPr lang="en-US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</a:t>
            </a:r>
            <a:r>
              <a:rPr lang="en-US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and</a:t>
            </a:r>
            <a:r>
              <a:rPr lang="en-US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frequency</a:t>
            </a:r>
            <a:r>
              <a:rPr lang="en-US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50</a:t>
            </a:r>
            <a:r>
              <a:rPr lang="en-US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Hz</a:t>
            </a:r>
            <a:r>
              <a:rPr lang="en-US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is</a:t>
            </a:r>
            <a:r>
              <a:rPr lang="en-US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connected</a:t>
            </a:r>
            <a:r>
              <a:rPr lang="en-US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to</a:t>
            </a:r>
            <a:r>
              <a:rPr lang="en-US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</a:t>
            </a:r>
            <a:r>
              <a:rPr lang="en-US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circuit</a:t>
            </a:r>
            <a:r>
              <a:rPr lang="en-US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which</a:t>
            </a:r>
            <a:r>
              <a:rPr lang="en-US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consists</a:t>
            </a:r>
            <a:r>
              <a:rPr lang="en-US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of an inductor of inductance 2 H and a resistor of 1 </a:t>
            </a:r>
            <a:r>
              <a:rPr lang="en-US" spc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</a:t>
            </a:r>
            <a:r>
              <a:rPr lang="en-US" spc="0" dirty="0" err="1"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  <a:t>Ω</a:t>
            </a:r>
            <a:r>
              <a:rPr lang="en-US" spc="0" dirty="0"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  <a:t>. Find</a:t>
            </a:r>
            <a:endParaRPr lang="en-MY" spc="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742950" lvl="1" indent="-285750">
              <a:lnSpc>
                <a:spcPts val="1375"/>
              </a:lnSpc>
              <a:buFont typeface="+mj-lt"/>
              <a:buAutoNum type="alphaLcPeriod"/>
              <a:tabLst>
                <a:tab pos="1003935" algn="l"/>
              </a:tabLst>
            </a:pP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en-US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current</a:t>
            </a:r>
            <a:r>
              <a:rPr lang="en-US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flows in</a:t>
            </a:r>
            <a:r>
              <a:rPr lang="en-US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en-US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circuit.</a:t>
            </a:r>
            <a:endParaRPr lang="en-MY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742950" lvl="1" indent="-285750">
              <a:spcBef>
                <a:spcPts val="695"/>
              </a:spcBef>
              <a:buFont typeface="+mj-lt"/>
              <a:buAutoNum type="alphaLcPeriod"/>
              <a:tabLst>
                <a:tab pos="1003935" algn="l"/>
              </a:tabLst>
            </a:pP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en-US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voltage</a:t>
            </a:r>
            <a:r>
              <a:rPr lang="en-US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across</a:t>
            </a:r>
            <a:r>
              <a:rPr lang="en-US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 resistor</a:t>
            </a:r>
            <a:r>
              <a:rPr lang="en-US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and the </a:t>
            </a:r>
            <a:r>
              <a:rPr lang="en-US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inductor</a:t>
            </a:r>
            <a:endParaRPr lang="en-MY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742950" lvl="1" indent="-285750">
              <a:spcBef>
                <a:spcPts val="685"/>
              </a:spcBef>
              <a:buFont typeface="+mj-lt"/>
              <a:buAutoNum type="alphaLcPeriod"/>
              <a:tabLst>
                <a:tab pos="1003935" algn="l"/>
              </a:tabLst>
            </a:pP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en-US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phase</a:t>
            </a:r>
            <a:r>
              <a:rPr lang="en-US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angle between</a:t>
            </a:r>
            <a:r>
              <a:rPr lang="en-US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 voltage</a:t>
            </a:r>
            <a:r>
              <a:rPr lang="en-US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and </a:t>
            </a:r>
            <a:r>
              <a:rPr lang="en-US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current</a:t>
            </a:r>
            <a:endParaRPr lang="en-MY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742950" marR="15875" lvl="1" indent="-285750">
              <a:lnSpc>
                <a:spcPct val="150000"/>
              </a:lnSpc>
              <a:spcBef>
                <a:spcPts val="695"/>
              </a:spcBef>
              <a:buFont typeface="+mj-lt"/>
              <a:buAutoNum type="alphaLcPeriod"/>
              <a:tabLst>
                <a:tab pos="1003935" algn="l"/>
              </a:tabLst>
            </a:pP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en-US" spc="3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value</a:t>
            </a:r>
            <a:r>
              <a:rPr lang="en-US" spc="3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of</a:t>
            </a:r>
            <a:r>
              <a:rPr lang="en-US" spc="3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en-US" spc="3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capacitance</a:t>
            </a:r>
            <a:r>
              <a:rPr lang="en-US" spc="3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should</a:t>
            </a:r>
            <a:r>
              <a:rPr lang="en-US" spc="33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be</a:t>
            </a:r>
            <a:r>
              <a:rPr lang="en-US" spc="3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added</a:t>
            </a:r>
            <a:r>
              <a:rPr lang="en-US" spc="3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so</a:t>
            </a:r>
            <a:r>
              <a:rPr lang="en-US" spc="33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that</a:t>
            </a:r>
            <a:r>
              <a:rPr lang="en-US" spc="33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en-US" spc="3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voltage</a:t>
            </a:r>
            <a:r>
              <a:rPr lang="en-US" spc="3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of</a:t>
            </a:r>
            <a:r>
              <a:rPr lang="en-US" spc="3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 circuit is in phase with the current of the circuit.</a:t>
            </a:r>
            <a:endParaRPr lang="en-MY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R="12700" algn="r">
              <a:spcBef>
                <a:spcPts val="5"/>
              </a:spcBef>
              <a:buNone/>
            </a:pP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[10</a:t>
            </a:r>
            <a:r>
              <a:rPr lang="en-US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i="1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marks</a:t>
            </a:r>
            <a:r>
              <a:rPr lang="en-US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]</a:t>
            </a:r>
            <a:endParaRPr lang="en-MY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219CCA5-D9E1-61F3-4D0D-270F9B6EC2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685" y="5159623"/>
            <a:ext cx="3077004" cy="1152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27907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2AE3E1B-FF03-547B-CE81-22D0ED2F55AC}"/>
              </a:ext>
            </a:extLst>
          </p:cNvPr>
          <p:cNvSpPr txBox="1"/>
          <p:nvPr/>
        </p:nvSpPr>
        <p:spPr>
          <a:xfrm>
            <a:off x="464023" y="431254"/>
            <a:ext cx="10713493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MY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5</a:t>
            </a:r>
            <a:r>
              <a:rPr lang="en-MY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(a) An AC current of angular frequency of 1.0 x 10</a:t>
            </a:r>
            <a:r>
              <a:rPr lang="en-MY" sz="1800" baseline="30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4</a:t>
            </a:r>
            <a:r>
              <a:rPr lang="en-MY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rad s</a:t>
            </a:r>
            <a:r>
              <a:rPr lang="en-MY" sz="1800" baseline="30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-1</a:t>
            </a:r>
            <a:r>
              <a:rPr lang="en-MY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flows through a 10 kΩ resistor and a 0.10 µF capacitor which are connected in series. Calculate the rms voltage across the capacitor if the rms voltage across the resistor is 20 V. 																				[3 marks] </a:t>
            </a:r>
            <a:endParaRPr lang="en-MY" sz="20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Aptos" panose="020B0004020202020204" pitchFamily="34" charset="0"/>
            </a:endParaRPr>
          </a:p>
          <a:p>
            <a:pPr>
              <a:buNone/>
            </a:pPr>
            <a:r>
              <a:rPr lang="en-MY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(b) A 200 Ω resistor, a 0.75 H inductor and a capacitor of capacitance </a:t>
            </a:r>
            <a:r>
              <a:rPr lang="en-MY" sz="18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C </a:t>
            </a:r>
            <a:r>
              <a:rPr lang="en-MY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are connected in series to an alternating source 250 V, 600 Hz. If the current in the circuit is maximum, calculate the </a:t>
            </a:r>
            <a:endParaRPr lang="en-MY" sz="20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Aptos" panose="020B0004020202020204" pitchFamily="34" charset="0"/>
            </a:endParaRPr>
          </a:p>
          <a:p>
            <a:pPr>
              <a:buNone/>
            </a:pPr>
            <a:r>
              <a:rPr lang="en-MY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(</a:t>
            </a:r>
            <a:r>
              <a:rPr lang="en-MY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i</a:t>
            </a:r>
            <a:r>
              <a:rPr lang="en-MY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) capacitive reactance. </a:t>
            </a:r>
            <a:endParaRPr lang="en-MY" sz="20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Aptos" panose="020B0004020202020204" pitchFamily="34" charset="0"/>
            </a:endParaRPr>
          </a:p>
          <a:p>
            <a:pPr>
              <a:buNone/>
            </a:pPr>
            <a:r>
              <a:rPr lang="en-MY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(ii) the capacitance </a:t>
            </a:r>
            <a:r>
              <a:rPr lang="en-MY" sz="18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C</a:t>
            </a:r>
            <a:r>
              <a:rPr lang="en-MY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. </a:t>
            </a:r>
            <a:endParaRPr lang="en-MY" sz="20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Aptos" panose="020B0004020202020204" pitchFamily="34" charset="0"/>
            </a:endParaRPr>
          </a:p>
          <a:p>
            <a:pPr>
              <a:buNone/>
            </a:pPr>
            <a:r>
              <a:rPr lang="en-MY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(iii) the impedance of the circuit at resonance. </a:t>
            </a:r>
            <a:endParaRPr lang="en-MY" sz="20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Aptos" panose="020B0004020202020204" pitchFamily="34" charset="0"/>
            </a:endParaRPr>
          </a:p>
          <a:p>
            <a:pPr>
              <a:buNone/>
            </a:pPr>
            <a:r>
              <a:rPr lang="en-MY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(iv) the current flows through the circuit at resonance. 																[7 marks] </a:t>
            </a:r>
            <a:endParaRPr lang="en-MY" sz="20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Aptos" panose="020B00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D979F2A-4F4A-7610-CB1E-173A6F7D39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1917" y="5075964"/>
            <a:ext cx="2753109" cy="1143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64028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B6F9D7B-F908-0DEC-515C-47D9D32ABEC0}"/>
              </a:ext>
            </a:extLst>
          </p:cNvPr>
          <p:cNvSpPr txBox="1"/>
          <p:nvPr/>
        </p:nvSpPr>
        <p:spPr>
          <a:xfrm>
            <a:off x="796412" y="431209"/>
            <a:ext cx="10943304" cy="10224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625475" lvl="0" algn="just">
              <a:lnSpc>
                <a:spcPct val="115000"/>
              </a:lnSpc>
              <a:spcBef>
                <a:spcPts val="1230"/>
              </a:spcBef>
              <a:tabLst>
                <a:tab pos="650240" algn="l"/>
              </a:tabLst>
            </a:pPr>
            <a:r>
              <a:rPr lang="ms-MY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5   A resistor of resistance, </a:t>
            </a:r>
            <a:r>
              <a:rPr lang="ms-MY" spc="0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𝑅 </a:t>
            </a:r>
            <a:r>
              <a:rPr lang="ms-MY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= 30 Ω, is connected in series with an inductor, </a:t>
            </a:r>
            <a:r>
              <a:rPr lang="ms-MY" spc="0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𝐿 </a:t>
            </a:r>
            <a:r>
              <a:rPr lang="ms-MY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= 50 mH, and a capacitor of capacitance, </a:t>
            </a:r>
            <a:r>
              <a:rPr lang="ms-MY" spc="0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𝐶 </a:t>
            </a:r>
            <a:r>
              <a:rPr lang="ms-MY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= 10 μF. An alternating voltage, </a:t>
            </a:r>
            <a:r>
              <a:rPr lang="ms-MY" spc="0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𝑉</a:t>
            </a:r>
            <a:r>
              <a:rPr lang="ms-MY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rms</a:t>
            </a:r>
            <a:r>
              <a:rPr lang="ms-MY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= 80 V, and frequency, 1 kHz is connected across the circuit. Calculate the</a:t>
            </a:r>
            <a:endParaRPr lang="en-MY" spc="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DB0C5E-E4CC-2E0F-ABAA-F64EC06EE07A}"/>
              </a:ext>
            </a:extLst>
          </p:cNvPr>
          <p:cNvSpPr txBox="1"/>
          <p:nvPr/>
        </p:nvSpPr>
        <p:spPr>
          <a:xfrm>
            <a:off x="910712" y="1656059"/>
            <a:ext cx="10666771" cy="17517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75"/>
              </a:lnSpc>
              <a:spcBef>
                <a:spcPts val="600"/>
              </a:spcBef>
              <a:buSzPts val="1100"/>
              <a:tabLst>
                <a:tab pos="950595" algn="l"/>
              </a:tabLst>
            </a:pPr>
            <a:r>
              <a:rPr lang="ms-MY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(a)   impedance</a:t>
            </a:r>
            <a:r>
              <a:rPr lang="ms-MY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</a:t>
            </a:r>
            <a:r>
              <a:rPr lang="ms-MY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this</a:t>
            </a:r>
            <a:r>
              <a:rPr lang="ms-MY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circuit.								</a:t>
            </a:r>
            <a:r>
              <a:rPr lang="ms-MY" dirty="0">
                <a:latin typeface="Times New Roman" panose="02020603050405020304" pitchFamily="18" charset="0"/>
                <a:ea typeface="Times New Roman" panose="02020603050405020304" pitchFamily="18" charset="0"/>
              </a:rPr>
              <a:t>[3 </a:t>
            </a:r>
            <a:r>
              <a:rPr lang="ms-MY" i="1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marks</a:t>
            </a:r>
            <a:r>
              <a:rPr lang="ms-MY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]</a:t>
            </a:r>
            <a:r>
              <a:rPr lang="ms-MY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					</a:t>
            </a:r>
            <a:endParaRPr lang="en-MY" spc="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Bef>
                <a:spcPts val="485"/>
              </a:spcBef>
              <a:buSzPts val="1100"/>
              <a:tabLst>
                <a:tab pos="950595" algn="l"/>
              </a:tabLst>
            </a:pPr>
            <a:r>
              <a:rPr lang="ms-MY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(b)   rms</a:t>
            </a:r>
            <a:r>
              <a:rPr lang="ms-MY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current </a:t>
            </a:r>
            <a:r>
              <a:rPr lang="ms-MY" b="1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and </a:t>
            </a:r>
            <a:r>
              <a:rPr lang="ms-MY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peak</a:t>
            </a:r>
            <a:r>
              <a:rPr lang="ms-MY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current</a:t>
            </a:r>
            <a:r>
              <a:rPr lang="ms-MY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flowing</a:t>
            </a:r>
            <a:r>
              <a:rPr lang="ms-MY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through</a:t>
            </a:r>
            <a:r>
              <a:rPr lang="ms-MY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 </a:t>
            </a:r>
            <a:r>
              <a:rPr lang="ms-MY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circuit.				</a:t>
            </a:r>
            <a:r>
              <a:rPr lang="ms-MY" dirty="0">
                <a:latin typeface="Times New Roman" panose="02020603050405020304" pitchFamily="18" charset="0"/>
                <a:ea typeface="Times New Roman" panose="02020603050405020304" pitchFamily="18" charset="0"/>
              </a:rPr>
              <a:t>[3 </a:t>
            </a:r>
            <a:r>
              <a:rPr lang="ms-MY" i="1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marks</a:t>
            </a:r>
            <a:r>
              <a:rPr lang="ms-MY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]</a:t>
            </a:r>
            <a:endParaRPr lang="en-MY" spc="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Bef>
                <a:spcPts val="470"/>
              </a:spcBef>
              <a:buSzPts val="1100"/>
              <a:tabLst>
                <a:tab pos="950595" algn="l"/>
              </a:tabLst>
            </a:pPr>
            <a:r>
              <a:rPr lang="ms-MY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(c)   phase</a:t>
            </a:r>
            <a:r>
              <a:rPr lang="ms-MY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angle</a:t>
            </a:r>
            <a:r>
              <a:rPr lang="ms-MY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by</a:t>
            </a:r>
            <a:r>
              <a:rPr lang="ms-MY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referring</a:t>
            </a:r>
            <a:r>
              <a:rPr lang="ms-MY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to the phasor </a:t>
            </a:r>
            <a:r>
              <a:rPr lang="ms-MY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diagram.					</a:t>
            </a:r>
            <a:r>
              <a:rPr lang="ms-MY" dirty="0">
                <a:latin typeface="Times New Roman" panose="02020603050405020304" pitchFamily="18" charset="0"/>
                <a:ea typeface="Times New Roman" panose="02020603050405020304" pitchFamily="18" charset="0"/>
              </a:rPr>
              <a:t>[3 </a:t>
            </a:r>
            <a:r>
              <a:rPr lang="ms-MY" i="1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marks</a:t>
            </a:r>
            <a:r>
              <a:rPr lang="ms-MY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]</a:t>
            </a:r>
            <a:endParaRPr lang="en-MY" spc="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Bef>
                <a:spcPts val="475"/>
              </a:spcBef>
              <a:buSzPts val="1100"/>
              <a:tabLst>
                <a:tab pos="950595" algn="l"/>
              </a:tabLst>
            </a:pPr>
            <a:r>
              <a:rPr lang="ms-MY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(d)   power</a:t>
            </a:r>
            <a:r>
              <a:rPr lang="ms-MY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factor.									</a:t>
            </a:r>
            <a:r>
              <a:rPr lang="ms-MY" dirty="0">
                <a:latin typeface="Times New Roman" panose="02020603050405020304" pitchFamily="18" charset="0"/>
                <a:ea typeface="Times New Roman" panose="02020603050405020304" pitchFamily="18" charset="0"/>
              </a:rPr>
              <a:t>[1 </a:t>
            </a:r>
            <a:r>
              <a:rPr lang="ms-MY" i="1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marks</a:t>
            </a:r>
            <a:r>
              <a:rPr lang="ms-MY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]</a:t>
            </a:r>
            <a:endParaRPr lang="en-MY" spc="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</a:pPr>
            <a:endParaRPr lang="en-MY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56FA404-BA50-841E-05C5-E21CFD541A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0817" y="4104831"/>
            <a:ext cx="3038899" cy="1886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34055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38</TotalTime>
  <Words>837</Words>
  <Application>Microsoft Office PowerPoint</Application>
  <PresentationFormat>Widescreen</PresentationFormat>
  <Paragraphs>56</Paragraphs>
  <Slides>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Calibri</vt:lpstr>
      <vt:lpstr>Calibri Light</vt:lpstr>
      <vt:lpstr>Cambria</vt:lpstr>
      <vt:lpstr>Cambria Math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Shafiq</dc:creator>
  <cp:lastModifiedBy>SHAFIQ R</cp:lastModifiedBy>
  <cp:revision>6</cp:revision>
  <dcterms:created xsi:type="dcterms:W3CDTF">2026-03-16T04:40:40Z</dcterms:created>
  <dcterms:modified xsi:type="dcterms:W3CDTF">2026-04-16T15:04:52Z</dcterms:modified>
</cp:coreProperties>
</file>