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71" r:id="rId4"/>
    <p:sldId id="272" r:id="rId5"/>
    <p:sldId id="273" r:id="rId6"/>
    <p:sldId id="27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0860-B3B6-82B5-A24C-0913BA646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0D564-65FE-6497-5AA8-41125F3B5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0918A-7F3A-5135-DE7F-DB2E86A3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00175-F4EE-6236-ACF5-3A2B7785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3D3A-21E5-ADB9-0CE7-BCC9AD3C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4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F03A-51CD-BB9A-F7C5-0FF1A2E28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7E6D-5336-CEB3-A063-67B957F38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F0B46-40E1-29EB-CA0D-0ACB11D9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73B53-C6CA-D85C-4659-FDD6057A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3F1B1-E1A9-366D-4970-6CC0B494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DC48-5BC9-8C03-E77A-8B700113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B448A-8DFA-27DF-6BAB-12561740B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D358B-AD00-5D9B-3D4D-DD5B0BE3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33FAD-E884-C66B-42B8-CE58F436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B495-84AB-865B-5DF8-8CEFCD37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7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D472-4715-32FA-2232-3BA2C8F2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183C-3C47-A9BC-7F30-F6433FE0F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01AE2-BA20-F2EE-513B-395BFDD8D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B2D8C-3941-345B-4130-9B578053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B3120-FF01-10A1-9F41-23CCAE15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79A5B-FA8F-AEEB-3F63-07CCA340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3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0CB7-2A27-0F66-678A-2E04C3AB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CD328-9854-AD5A-52FC-9073F6743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23EAF-67F1-E97B-F28E-2CBC683A3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0899C-F4BF-D782-9951-515EFCAD6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3DF57-36B8-E507-21E3-356FA5EAF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FB97F-D910-2E07-9615-DC1BEFDA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0D50F-9407-DD54-7542-07F337F4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8ACAD3-C069-A320-E001-2927B4D4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6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B6E7-76D9-3F40-0102-0F96360C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4810A-41C6-6521-44F9-3826BCF5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F6465-0637-A583-F277-64A72FF3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A4214-0B0B-E100-EEF1-3B30E30D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8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B2CBE-5204-EE15-4382-ACD5D41C2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D35CD-1E73-1161-D7C9-7FC160A5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0051D-BAA4-5646-7722-A0755120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4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F6C9-5576-153D-F901-53768312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0CC8C-DBEA-6D58-3004-876ED10F9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CCBA6-5FB5-7878-DCC1-1A494E4E1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877B2-43A2-110C-67FF-48ADE7C5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EA933-C237-826B-DCFF-B2EAC357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E94D2-8998-1B9B-9F77-EA129F9F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5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4C13-E063-7616-C070-7D96ABD2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AE2E6-C60C-3CF3-3C8E-7CF9854E6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4AAD8-2ECE-F425-2461-231437911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E97E5-6F06-A599-A4E0-5D5004D2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723B9-CD2F-690A-732F-27B5C619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D7ED5-A848-BE81-1BC5-94AA3C6D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4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AE17-E590-F88E-8622-A8D46F1C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7B6F4-6592-9C35-E65F-B75852E4D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B7668-3797-8529-6A8E-899F3CA3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8F6CD-F556-CB0C-0A67-AE56595C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5DB8-D37C-DA5B-9A1D-BE82A954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0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21B6E-FE8D-2E83-0D1D-7E3F1C87E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B2676-5219-3C90-3D5F-FDAE123A8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361CC-C3D5-622A-7019-34DA6C7B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9317B-A219-992B-CD6C-E2AAE1C9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1272-5301-287F-0F36-F95CAD6A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9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A00BA-2E33-BAB3-466A-53FBE4DC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2C4AC-71FB-AC93-A151-1483B9AA3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B856F-1BD5-50CF-30F4-8CE07710A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ADED2-8346-4907-ACD7-1AA15E5D7E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A5AF4-DFF4-B0E0-485A-E7203564E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D999A-2A01-3AC7-5397-2F3DB5B03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6D051-5E1D-4969-9E0D-11F63850E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9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9DA1-22BA-058C-D422-F0D09CDE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2C7331-4758-F743-79D6-A9A74BB770AB}"/>
              </a:ext>
            </a:extLst>
          </p:cNvPr>
          <p:cNvSpPr txBox="1"/>
          <p:nvPr/>
        </p:nvSpPr>
        <p:spPr>
          <a:xfrm>
            <a:off x="849086" y="637792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a) The nuclear mass of Radon, ²²⁶₈₈Rn is 226.02544 u. Determine the mass defect in atomic mass units (u) and kilograms for Radon.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5AB1B-D9EE-A70D-09BF-80C1689CB0BE}"/>
              </a:ext>
            </a:extLst>
          </p:cNvPr>
          <p:cNvSpPr txBox="1"/>
          <p:nvPr/>
        </p:nvSpPr>
        <p:spPr>
          <a:xfrm>
            <a:off x="849086" y="2094637"/>
            <a:ext cx="10972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sample of uranium-238 contains 2.5 × 10²³ atoms. Given that the half-life of uranium-238 is 1.42 × 10¹⁷ s, calculate: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activity of the sample in Becquerel.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uranium-238 atoms remaining after 3 × 10¹⁸ s.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CEECA-C0F3-5744-C08A-041901759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969" y="5853444"/>
            <a:ext cx="4839375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1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0A6F-2486-61B2-9031-8D4F6934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CB63D-8299-565F-535A-91F5E2CB979B}"/>
                  </a:ext>
                </a:extLst>
              </p:cNvPr>
              <p:cNvSpPr txBox="1"/>
              <p:nvPr/>
            </p:nvSpPr>
            <p:spPr>
              <a:xfrm>
                <a:off x="963827" y="1013254"/>
                <a:ext cx="10478530" cy="930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9. 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  <m:sPre>
                      <m:sPrePr>
                        <m:ctrlPr>
                          <a:rPr lang="en-MY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234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</m:e>
                    </m:sPre>
                  </m:oMath>
                </a14:m>
                <a:r>
                  <a:rPr lang="en-MY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 decays by emitting beta particle negative producing a new element K. Write an equation for this reaction.</a:t>
                </a:r>
              </a:p>
              <a:p>
                <a:pPr algn="r"/>
                <a:r>
                  <a:rPr lang="en-MY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 mark]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CB63D-8299-565F-535A-91F5E2CB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27" y="1013254"/>
                <a:ext cx="10478530" cy="930191"/>
              </a:xfrm>
              <a:prstGeom prst="rect">
                <a:avLst/>
              </a:prstGeom>
              <a:blipFill>
                <a:blip r:embed="rId2"/>
                <a:stretch>
                  <a:fillRect l="-465" t="-2614" r="-989" b="-915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E7E5F04-4427-F6E7-0204-24564AB26D28}"/>
              </a:ext>
            </a:extLst>
          </p:cNvPr>
          <p:cNvSpPr txBox="1"/>
          <p:nvPr/>
        </p:nvSpPr>
        <p:spPr>
          <a:xfrm>
            <a:off x="963827" y="2147595"/>
            <a:ext cx="10478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After a plant or animal dies, its Carbon-14 content decreases with a half-life of 5730 year. If an archaeologist finds an ancient fire pit containing partially consumed firewood and the Carbon-14 content of the wood is only 12.5% that of an equal carbon sample from a present-day tree, calculate the age of the ancient site.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DE4E2-523F-6C1E-C3E3-60FF11102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462" y="6072155"/>
            <a:ext cx="4477375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2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01B4-1E77-0370-A7D2-D5861F20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81B890-F142-818B-4EF5-51063E6B7B83}"/>
              </a:ext>
            </a:extLst>
          </p:cNvPr>
          <p:cNvSpPr txBox="1"/>
          <p:nvPr/>
        </p:nvSpPr>
        <p:spPr>
          <a:xfrm>
            <a:off x="788068" y="651393"/>
            <a:ext cx="10978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mass of ⁶³₂₉Cu nucleus is 62.5219u. Calculate the binding energy per nucleon of ⁶³₂₉Cu nucleus.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B2CBE-95A3-F35A-1187-BED3DC27D16E}"/>
              </a:ext>
            </a:extLst>
          </p:cNvPr>
          <p:cNvSpPr txBox="1"/>
          <p:nvPr/>
        </p:nvSpPr>
        <p:spPr>
          <a:xfrm>
            <a:off x="788068" y="1521650"/>
            <a:ext cx="109788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radioactive source contains 1 × 10⁻⁶ g  ²³⁹Pu. If this source contains 2300 alpha particles per second, calculate: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its decay constant.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the time required for the source so that its activity decreases to one decay per second.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46B7F-98DD-7C5F-26C5-355FEE666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364" y="6206607"/>
            <a:ext cx="294363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2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479A75-1FF9-D232-013E-A3013F892F56}"/>
                  </a:ext>
                </a:extLst>
              </p:cNvPr>
              <p:cNvSpPr txBox="1"/>
              <p:nvPr/>
            </p:nvSpPr>
            <p:spPr>
              <a:xfrm>
                <a:off x="589937" y="408483"/>
                <a:ext cx="10692580" cy="2588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tabLst>
                    <a:tab pos="561975" algn="l"/>
                    <a:tab pos="1003935" algn="l"/>
                  </a:tabLst>
                </a:pPr>
                <a:r>
                  <a:rPr lang="en-US" spc="-25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9</a:t>
                </a:r>
                <a:r>
                  <a:rPr lang="en-US" spc="-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(a)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An isotope of</a:t>
                </a:r>
                <a:r>
                  <a:rPr lang="en-US" spc="4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i="1" spc="4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PrePr>
                      <m:sub>
                        <m:r>
                          <a:rPr lang="en-US" i="1" spc="4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64</m:t>
                        </m:r>
                      </m:sub>
                      <m:sup>
                        <m:r>
                          <a:rPr lang="en-US" i="1" spc="4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151</m:t>
                        </m:r>
                      </m:sup>
                      <m:e>
                        <m:r>
                          <a:rPr lang="en-US" i="1" spc="4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𝐺𝑑</m:t>
                        </m:r>
                      </m:e>
                    </m:sPre>
                  </m:oMath>
                </a14:m>
                <a:r>
                  <a:rPr lang="en-US" spc="8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(Gadolinium)</a:t>
                </a:r>
                <a:r>
                  <a:rPr lang="en-US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has</a:t>
                </a:r>
                <a:r>
                  <a:rPr lang="en-US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 nucleus mass</a:t>
                </a:r>
                <a:r>
                  <a:rPr lang="en-US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151.919803</a:t>
                </a:r>
                <a:r>
                  <a:rPr lang="en-US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u.</a:t>
                </a:r>
                <a:r>
                  <a:rPr lang="en-US" spc="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Calculate </a:t>
                </a:r>
                <a:r>
                  <a:rPr lang="en-US" spc="-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</a:t>
                </a:r>
                <a:endParaRPr lang="en-MY" spc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>
                  <a:spcBef>
                    <a:spcPts val="685"/>
                  </a:spcBef>
                  <a:buSzPts val="1100"/>
                  <a:buFont typeface="Times New Roman" panose="02020603050405020304" pitchFamily="18" charset="0"/>
                  <a:buAutoNum type="romanLcParenBoth"/>
                  <a:tabLst>
                    <a:tab pos="1476375" algn="l"/>
                  </a:tabLst>
                </a:pP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mass</a:t>
                </a:r>
                <a:r>
                  <a:rPr lang="en-US" spc="-3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defect.</a:t>
                </a:r>
                <a:endParaRPr lang="en-MY" spc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>
                  <a:spcBef>
                    <a:spcPts val="695"/>
                  </a:spcBef>
                  <a:buSzPts val="1100"/>
                  <a:buFont typeface="Times New Roman" panose="02020603050405020304" pitchFamily="18" charset="0"/>
                  <a:buAutoNum type="romanLcParenBoth"/>
                  <a:tabLst>
                    <a:tab pos="1476375" algn="l"/>
                  </a:tabLst>
                </a:pP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binding</a:t>
                </a:r>
                <a:r>
                  <a:rPr lang="en-US" spc="-1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energy</a:t>
                </a:r>
                <a:r>
                  <a:rPr lang="en-US" spc="-1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</a:t>
                </a:r>
                <a:r>
                  <a:rPr lang="en-US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Joule.</a:t>
                </a:r>
                <a:endParaRPr lang="en-MY" spc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5250815" algn="r">
                  <a:spcBef>
                    <a:spcPts val="685"/>
                  </a:spcBef>
                  <a:buNone/>
                </a:pP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[3</a:t>
                </a:r>
                <a:r>
                  <a:rPr lang="en-US" spc="-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i="1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marks</a:t>
                </a:r>
                <a:r>
                  <a:rPr lang="en-US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</a:t>
                </a:r>
                <a:endParaRPr lang="en-MY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n-MY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(b)  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en-US" spc="1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sample</a:t>
                </a:r>
                <a:r>
                  <a:rPr lang="en-US" spc="12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of</a:t>
                </a:r>
                <a:r>
                  <a:rPr lang="en-US" spc="12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an</a:t>
                </a:r>
                <a:r>
                  <a:rPr lang="en-US" spc="1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isotope</a:t>
                </a:r>
                <a:r>
                  <a:rPr lang="en-US" spc="12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with</a:t>
                </a:r>
                <a:r>
                  <a:rPr lang="en-US" spc="13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mass</a:t>
                </a:r>
                <a:r>
                  <a:rPr lang="en-US" spc="1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number</a:t>
                </a:r>
                <a:r>
                  <a:rPr lang="en-US" spc="14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114</a:t>
                </a:r>
                <a:r>
                  <a:rPr lang="en-US" spc="11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decays</a:t>
                </a:r>
                <a:r>
                  <a:rPr lang="en-US" spc="1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at</a:t>
                </a:r>
                <a:r>
                  <a:rPr lang="en-US" spc="13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en-US" spc="12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rate</a:t>
                </a:r>
                <a:r>
                  <a:rPr lang="en-US" spc="12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of</a:t>
                </a:r>
                <a:r>
                  <a:rPr lang="en-US" spc="12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0.550</a:t>
                </a:r>
                <a:r>
                  <a:rPr lang="en-US" spc="1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Ci. Calculate the half-life of the isotope if 5.75 g of the sample is used.</a:t>
                </a:r>
                <a:r>
                  <a:rPr lang="en-MY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(1 Ci =</a:t>
                </a:r>
                <a:r>
                  <a:rPr lang="en-US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3.7 ×</a:t>
                </a:r>
                <a:r>
                  <a:rPr lang="en-US" spc="-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  <a:r>
                  <a:rPr lang="en-US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  <a:r>
                  <a:rPr lang="en-US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pc="-2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Bq)						</a:t>
                </a:r>
                <a:endParaRPr lang="en-MY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1003935" algn="r">
                  <a:buNone/>
                </a:pP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[4</a:t>
                </a:r>
                <a:r>
                  <a:rPr lang="en-US" spc="-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i="1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marks</a:t>
                </a:r>
                <a:r>
                  <a:rPr lang="en-US" spc="-1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</a:t>
                </a:r>
                <a:endParaRPr lang="en-MY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479A75-1FF9-D232-013E-A3013F892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7" y="408483"/>
                <a:ext cx="10692580" cy="2588722"/>
              </a:xfrm>
              <a:prstGeom prst="rect">
                <a:avLst/>
              </a:prstGeom>
              <a:blipFill>
                <a:blip r:embed="rId2"/>
                <a:stretch>
                  <a:fillRect l="-513" t="-706" r="-456" b="-282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4661572-E2F5-B00B-B0B2-31DC29D31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5477831"/>
            <a:ext cx="3096057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5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0D9B1A-9101-3622-B20F-C4C4A979EAA5}"/>
                  </a:ext>
                </a:extLst>
              </p:cNvPr>
              <p:cNvSpPr txBox="1"/>
              <p:nvPr/>
            </p:nvSpPr>
            <p:spPr>
              <a:xfrm>
                <a:off x="582304" y="399011"/>
                <a:ext cx="11027391" cy="2592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MY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ptos" panose="020B0004020202020204" pitchFamily="34" charset="0"/>
                  </a:rPr>
                  <a:t>9</a:t>
                </a: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(a) Calculate the binding energy per nucleon for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PrePr>
                      <m:sub>
                        <m:r>
                          <a:rPr lang="en-MY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sub>
                      <m:sup>
                        <m:r>
                          <a:rPr lang="en-MY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MY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Li</m:t>
                        </m:r>
                      </m:e>
                    </m:sPre>
                  </m:oMath>
                </a14:m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</a:t>
                </a:r>
                <a:endParaRPr lang="en-MY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>
                  <a:buNone/>
                </a:pP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(Given mass of nucleus Li = 6.015123 u and mass of H = 1.007825u) 														[3 </a:t>
                </a:r>
                <a:r>
                  <a:rPr lang="en-MY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marks </a:t>
                </a: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] </a:t>
                </a:r>
                <a:endParaRPr lang="en-MY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>
                  <a:buNone/>
                </a:pP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 </a:t>
                </a:r>
                <a:endParaRPr lang="en-MY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>
                  <a:buNone/>
                </a:pP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(b) A radioactive sample has an initial activity 9 </a:t>
                </a:r>
                <a:r>
                  <a:rPr lang="en-MY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mCi</a:t>
                </a: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After 16 hours, its activity reduces to 7 </a:t>
                </a:r>
                <a:r>
                  <a:rPr lang="en-MY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mCi</a:t>
                </a: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Calculate </a:t>
                </a:r>
                <a:endParaRPr lang="en-MY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>
                  <a:buNone/>
                </a:pP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(</a:t>
                </a:r>
                <a:r>
                  <a:rPr lang="en-MY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</a:t>
                </a: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) the half life. </a:t>
                </a:r>
                <a:endParaRPr lang="en-MY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>
                  <a:buNone/>
                </a:pP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(ii) </a:t>
                </a:r>
                <a:r>
                  <a:rPr lang="en-MY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intial</a:t>
                </a:r>
                <a:r>
                  <a:rPr lang="en-MY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number of nuclei. </a:t>
                </a:r>
                <a:endParaRPr lang="en-MY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>
                  <a:buNone/>
                </a:pPr>
                <a:r>
                  <a:rPr lang="en-MY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(1 Ci = 3.7 × 10</a:t>
                </a:r>
                <a:r>
                  <a:rPr lang="en-MY" sz="1800" baseline="30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10</a:t>
                </a:r>
                <a:r>
                  <a:rPr lang="en-MY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Bq) 								</a:t>
                </a:r>
                <a:r>
                  <a:rPr lang="en-MY" dirty="0"/>
                  <a:t> [ 4 </a:t>
                </a:r>
                <a:r>
                  <a:rPr lang="en-MY" i="1" dirty="0"/>
                  <a:t>marks </a:t>
                </a:r>
                <a:r>
                  <a:rPr lang="en-MY" dirty="0"/>
                  <a:t>] </a:t>
                </a:r>
                <a:r>
                  <a:rPr lang="en-MY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		</a:t>
                </a:r>
                <a:endParaRPr lang="en-M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0D9B1A-9101-3622-B20F-C4C4A979E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04" y="399011"/>
                <a:ext cx="11027391" cy="2592184"/>
              </a:xfrm>
              <a:prstGeom prst="rect">
                <a:avLst/>
              </a:prstGeom>
              <a:blipFill>
                <a:blip r:embed="rId2"/>
                <a:stretch>
                  <a:fillRect l="-498" t="-93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0C34437-388C-C61A-5213-073D5426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671" y="5855871"/>
            <a:ext cx="3238952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19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2DDC07E-A21D-B650-1139-102FA223A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685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9E855D1-5027-E12C-ADD5-BC004238E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716" y="516350"/>
                <a:ext cx="11297265" cy="856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ms-MY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9(a)</a:t>
                </a:r>
                <a:r>
                  <a:rPr kumimoji="0" lang="ms-MY" alt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  </a:t>
                </a: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Calculate the binding energy per nucleon for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116</m:t>
                        </m:r>
                      </m:sub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293</m:t>
                        </m:r>
                      </m:sup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𝐿𝑣</m:t>
                        </m:r>
                      </m:e>
                    </m:sPre>
                  </m:oMath>
                </a14:m>
                <a:r>
                  <a:rPr lang="en-MY" dirty="0"/>
                  <a:t> </a:t>
                </a: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in </a:t>
                </a:r>
                <a:r>
                  <a:rPr kumimoji="0" lang="ms-MY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MeV per nucleon</a:t>
                </a: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 </a:t>
                </a:r>
                <a:b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(Given atomic mass of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116</m:t>
                        </m:r>
                      </m:sub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293</m:t>
                        </m:r>
                      </m:sup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𝐿𝑣</m:t>
                        </m:r>
                      </m:e>
                    </m:sPre>
                  </m:oMath>
                </a14:m>
                <a:r>
                  <a:rPr lang="en-MY" dirty="0"/>
                  <a:t> </a:t>
                </a: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kumimoji="0" lang="ms-MY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is 293.205 u)							[3</a:t>
                </a:r>
                <a:r>
                  <a:rPr kumimoji="0" lang="ms-MY" alt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marks]</a:t>
                </a:r>
                <a:endParaRPr kumimoji="0" lang="ms-MY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9E855D1-5027-E12C-ADD5-BC004238E2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16" y="516350"/>
                <a:ext cx="11297265" cy="856645"/>
              </a:xfrm>
              <a:prstGeom prst="rect">
                <a:avLst/>
              </a:prstGeom>
              <a:blipFill>
                <a:blip r:embed="rId2"/>
                <a:stretch>
                  <a:fillRect l="-486" b="-1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3AB7031-FBF1-E02D-58EE-63A0255D2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716" y="1384296"/>
                <a:ext cx="11405420" cy="1658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160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316038" algn="l"/>
                  </a:tabLst>
                </a:pPr>
                <a:endParaRPr kumimoji="0" lang="ms-MY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r>
                  <a:rPr lang="ms-MY" altLang="en-US" dirty="0"/>
                  <a:t>(b)   The half-life of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</m:t>
                        </m:r>
                      </m:e>
                    </m:sPre>
                  </m:oMath>
                </a14:m>
                <a:r>
                  <a:rPr lang="en-MY" dirty="0"/>
                  <a:t> </a:t>
                </a:r>
                <a:r>
                  <a:rPr lang="ms-MY" altLang="en-US" dirty="0"/>
                  <a:t> is 5.26 years. Calculate the</a:t>
                </a:r>
              </a:p>
              <a:p>
                <a:pPr marL="857250" marR="0" lvl="1" indent="-4000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AutoNum type="romanLcParenBoth"/>
                  <a:tabLst>
                    <a:tab pos="1316038" algn="l"/>
                  </a:tabLst>
                </a:pPr>
                <a:r>
                  <a:rPr lang="ms-MY" altLang="en-US" dirty="0"/>
                  <a:t>decay constant of this atom								[2 marks]							</a:t>
                </a:r>
              </a:p>
              <a:p>
                <a:pPr marL="857250" lvl="1" indent="-400050">
                  <a:buSzPct val="100000"/>
                  <a:buAutoNum type="romanLcParenBoth"/>
                </a:pPr>
                <a:r>
                  <a:rPr lang="ms-MY" altLang="en-US" dirty="0"/>
                  <a:t>Activity of 1.00 g of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</m:t>
                        </m:r>
                      </m:e>
                    </m:sPre>
                  </m:oMath>
                </a14:m>
                <a:r>
                  <a:rPr lang="en-MY" dirty="0"/>
                  <a:t> 								[2 marks]</a:t>
                </a:r>
                <a:endParaRPr lang="ms-MY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316038" algn="l"/>
                  </a:tabLst>
                </a:pPr>
                <a:endParaRPr kumimoji="0" lang="ms-MY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3AB7031-FBF1-E02D-58EE-63A0255D21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16" y="1384296"/>
                <a:ext cx="11405420" cy="1658403"/>
              </a:xfrm>
              <a:prstGeom prst="rect">
                <a:avLst/>
              </a:prstGeom>
              <a:blipFill>
                <a:blip r:embed="rId3"/>
                <a:stretch>
                  <a:fillRect l="-4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C65C4184-8470-0CD6-8A2F-07EAF8F5A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711" y="5266491"/>
            <a:ext cx="304842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2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 R</dc:creator>
  <cp:lastModifiedBy>SHAFIQ R</cp:lastModifiedBy>
  <cp:revision>1</cp:revision>
  <dcterms:created xsi:type="dcterms:W3CDTF">2026-04-16T14:55:00Z</dcterms:created>
  <dcterms:modified xsi:type="dcterms:W3CDTF">2026-04-16T14:55:07Z</dcterms:modified>
</cp:coreProperties>
</file>