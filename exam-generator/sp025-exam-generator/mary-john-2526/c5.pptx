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9B47-0AB6-DCE9-9B74-8FA70B2C6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5EB4B-0DFC-060C-DF5A-CA9ADBBDB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EF91F-6EAC-6EC6-A354-D6BA6A03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08FA8-5FA0-2F79-C015-5CA6DABF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4EB0B-3A63-321A-58F1-31601F41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0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BC7F-5539-8FC9-B77F-1A789698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6BB8-553B-A3F7-AB89-3FC9E61A1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D130F-E6C8-23EC-2947-90D1E8F5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4952-A411-D90D-9AF1-0DF23121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E69D0-D6B3-EB8B-41F5-8B823FAC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6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2F3B-77BE-4019-2FC1-17496DABA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FCD55-4035-8E40-B2B5-A66B3906B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8DCF-1D82-74B7-36E9-1D2D2FFA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63C82-CEC2-6492-CD1F-F9D70358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BD5BB-356F-4A0A-5C0D-D5920C2A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7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69A0-4C33-9DD2-A7C7-92E2D410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DBC1B-42E6-080D-4140-8ACEE6BEB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F3694-9F3E-75F1-9A93-FF6D2E93D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1FED7-768A-6127-0FCC-15566C25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1216A-AD07-D5C6-6681-02B1C48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2CB7-7FA0-A255-10EE-56AC5816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5289-AC2C-FB6C-F9C2-3EFE77AF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C4F4B-F0C0-E155-5FBB-40031BE43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0BB35-9037-6447-8B03-E24E96858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620C9-4B14-A8B7-8692-959E55036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C7D46-971C-6DDE-18C6-2BB6FBD40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3F57E-6A28-8627-72A4-77515248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CB232-8D35-4374-E54C-FE4EC6D1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DB505-A1AC-C464-2E35-381679F3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C548-B0B0-80AC-EF31-EFB7345D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FF09E-0C22-760C-F27F-0E0757B5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C6E98-7565-1DBE-9B7F-BBFEB78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679CB-0C73-BF04-6E9D-E0E19FE9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0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51443-1CF6-2A60-25EC-62B9AFFA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BE499-F1C2-2CF1-C47E-007A6C79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2717B-BD5F-B980-5FE9-09E2384B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2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A7D9-D76D-1FE8-4936-E3FE62FD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2B9E3-2924-6D72-6405-E243A63F8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448F9-ED8A-6759-72AF-BE6DBE013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31C01-91F0-1852-B397-55B6BE7C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2D58B-C20E-A4D3-82F5-C5CFB5922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43619-797A-24E0-FC1D-7ACE3F3A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4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3E0D-29EE-93C5-84D3-62FB46DC8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0C9E2-5443-99E2-669F-B5B6C5CBB4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77E5-C6B1-AD41-0A92-C0B6CFCF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EE26A-B646-39F4-5509-74BE9843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87DE6-7FF9-5646-B76F-981C11A1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572F8-C763-E9EE-5146-30353760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7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CDA6-C7C8-2CEE-150C-CD31A581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7AD16-811C-C1CE-E857-D6534A49C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AAD1-208F-DD21-0E2B-040EBCBE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52056-F34C-B93A-0F43-614F0201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C1D7C-9794-DBCC-15D6-6B4EB0D1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2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C6731-AF85-1F62-0E84-FE447EB78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100DF-2CC3-476C-ECBA-2853C3827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C306F-12B5-E34D-0E7D-09A06B18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8C7E-3B44-D5F8-84D2-7E5A332D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46E3E-D877-3D83-26D9-2E96C206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7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45CEC-0464-321F-9F63-121F5049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DB185-DB09-076B-A8BF-A5B42E08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6FB67-0AB5-D896-1F3D-1FAC589D9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3A876-1B73-4A32-8DC1-AFC5DF8C895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F58E5-24C1-8B46-D583-1BAFDBAE1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B22D2-D722-0DE7-5FCD-8677DD8D2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AF665-1ADE-475E-8603-FF2F99F4E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2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213B-CB77-4489-8740-FC3B3474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7608C-B236-FE67-8607-BD7EBEB9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632" y="213571"/>
            <a:ext cx="4004936" cy="1375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2DFC49-A17E-1F8D-C97D-4FA155269DA3}"/>
              </a:ext>
            </a:extLst>
          </p:cNvPr>
          <p:cNvSpPr txBox="1"/>
          <p:nvPr/>
        </p:nvSpPr>
        <p:spPr>
          <a:xfrm>
            <a:off x="342899" y="1923481"/>
            <a:ext cx="115007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 FIGURE 5 shows a graph of alternating current through a 220 Ω resistor.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rms current through the resistor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peak voltage across the resistor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equation of voltage across the resistor iv) Calculate the average power dissipated by the resistor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83997-8120-C975-C3D1-C6DA2BB36731}"/>
              </a:ext>
            </a:extLst>
          </p:cNvPr>
          <p:cNvSpPr txBox="1"/>
          <p:nvPr/>
        </p:nvSpPr>
        <p:spPr>
          <a:xfrm>
            <a:off x="342898" y="3734977"/>
            <a:ext cx="115007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sinusoidal voltage V(t) = 20 sin (50πt) is applied to a series RLC circuit with R = 670 Ω, L = 250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 = 47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impedance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phase angle of the circuit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F9524A-2FCE-E445-E511-47E50490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6" y="5348848"/>
            <a:ext cx="480127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72D4-6C8B-7FC3-CB47-15C1587D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6B72F-990D-52FA-5848-A1FB3004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41" y="636161"/>
            <a:ext cx="2543530" cy="156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D7F64-D38B-6BF0-2AD1-9A4F17978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1" y="2313893"/>
            <a:ext cx="2248214" cy="1886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F0B8-9856-6405-D48A-D510C9E832CC}"/>
              </a:ext>
            </a:extLst>
          </p:cNvPr>
          <p:cNvSpPr txBox="1"/>
          <p:nvPr/>
        </p:nvSpPr>
        <p:spPr>
          <a:xfrm>
            <a:off x="3045823" y="423930"/>
            <a:ext cx="8684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 FIGURE 5a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graphs of sinusoidal alternating current (AC) and a sinusoidal alternating voltage against time across a resistor 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resistance 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the sinusoidal voltage equation.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42601-D63F-C39E-BD1C-F17D671240FF}"/>
              </a:ext>
            </a:extLst>
          </p:cNvPr>
          <p:cNvSpPr txBox="1"/>
          <p:nvPr/>
        </p:nvSpPr>
        <p:spPr>
          <a:xfrm>
            <a:off x="3049731" y="2274838"/>
            <a:ext cx="8681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FIGURE 5b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values of root means square voltage across the resistor R, inductor, L and capacitor, C. Calculate the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source voltage and phase angle of the source voltage with respect to the current. Does the source voltage lag or lead the current?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power factor of the circuit.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8B4353-2258-D432-9DC3-58DAB430F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40" y="4587955"/>
            <a:ext cx="490606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57762-BC1D-C931-26E2-F9D0A0AADA4A}"/>
              </a:ext>
            </a:extLst>
          </p:cNvPr>
          <p:cNvSpPr txBox="1"/>
          <p:nvPr/>
        </p:nvSpPr>
        <p:spPr>
          <a:xfrm>
            <a:off x="788068" y="422521"/>
            <a:ext cx="11051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 source has an output voltage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300 sin 100 π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source is connected to a 1.20 H inductor.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voltage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current in the inductor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power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B56FF-A154-A01A-FD0C-A9C7B2812EFB}"/>
              </a:ext>
            </a:extLst>
          </p:cNvPr>
          <p:cNvSpPr txBox="1"/>
          <p:nvPr/>
        </p:nvSpPr>
        <p:spPr>
          <a:xfrm>
            <a:off x="788068" y="2594084"/>
            <a:ext cx="11051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 source that has a peak voltage of 120 V and a frequency of 50.0 Hz is connected in series to a 900 Ω resistor, a 2.40 H inductor and a 10.0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angle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factor of the circuit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4BF58-9669-3AF2-D372-34306B49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11" y="5701512"/>
            <a:ext cx="314368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BBDB45-7D5F-6F32-0BF6-383E664F76D4}"/>
              </a:ext>
            </a:extLst>
          </p:cNvPr>
          <p:cNvSpPr txBox="1"/>
          <p:nvPr/>
        </p:nvSpPr>
        <p:spPr>
          <a:xfrm>
            <a:off x="943897" y="545691"/>
            <a:ext cx="9748684" cy="303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" lvl="0">
              <a:lnSpc>
                <a:spcPct val="150000"/>
              </a:lnSpc>
              <a:spcBef>
                <a:spcPts val="500"/>
              </a:spcBef>
              <a:tabLst>
                <a:tab pos="55435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 An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frequency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Hz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consists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an inductor of inductance 2 H and a resistor of 1 </a:t>
            </a:r>
            <a:r>
              <a:rPr lang="en-US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Ω</a:t>
            </a:r>
            <a:r>
              <a:rPr lang="en-US" spc="0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. Find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ts val="1375"/>
              </a:lnSpc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flows in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9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across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resistor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the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inductor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8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angle between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voltage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5875" lvl="1" indent="-285750">
              <a:lnSpc>
                <a:spcPct val="150000"/>
              </a:lnSpc>
              <a:spcBef>
                <a:spcPts val="69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added</a:t>
            </a:r>
            <a:r>
              <a:rPr lang="en-US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circuit is in phase with the current of the circuit.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spcBef>
                <a:spcPts val="5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9CCA5-D9E1-61F3-4D0D-270F9B6E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5" y="5159623"/>
            <a:ext cx="3077004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90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AE3E1B-FF03-547B-CE81-22D0ED2F55AC}"/>
              </a:ext>
            </a:extLst>
          </p:cNvPr>
          <p:cNvSpPr txBox="1"/>
          <p:nvPr/>
        </p:nvSpPr>
        <p:spPr>
          <a:xfrm>
            <a:off x="464023" y="431254"/>
            <a:ext cx="107134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5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An AC current of angular frequency of 1.0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rad s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flows through a 10 kΩ resistor and a 0.10 µF capacitor which are connected in series. Calculate the rms voltage across the capacitor if the rms voltage across the resistor is 20 V. 																				[3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200 Ω resistor, a 0.75 H inductor and a capacitor of capacitance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 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are connected in series to an alternating source 250 V, 600 Hz. If the current in the circuit is maximum, calculate the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capacitive reactance.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(ii) the capacitance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(iii) the impedance of the circuit at resonance.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(iv) the current flows through the circuit at resonance. 																[7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79F2A-4F4A-7610-CB1E-173A6F7D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917" y="5075964"/>
            <a:ext cx="275310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0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F9D7B-F908-0DEC-515C-47D9D32ABEC0}"/>
              </a:ext>
            </a:extLst>
          </p:cNvPr>
          <p:cNvSpPr txBox="1"/>
          <p:nvPr/>
        </p:nvSpPr>
        <p:spPr>
          <a:xfrm>
            <a:off x="796412" y="431209"/>
            <a:ext cx="10943304" cy="102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5475" lvl="0" algn="just">
              <a:lnSpc>
                <a:spcPct val="115000"/>
              </a:lnSpc>
              <a:spcBef>
                <a:spcPts val="1230"/>
              </a:spcBef>
              <a:tabLst>
                <a:tab pos="650240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  A resistor of resistance,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𝑅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30 Ω, is connected in series with an inductor,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𝐿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50 mH, and a capacitor of capacitance,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10 μF. An alternating voltage,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𝑉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rms</a:t>
            </a:r>
            <a:r>
              <a:rPr lang="ms-MY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80 V, and frequency, 1 kHz is connected across the circuit. Calculate the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B0C5E-E4CC-2E0F-ABAA-F64EC06EE07A}"/>
              </a:ext>
            </a:extLst>
          </p:cNvPr>
          <p:cNvSpPr txBox="1"/>
          <p:nvPr/>
        </p:nvSpPr>
        <p:spPr>
          <a:xfrm>
            <a:off x="910712" y="1656059"/>
            <a:ext cx="10666771" cy="175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75"/>
              </a:lnSpc>
              <a:spcBef>
                <a:spcPts val="600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   impedance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	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85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rms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 </a:t>
            </a:r>
            <a:r>
              <a:rPr lang="ms-MY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</a:t>
            </a:r>
            <a:r>
              <a:rPr lang="ms-MY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flowing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70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   phase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angle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ms-MY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referring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the phasor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diagram.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75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   power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factor.	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FA404-BA50-841E-05C5-E21CFD541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817" y="4104831"/>
            <a:ext cx="303889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2026-04-16T14:51:20Z</dcterms:created>
  <dcterms:modified xsi:type="dcterms:W3CDTF">2026-04-16T14:51:50Z</dcterms:modified>
</cp:coreProperties>
</file>