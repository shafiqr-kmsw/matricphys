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EB16-383B-932B-CB5A-79B6DB0D7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5E266-C2A0-3F7F-E46B-3889DC74A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58875-A463-841A-B89B-AF02171D3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950F7-188F-FC16-E8F7-E7886DB6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432D4-7AF8-96A6-DE19-20219FA4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5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622A0-E601-0EAA-6658-866483DE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9DC3F-61EB-D106-9246-527739A85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9A691-D168-FB7E-92CE-9DECA443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15BE5-1399-08FE-D31E-88C5B83E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20661-F268-4DA5-3B8D-7E816004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76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750C-A7BE-0F9F-11CB-96647C31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06D4C-5EBF-0A29-2B7F-C8FF90B72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FFF7E-D70F-76F5-925F-A42A19182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8EAA2-5E57-E695-6BD1-EE68BE78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D2A33-9CC3-4BE8-AD78-D4D0D38A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1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29BD-669E-3083-50B6-8401B128F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29BDB-A811-4CDB-6403-A216A337F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74CBE-0523-27C0-A34C-CCFFDE9B5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43B95-B3D0-4658-3731-DB452F15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FBB8B-F9EA-014B-7E9E-698C192C9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41D67-C839-675E-494F-A71F2167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8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ECA5-26A5-6F99-E0F0-ED4EEC4EE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A558B-816D-4DA4-03E0-0A4F38A63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58053-CED1-00C5-087F-C697C6B17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1A183E-91D7-F6A4-B651-ADC3F58B7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668FA-5573-A154-7B3C-C64674B6D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1B9D4-16B6-E0B3-DA15-8EB159D56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0CBFF-E310-5BA9-441A-0F7C3979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42FF0-F1C3-AFDD-0128-2501FA41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0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FED5-3C7D-8322-DE2F-DC046AFC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029888-6E76-EE28-425E-6249CC24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28902-FC84-6FBC-F786-E1B0B973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44697F-4D20-A49C-6383-AB7F21484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95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0DB09-F1E2-76D0-D6EA-2CC9F06B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3E773-3CAF-ABCE-60FA-6C9084C9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DA5EA-DEA3-1FA5-4A26-92C9A85C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5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0D30-0243-31F9-222E-AD23D904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644F-9083-D6D0-E7A5-6E1A6663D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9FCF2-83C2-A37E-D4D0-39127840F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B7E98-068B-9EA4-4969-4F83C616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5255F-3058-52D6-01E5-123D2061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27639-E3F9-CFA1-25DC-22D7ACB7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1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EA3E-6BB7-CAAA-EA42-ACCE5015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689C7-026D-26F4-7936-6DE52443B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AD985-A19D-A750-6D3E-931413BCF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DC93C-87F6-C28F-0FFD-3194FFB4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4CA55-3B00-396B-5F31-45BDFEAB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71B8B-B7EE-847B-3E09-0167614A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5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8BCD-60B0-A2F5-2F91-BBB46F0D2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E1C71-5F32-75E8-7055-E41E0E3AA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7C070-C37F-BC97-6B1E-722C1F58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4133B-1C38-9699-515F-F5AD88807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07A72-EA44-1F5E-F06B-5E70D62B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3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78941-236C-48FB-FAEB-3A1F7008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73837-420B-E196-BD93-E33E81F27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757B8-00C7-21C1-DEE8-19CA397D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FF96F-3DBC-F036-0A97-28B5AC39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1353-E7A8-6677-1F5D-20F8A4F3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1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FC89C-5230-A22B-3FB6-1D7AF797A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132A-6375-BEA9-0019-67DBC73B1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1E733-90DD-AA66-FD89-997176009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DDC6E-AFE0-4589-9580-3D54CE3F309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A3A81-CA25-EA2E-D14C-398B6C7EA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72713-4CF1-80E9-EB27-4372ED512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A6644-B66E-478B-941B-EF67CB3E3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25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FB63BB-3483-D7A5-5325-F8F5DBFE4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155" y="471415"/>
            <a:ext cx="3867690" cy="1038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404303-2F0C-A262-871B-D8D03F4E8910}"/>
              </a:ext>
            </a:extLst>
          </p:cNvPr>
          <p:cNvSpPr txBox="1"/>
          <p:nvPr/>
        </p:nvSpPr>
        <p:spPr>
          <a:xfrm>
            <a:off x="1126570" y="2015840"/>
            <a:ext cx="103274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FIGURE 2 shows three capacitors C₁, C₂, and C₃, each 12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connected between points A and B.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Calculate the effective capacitance.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If the potential difference across AB is 9 V, calculate: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charge on C₂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total energy stored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 marks]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852D9-78EB-EE4F-2693-B886A9B81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414" y="5880883"/>
            <a:ext cx="4915586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14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FA5BC-B3B1-66F2-5E2E-2A4D3777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251881-0673-F343-7F01-A1C14926C790}"/>
              </a:ext>
            </a:extLst>
          </p:cNvPr>
          <p:cNvSpPr txBox="1"/>
          <p:nvPr/>
        </p:nvSpPr>
        <p:spPr>
          <a:xfrm>
            <a:off x="819150" y="597809"/>
            <a:ext cx="10553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20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capacitor has a charge of 240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connected to a 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resistor. Calculate the: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constant.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initial current.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iii) charge stored in the capacitor after 5 s.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D106A-E250-B11D-0AFC-626582FA74CF}"/>
              </a:ext>
            </a:extLst>
          </p:cNvPr>
          <p:cNvSpPr txBox="1"/>
          <p:nvPr/>
        </p:nvSpPr>
        <p:spPr>
          <a:xfrm>
            <a:off x="819149" y="2690336"/>
            <a:ext cx="105536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parallel plate capacitor has plates of area 6 m² separated by a piece of paper. The dielectric constant and thickness of the paper are 3.7 and 1 mm respectively. Calculate the capacitance of the capacitor.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 marks]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ED838E-E55C-3A96-AD3D-F9F4F46B7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782" y="5812453"/>
            <a:ext cx="5144218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45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67A598-CB6D-361A-69DA-0552F8D16042}"/>
              </a:ext>
            </a:extLst>
          </p:cNvPr>
          <p:cNvSpPr txBox="1"/>
          <p:nvPr/>
        </p:nvSpPr>
        <p:spPr>
          <a:xfrm>
            <a:off x="4084320" y="332939"/>
            <a:ext cx="8855920" cy="64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0595" marR="631190">
              <a:lnSpc>
                <a:spcPct val="101000"/>
              </a:lnSpc>
              <a:spcBef>
                <a:spcPts val="38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a). FIGURE 2a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an arrangement of three capacitors, C₁, C₂ and C₃. Calculate: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446E1-9C19-47BE-8EDB-88CB0637B87B}"/>
              </a:ext>
            </a:extLst>
          </p:cNvPr>
          <p:cNvSpPr txBox="1"/>
          <p:nvPr/>
        </p:nvSpPr>
        <p:spPr>
          <a:xfrm>
            <a:off x="5090160" y="1123428"/>
            <a:ext cx="6844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 of these capacitors.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  potential difference across capacitor C₂.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 marks]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DA4F1-E653-BC77-6A0B-99B904724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08" y="269988"/>
            <a:ext cx="4511816" cy="1706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4288EB-43DB-AECC-D3A4-FD885D203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03" y="2582631"/>
            <a:ext cx="3195217" cy="20749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A1C7E8-B6EA-0010-1453-1D93A9C63560}"/>
              </a:ext>
            </a:extLst>
          </p:cNvPr>
          <p:cNvSpPr txBox="1"/>
          <p:nvPr/>
        </p:nvSpPr>
        <p:spPr>
          <a:xfrm>
            <a:off x="5090160" y="2767322"/>
            <a:ext cx="6844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b) FIGURE 2b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charging capacitor circuit where a capacitor charges through a resistor when the switch is closed. If the capacitance and resistance is 0.2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respectively, calculate the time taken for the charge to reach 60% of its maximum value.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 marks]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C7BCE-0486-CDDE-396D-1DF480CEA454}"/>
              </a:ext>
            </a:extLst>
          </p:cNvPr>
          <p:cNvSpPr txBox="1"/>
          <p:nvPr/>
        </p:nvSpPr>
        <p:spPr>
          <a:xfrm>
            <a:off x="1458097" y="2224216"/>
            <a:ext cx="2397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2a</a:t>
            </a:r>
            <a:endParaRPr lang="en-MY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74C90B-99AE-8A84-8B1D-1D920AA7E1E8}"/>
              </a:ext>
            </a:extLst>
          </p:cNvPr>
          <p:cNvSpPr txBox="1"/>
          <p:nvPr/>
        </p:nvSpPr>
        <p:spPr>
          <a:xfrm>
            <a:off x="1288105" y="4831362"/>
            <a:ext cx="2397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2b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0F2F7-DDED-47FF-A8B4-884E1C56E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498" y="3076526"/>
            <a:ext cx="3077004" cy="704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909E4A-8FB0-8FE8-9EAA-20A47AB66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996" y="6033086"/>
            <a:ext cx="3077004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3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F03D6E-18CE-281E-AC48-456016C66453}"/>
              </a:ext>
            </a:extLst>
          </p:cNvPr>
          <p:cNvSpPr txBox="1"/>
          <p:nvPr/>
        </p:nvSpPr>
        <p:spPr>
          <a:xfrm>
            <a:off x="4395018" y="449520"/>
            <a:ext cx="6268065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03935">
              <a:spcBef>
                <a:spcPts val="16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(a) FIGURE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2.1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shows a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configuration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four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identical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capacitors</a:t>
            </a:r>
            <a:r>
              <a:rPr lang="en-US" spc="3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</a:t>
            </a:r>
            <a:r>
              <a:rPr lang="en-US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</a:t>
            </a:r>
            <a:r>
              <a:rPr lang="en-US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</a:t>
            </a:r>
            <a:r>
              <a:rPr lang="en-US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pc="75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</a:t>
            </a:r>
            <a:r>
              <a:rPr lang="en-US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connected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12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difference,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.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Each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capacitor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capacitance of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50 𝜇F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Calculate the charge on capacitor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</a:t>
            </a:r>
            <a:r>
              <a:rPr lang="en-US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2700" algn="r">
              <a:spcBef>
                <a:spcPts val="10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5960FB-79F3-38E3-EEA9-58855874D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10" y="136422"/>
            <a:ext cx="4931251" cy="23966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FB871B-F59E-00D1-F246-5B0AE81473F2}"/>
              </a:ext>
            </a:extLst>
          </p:cNvPr>
          <p:cNvSpPr txBox="1"/>
          <p:nvPr/>
        </p:nvSpPr>
        <p:spPr>
          <a:xfrm>
            <a:off x="5299961" y="2586002"/>
            <a:ext cx="57998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FIGURE 2.2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shows an RC circuit where the battery is fully charged the capacitor. At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0 s, switch S is thrown from position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 battery voltage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20.0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resistance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resistor,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i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60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60 </a:t>
            </a:r>
            <a:r>
              <a:rPr lang="en-US" dirty="0" err="1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</a:t>
            </a:r>
            <a:endParaRPr lang="en-MY" dirty="0"/>
          </a:p>
        </p:txBody>
      </p:sp>
      <p:pic>
        <p:nvPicPr>
          <p:cNvPr id="9" name="Image 138">
            <a:extLst>
              <a:ext uri="{FF2B5EF4-FFF2-40B4-BE49-F238E27FC236}">
                <a16:creationId xmlns:a16="http://schemas.microsoft.com/office/drawing/2014/main" id="{B8915721-8C2A-CF78-66C2-EF2A7D5F89F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4133" y="3181844"/>
            <a:ext cx="4503174" cy="22862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4C5F7A-986C-EA80-0A4C-C955A3BB39B7}"/>
              </a:ext>
            </a:extLst>
          </p:cNvPr>
          <p:cNvSpPr txBox="1"/>
          <p:nvPr/>
        </p:nvSpPr>
        <p:spPr>
          <a:xfrm>
            <a:off x="5299961" y="3839298"/>
            <a:ext cx="6098458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2700">
              <a:spcBef>
                <a:spcPts val="10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Determine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375"/>
              </a:lnSpc>
              <a:buSzPts val="1200"/>
              <a:buFont typeface="Times New Roman" panose="02020603050405020304" pitchFamily="18" charset="0"/>
              <a:buAutoNum type="romanLcParenBoth"/>
              <a:tabLst>
                <a:tab pos="1458595" algn="l"/>
              </a:tabLst>
            </a:pP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capacitance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95"/>
              </a:spcBef>
              <a:buSzPts val="1200"/>
              <a:buFont typeface="Times New Roman" panose="02020603050405020304" pitchFamily="18" charset="0"/>
              <a:buAutoNum type="romanLcParenBoth"/>
              <a:tabLst>
                <a:tab pos="1458595" algn="l"/>
              </a:tabLst>
            </a:pP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 of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charge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 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capacitor at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 =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85"/>
              </a:spcBef>
              <a:buSzPts val="1200"/>
              <a:buFont typeface="Times New Roman" panose="02020603050405020304" pitchFamily="18" charset="0"/>
              <a:buAutoNum type="romanLcParenBoth"/>
              <a:tabLst>
                <a:tab pos="1458595" algn="l"/>
              </a:tabLst>
            </a:pP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 of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charge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en-US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i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50 </a:t>
            </a:r>
            <a:r>
              <a:rPr lang="en-US" spc="-25" dirty="0" err="1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m</a:t>
            </a:r>
            <a:r>
              <a:rPr lang="en-US" spc="-2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2700" algn="r"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49F183-C7F7-BA21-0A76-18060E46C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267" y="5468087"/>
            <a:ext cx="3019846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93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944466-7474-A80E-DFD0-5903CD65ECDC}"/>
              </a:ext>
            </a:extLst>
          </p:cNvPr>
          <p:cNvSpPr txBox="1"/>
          <p:nvPr/>
        </p:nvSpPr>
        <p:spPr>
          <a:xfrm>
            <a:off x="682387" y="455010"/>
            <a:ext cx="106043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(a) A parallel plate air-filled capacitor whose capacitance, C is 250 x 10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-12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F is charged by a battery to a potential difference of 12 V between the two plates. Then the fully charged capacitor is disconnected and a porcelain slab with dielectric constant 3.2 is inserted between the plates. Calculate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capacitance of the capacitor after the slab is inserted.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energy stored in the capacitor after the slab is inserted. 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Calculate the new potential difference if after the dielectric is inserted between the plates 												[5 marks]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06126-206C-72A5-D035-ED55932E4289}"/>
              </a:ext>
            </a:extLst>
          </p:cNvPr>
          <p:cNvSpPr txBox="1"/>
          <p:nvPr/>
        </p:nvSpPr>
        <p:spPr>
          <a:xfrm>
            <a:off x="682386" y="2536448"/>
            <a:ext cx="103859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(b) A </a:t>
            </a:r>
            <a:r>
              <a:rPr lang="en-MY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12 V battery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is connected to a 4 </a:t>
            </a:r>
            <a:r>
              <a:rPr lang="en-MY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μF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capacitor and a 20 Ω resistor. Calculate the charge in the capacitor at        time t = 90 </a:t>
            </a:r>
            <a:r>
              <a:rPr lang="en-MY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μs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									[2 marks]</a:t>
            </a:r>
            <a:b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</a:b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5C23E5-7534-29C6-4A0E-23AEC4BAE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447" y="5431619"/>
            <a:ext cx="2705478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44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C480DB-88A4-06F0-FB34-DDE703E1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01" y="316614"/>
            <a:ext cx="4467849" cy="24196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67A598-CB6D-361A-69DA-0552F8D16042}"/>
              </a:ext>
            </a:extLst>
          </p:cNvPr>
          <p:cNvSpPr txBox="1"/>
          <p:nvPr/>
        </p:nvSpPr>
        <p:spPr>
          <a:xfrm>
            <a:off x="3565423" y="330874"/>
            <a:ext cx="8041558" cy="915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0595" marR="631190">
              <a:lnSpc>
                <a:spcPct val="101000"/>
              </a:lnSpc>
              <a:spcBef>
                <a:spcPts val="380"/>
              </a:spcBef>
              <a:buNone/>
            </a:pPr>
            <a:r>
              <a:rPr lang="ms-MY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2(a) FIGURE</a:t>
            </a:r>
            <a:r>
              <a:rPr lang="ms-MY" sz="18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ms-MY" sz="18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shows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variation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charge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during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discharging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 of a capacitor through a resistor of 10 MΩ. Calculate the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446E1-9C19-47BE-8EDB-88CB0637B87B}"/>
              </a:ext>
            </a:extLst>
          </p:cNvPr>
          <p:cNvSpPr txBox="1"/>
          <p:nvPr/>
        </p:nvSpPr>
        <p:spPr>
          <a:xfrm>
            <a:off x="4052118" y="1268226"/>
            <a:ext cx="7908824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550"/>
              </a:spcBef>
              <a:buSzPts val="1200"/>
              <a:buFont typeface="Times New Roman" panose="02020603050405020304" pitchFamily="18" charset="0"/>
              <a:buAutoNum type="romanLcParenBoth"/>
              <a:tabLst>
                <a:tab pos="131635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constant.				</a:t>
            </a:r>
            <a:r>
              <a:rPr lang="ms-MY" dirty="0"/>
              <a:t>[3 </a:t>
            </a:r>
            <a:r>
              <a:rPr lang="ms-MY" i="1" dirty="0"/>
              <a:t>marks</a:t>
            </a:r>
            <a:r>
              <a:rPr lang="ms-MY" dirty="0"/>
              <a:t>]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200"/>
              <a:buFont typeface="Times New Roman" panose="02020603050405020304" pitchFamily="18" charset="0"/>
              <a:buAutoNum type="romanLcParenBoth"/>
              <a:tabLst>
                <a:tab pos="131635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capacitance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capacitor.			</a:t>
            </a:r>
            <a:r>
              <a:rPr lang="ms-MY" dirty="0"/>
              <a:t>[2 </a:t>
            </a:r>
            <a:r>
              <a:rPr lang="ms-MY" i="1" dirty="0"/>
              <a:t>marks</a:t>
            </a:r>
            <a:r>
              <a:rPr lang="ms-MY" dirty="0"/>
              <a:t>]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BA0F9-AF34-CAFB-4D86-D99F8C53105D}"/>
              </a:ext>
            </a:extLst>
          </p:cNvPr>
          <p:cNvSpPr txBox="1"/>
          <p:nvPr/>
        </p:nvSpPr>
        <p:spPr>
          <a:xfrm>
            <a:off x="3550673" y="2551837"/>
            <a:ext cx="8911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0595" marR="631190" indent="-300355">
              <a:spcBef>
                <a:spcPts val="1040"/>
              </a:spcBef>
              <a:buNone/>
              <a:tabLst>
                <a:tab pos="950595" algn="l"/>
              </a:tabLst>
            </a:pPr>
            <a:r>
              <a:rPr lang="ms-MY" sz="1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</a:t>
            </a:r>
            <a:r>
              <a:rPr lang="ms-MY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air-filled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parallel</a:t>
            </a:r>
            <a:r>
              <a:rPr lang="ms-MY" sz="18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plate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capacitor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</a:t>
            </a:r>
            <a:r>
              <a:rPr lang="ms-MY" sz="18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capacitance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5.5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μF.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capacitance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dielectric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material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dielectric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inserted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between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plates.					</a:t>
            </a:r>
            <a:r>
              <a:rPr lang="ms-MY" dirty="0"/>
              <a:t> [2 </a:t>
            </a:r>
            <a:r>
              <a:rPr lang="ms-MY" i="1" dirty="0"/>
              <a:t>marks</a:t>
            </a:r>
            <a:r>
              <a:rPr lang="ms-MY" dirty="0"/>
              <a:t>]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5D8C94-94CF-19EB-E7B3-DAC3970E1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101" y="5589774"/>
            <a:ext cx="3038899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40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 R</dc:creator>
  <cp:lastModifiedBy>SHAFIQ R</cp:lastModifiedBy>
  <cp:revision>1</cp:revision>
  <dcterms:created xsi:type="dcterms:W3CDTF">2026-04-16T14:48:12Z</dcterms:created>
  <dcterms:modified xsi:type="dcterms:W3CDTF">2026-04-16T14:48:51Z</dcterms:modified>
</cp:coreProperties>
</file>