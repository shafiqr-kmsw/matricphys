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69" r:id="rId3"/>
    <p:sldId id="270" r:id="rId4"/>
    <p:sldId id="263" r:id="rId5"/>
    <p:sldId id="271" r:id="rId6"/>
    <p:sldId id="27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55" autoAdjust="0"/>
    <p:restoredTop sz="94660"/>
  </p:normalViewPr>
  <p:slideViewPr>
    <p:cSldViewPr snapToGrid="0">
      <p:cViewPr varScale="1">
        <p:scale>
          <a:sx n="40" d="100"/>
          <a:sy n="40" d="100"/>
        </p:scale>
        <p:origin x="72" y="7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974EF-0E16-ABB6-87EE-ADE1C68235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97A6297-1576-FE32-E62E-D79DC36881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019342-6C49-BBBA-0707-F11CA4A60A08}"/>
              </a:ext>
            </a:extLst>
          </p:cNvPr>
          <p:cNvSpPr>
            <a:spLocks noGrp="1"/>
          </p:cNvSpPr>
          <p:nvPr>
            <p:ph type="dt" sz="half" idx="10"/>
          </p:nvPr>
        </p:nvSpPr>
        <p:spPr/>
        <p:txBody>
          <a:bodyPr/>
          <a:lstStyle/>
          <a:p>
            <a:fld id="{6F96B21A-7313-4E66-9F7C-25CE6FDAD1AA}" type="datetimeFigureOut">
              <a:rPr lang="en-US" smtClean="0"/>
              <a:t>4/16/2026</a:t>
            </a:fld>
            <a:endParaRPr lang="en-US"/>
          </a:p>
        </p:txBody>
      </p:sp>
      <p:sp>
        <p:nvSpPr>
          <p:cNvPr id="5" name="Footer Placeholder 4">
            <a:extLst>
              <a:ext uri="{FF2B5EF4-FFF2-40B4-BE49-F238E27FC236}">
                <a16:creationId xmlns:a16="http://schemas.microsoft.com/office/drawing/2014/main" id="{71A38569-C53B-EBD1-70DE-25156E4ABE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13ADEE-F24C-36A2-32FD-C7F283402F3A}"/>
              </a:ext>
            </a:extLst>
          </p:cNvPr>
          <p:cNvSpPr>
            <a:spLocks noGrp="1"/>
          </p:cNvSpPr>
          <p:nvPr>
            <p:ph type="sldNum" sz="quarter" idx="12"/>
          </p:nvPr>
        </p:nvSpPr>
        <p:spPr/>
        <p:txBody>
          <a:bodyPr/>
          <a:lstStyle/>
          <a:p>
            <a:fld id="{FBBEA7A9-6DA0-49A1-8940-712E0FC20F01}" type="slidenum">
              <a:rPr lang="en-US" smtClean="0"/>
              <a:t>‹#›</a:t>
            </a:fld>
            <a:endParaRPr lang="en-US"/>
          </a:p>
        </p:txBody>
      </p:sp>
    </p:spTree>
    <p:extLst>
      <p:ext uri="{BB962C8B-B14F-4D97-AF65-F5344CB8AC3E}">
        <p14:creationId xmlns:p14="http://schemas.microsoft.com/office/powerpoint/2010/main" val="566053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324B2-2EAA-D409-3DA2-EA0767DA1D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506259-4F95-3E45-2001-F4EF98A82E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E45FD1-F897-9864-D69B-506AE2685465}"/>
              </a:ext>
            </a:extLst>
          </p:cNvPr>
          <p:cNvSpPr>
            <a:spLocks noGrp="1"/>
          </p:cNvSpPr>
          <p:nvPr>
            <p:ph type="dt" sz="half" idx="10"/>
          </p:nvPr>
        </p:nvSpPr>
        <p:spPr/>
        <p:txBody>
          <a:bodyPr/>
          <a:lstStyle/>
          <a:p>
            <a:fld id="{6F96B21A-7313-4E66-9F7C-25CE6FDAD1AA}" type="datetimeFigureOut">
              <a:rPr lang="en-US" smtClean="0"/>
              <a:t>4/16/2026</a:t>
            </a:fld>
            <a:endParaRPr lang="en-US"/>
          </a:p>
        </p:txBody>
      </p:sp>
      <p:sp>
        <p:nvSpPr>
          <p:cNvPr id="5" name="Footer Placeholder 4">
            <a:extLst>
              <a:ext uri="{FF2B5EF4-FFF2-40B4-BE49-F238E27FC236}">
                <a16:creationId xmlns:a16="http://schemas.microsoft.com/office/drawing/2014/main" id="{8F864C9C-BD1C-0FBF-589F-4E30324C9A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DAAD4-F4B8-9591-DECB-5F9EBA71FA48}"/>
              </a:ext>
            </a:extLst>
          </p:cNvPr>
          <p:cNvSpPr>
            <a:spLocks noGrp="1"/>
          </p:cNvSpPr>
          <p:nvPr>
            <p:ph type="sldNum" sz="quarter" idx="12"/>
          </p:nvPr>
        </p:nvSpPr>
        <p:spPr/>
        <p:txBody>
          <a:bodyPr/>
          <a:lstStyle/>
          <a:p>
            <a:fld id="{FBBEA7A9-6DA0-49A1-8940-712E0FC20F01}" type="slidenum">
              <a:rPr lang="en-US" smtClean="0"/>
              <a:t>‹#›</a:t>
            </a:fld>
            <a:endParaRPr lang="en-US"/>
          </a:p>
        </p:txBody>
      </p:sp>
    </p:spTree>
    <p:extLst>
      <p:ext uri="{BB962C8B-B14F-4D97-AF65-F5344CB8AC3E}">
        <p14:creationId xmlns:p14="http://schemas.microsoft.com/office/powerpoint/2010/main" val="2013714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C36E0-B1E0-78C2-E068-AF4F384E81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3F3D0F1-DEDE-9562-92D3-44CB8E0775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89E4F5-6FD7-0EC1-EB40-3BE8308CE773}"/>
              </a:ext>
            </a:extLst>
          </p:cNvPr>
          <p:cNvSpPr>
            <a:spLocks noGrp="1"/>
          </p:cNvSpPr>
          <p:nvPr>
            <p:ph type="dt" sz="half" idx="10"/>
          </p:nvPr>
        </p:nvSpPr>
        <p:spPr/>
        <p:txBody>
          <a:bodyPr/>
          <a:lstStyle/>
          <a:p>
            <a:fld id="{6F96B21A-7313-4E66-9F7C-25CE6FDAD1AA}" type="datetimeFigureOut">
              <a:rPr lang="en-US" smtClean="0"/>
              <a:t>4/16/2026</a:t>
            </a:fld>
            <a:endParaRPr lang="en-US"/>
          </a:p>
        </p:txBody>
      </p:sp>
      <p:sp>
        <p:nvSpPr>
          <p:cNvPr id="5" name="Footer Placeholder 4">
            <a:extLst>
              <a:ext uri="{FF2B5EF4-FFF2-40B4-BE49-F238E27FC236}">
                <a16:creationId xmlns:a16="http://schemas.microsoft.com/office/drawing/2014/main" id="{306A7A1F-6B9E-4A9D-0D3A-0FA201CD46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9F6D91-6715-23A7-3877-C34C919458F9}"/>
              </a:ext>
            </a:extLst>
          </p:cNvPr>
          <p:cNvSpPr>
            <a:spLocks noGrp="1"/>
          </p:cNvSpPr>
          <p:nvPr>
            <p:ph type="sldNum" sz="quarter" idx="12"/>
          </p:nvPr>
        </p:nvSpPr>
        <p:spPr/>
        <p:txBody>
          <a:bodyPr/>
          <a:lstStyle/>
          <a:p>
            <a:fld id="{FBBEA7A9-6DA0-49A1-8940-712E0FC20F01}" type="slidenum">
              <a:rPr lang="en-US" smtClean="0"/>
              <a:t>‹#›</a:t>
            </a:fld>
            <a:endParaRPr lang="en-US"/>
          </a:p>
        </p:txBody>
      </p:sp>
    </p:spTree>
    <p:extLst>
      <p:ext uri="{BB962C8B-B14F-4D97-AF65-F5344CB8AC3E}">
        <p14:creationId xmlns:p14="http://schemas.microsoft.com/office/powerpoint/2010/main" val="819702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64BFE-D0EE-C01E-4BC2-A585EC484C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B7C480-A3FC-373C-07BD-853D8A2701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B5BF50C-8497-B850-FC93-65E3FB7532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BA8F24-24B9-D51E-FAF3-A9AA17370429}"/>
              </a:ext>
            </a:extLst>
          </p:cNvPr>
          <p:cNvSpPr>
            <a:spLocks noGrp="1"/>
          </p:cNvSpPr>
          <p:nvPr>
            <p:ph type="dt" sz="half" idx="10"/>
          </p:nvPr>
        </p:nvSpPr>
        <p:spPr/>
        <p:txBody>
          <a:bodyPr/>
          <a:lstStyle/>
          <a:p>
            <a:fld id="{6F96B21A-7313-4E66-9F7C-25CE6FDAD1AA}" type="datetimeFigureOut">
              <a:rPr lang="en-US" smtClean="0"/>
              <a:t>4/16/2026</a:t>
            </a:fld>
            <a:endParaRPr lang="en-US"/>
          </a:p>
        </p:txBody>
      </p:sp>
      <p:sp>
        <p:nvSpPr>
          <p:cNvPr id="6" name="Footer Placeholder 5">
            <a:extLst>
              <a:ext uri="{FF2B5EF4-FFF2-40B4-BE49-F238E27FC236}">
                <a16:creationId xmlns:a16="http://schemas.microsoft.com/office/drawing/2014/main" id="{4B986997-6639-9F91-68AE-A9278F2681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778B14-5FA7-8ABC-24EC-ECFBC719662D}"/>
              </a:ext>
            </a:extLst>
          </p:cNvPr>
          <p:cNvSpPr>
            <a:spLocks noGrp="1"/>
          </p:cNvSpPr>
          <p:nvPr>
            <p:ph type="sldNum" sz="quarter" idx="12"/>
          </p:nvPr>
        </p:nvSpPr>
        <p:spPr/>
        <p:txBody>
          <a:bodyPr/>
          <a:lstStyle/>
          <a:p>
            <a:fld id="{FBBEA7A9-6DA0-49A1-8940-712E0FC20F01}" type="slidenum">
              <a:rPr lang="en-US" smtClean="0"/>
              <a:t>‹#›</a:t>
            </a:fld>
            <a:endParaRPr lang="en-US"/>
          </a:p>
        </p:txBody>
      </p:sp>
    </p:spTree>
    <p:extLst>
      <p:ext uri="{BB962C8B-B14F-4D97-AF65-F5344CB8AC3E}">
        <p14:creationId xmlns:p14="http://schemas.microsoft.com/office/powerpoint/2010/main" val="2075419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6B21E-60FC-0A3E-4668-5AC4D31C66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02663D5-FC7F-54C0-1B5D-4499CC3AD3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E53E8-FEE2-1290-5C99-ED7A4438D0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91DB4B-BDFF-D4CA-8039-2AD9E38540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B40052-B20C-286F-92B5-63A638D4F8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3CDCFCE-8C7D-206D-74AD-8DCAFA1BA011}"/>
              </a:ext>
            </a:extLst>
          </p:cNvPr>
          <p:cNvSpPr>
            <a:spLocks noGrp="1"/>
          </p:cNvSpPr>
          <p:nvPr>
            <p:ph type="dt" sz="half" idx="10"/>
          </p:nvPr>
        </p:nvSpPr>
        <p:spPr/>
        <p:txBody>
          <a:bodyPr/>
          <a:lstStyle/>
          <a:p>
            <a:fld id="{6F96B21A-7313-4E66-9F7C-25CE6FDAD1AA}" type="datetimeFigureOut">
              <a:rPr lang="en-US" smtClean="0"/>
              <a:t>4/16/2026</a:t>
            </a:fld>
            <a:endParaRPr lang="en-US"/>
          </a:p>
        </p:txBody>
      </p:sp>
      <p:sp>
        <p:nvSpPr>
          <p:cNvPr id="8" name="Footer Placeholder 7">
            <a:extLst>
              <a:ext uri="{FF2B5EF4-FFF2-40B4-BE49-F238E27FC236}">
                <a16:creationId xmlns:a16="http://schemas.microsoft.com/office/drawing/2014/main" id="{E943602D-FE36-B44A-A341-585629B712A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23E55B-3C8B-8324-01C2-6224A0B41146}"/>
              </a:ext>
            </a:extLst>
          </p:cNvPr>
          <p:cNvSpPr>
            <a:spLocks noGrp="1"/>
          </p:cNvSpPr>
          <p:nvPr>
            <p:ph type="sldNum" sz="quarter" idx="12"/>
          </p:nvPr>
        </p:nvSpPr>
        <p:spPr/>
        <p:txBody>
          <a:bodyPr/>
          <a:lstStyle/>
          <a:p>
            <a:fld id="{FBBEA7A9-6DA0-49A1-8940-712E0FC20F01}" type="slidenum">
              <a:rPr lang="en-US" smtClean="0"/>
              <a:t>‹#›</a:t>
            </a:fld>
            <a:endParaRPr lang="en-US"/>
          </a:p>
        </p:txBody>
      </p:sp>
    </p:spTree>
    <p:extLst>
      <p:ext uri="{BB962C8B-B14F-4D97-AF65-F5344CB8AC3E}">
        <p14:creationId xmlns:p14="http://schemas.microsoft.com/office/powerpoint/2010/main" val="1222995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D1F01-9EDF-1C59-91B4-4FCB9D8987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6B01CC-CBFE-306F-58EC-734E983422EE}"/>
              </a:ext>
            </a:extLst>
          </p:cNvPr>
          <p:cNvSpPr>
            <a:spLocks noGrp="1"/>
          </p:cNvSpPr>
          <p:nvPr>
            <p:ph type="dt" sz="half" idx="10"/>
          </p:nvPr>
        </p:nvSpPr>
        <p:spPr/>
        <p:txBody>
          <a:bodyPr/>
          <a:lstStyle/>
          <a:p>
            <a:fld id="{6F96B21A-7313-4E66-9F7C-25CE6FDAD1AA}" type="datetimeFigureOut">
              <a:rPr lang="en-US" smtClean="0"/>
              <a:t>4/16/2026</a:t>
            </a:fld>
            <a:endParaRPr lang="en-US"/>
          </a:p>
        </p:txBody>
      </p:sp>
      <p:sp>
        <p:nvSpPr>
          <p:cNvPr id="4" name="Footer Placeholder 3">
            <a:extLst>
              <a:ext uri="{FF2B5EF4-FFF2-40B4-BE49-F238E27FC236}">
                <a16:creationId xmlns:a16="http://schemas.microsoft.com/office/drawing/2014/main" id="{04879CEA-36CE-D935-9A7F-1B75F26D83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1B1086-FE31-083C-0D6A-F5DF78ABA188}"/>
              </a:ext>
            </a:extLst>
          </p:cNvPr>
          <p:cNvSpPr>
            <a:spLocks noGrp="1"/>
          </p:cNvSpPr>
          <p:nvPr>
            <p:ph type="sldNum" sz="quarter" idx="12"/>
          </p:nvPr>
        </p:nvSpPr>
        <p:spPr/>
        <p:txBody>
          <a:bodyPr/>
          <a:lstStyle/>
          <a:p>
            <a:fld id="{FBBEA7A9-6DA0-49A1-8940-712E0FC20F01}" type="slidenum">
              <a:rPr lang="en-US" smtClean="0"/>
              <a:t>‹#›</a:t>
            </a:fld>
            <a:endParaRPr lang="en-US"/>
          </a:p>
        </p:txBody>
      </p:sp>
    </p:spTree>
    <p:extLst>
      <p:ext uri="{BB962C8B-B14F-4D97-AF65-F5344CB8AC3E}">
        <p14:creationId xmlns:p14="http://schemas.microsoft.com/office/powerpoint/2010/main" val="2371429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71B189-EF3B-3AD4-F2B0-E8663F630E0C}"/>
              </a:ext>
            </a:extLst>
          </p:cNvPr>
          <p:cNvSpPr>
            <a:spLocks noGrp="1"/>
          </p:cNvSpPr>
          <p:nvPr>
            <p:ph type="dt" sz="half" idx="10"/>
          </p:nvPr>
        </p:nvSpPr>
        <p:spPr/>
        <p:txBody>
          <a:bodyPr/>
          <a:lstStyle/>
          <a:p>
            <a:fld id="{6F96B21A-7313-4E66-9F7C-25CE6FDAD1AA}" type="datetimeFigureOut">
              <a:rPr lang="en-US" smtClean="0"/>
              <a:t>4/16/2026</a:t>
            </a:fld>
            <a:endParaRPr lang="en-US"/>
          </a:p>
        </p:txBody>
      </p:sp>
      <p:sp>
        <p:nvSpPr>
          <p:cNvPr id="3" name="Footer Placeholder 2">
            <a:extLst>
              <a:ext uri="{FF2B5EF4-FFF2-40B4-BE49-F238E27FC236}">
                <a16:creationId xmlns:a16="http://schemas.microsoft.com/office/drawing/2014/main" id="{FEF2883B-AC57-3FFF-B12D-4D3AA4E984C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3BD153-012F-5495-8011-422E938A05AA}"/>
              </a:ext>
            </a:extLst>
          </p:cNvPr>
          <p:cNvSpPr>
            <a:spLocks noGrp="1"/>
          </p:cNvSpPr>
          <p:nvPr>
            <p:ph type="sldNum" sz="quarter" idx="12"/>
          </p:nvPr>
        </p:nvSpPr>
        <p:spPr/>
        <p:txBody>
          <a:bodyPr/>
          <a:lstStyle/>
          <a:p>
            <a:fld id="{FBBEA7A9-6DA0-49A1-8940-712E0FC20F01}" type="slidenum">
              <a:rPr lang="en-US" smtClean="0"/>
              <a:t>‹#›</a:t>
            </a:fld>
            <a:endParaRPr lang="en-US"/>
          </a:p>
        </p:txBody>
      </p:sp>
    </p:spTree>
    <p:extLst>
      <p:ext uri="{BB962C8B-B14F-4D97-AF65-F5344CB8AC3E}">
        <p14:creationId xmlns:p14="http://schemas.microsoft.com/office/powerpoint/2010/main" val="883119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632AA-E329-53F3-C8EA-F3F1AD9D8A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339565-26BF-4F8F-F63D-66FF0AE77B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063F4E-0971-2332-1EC8-9DED470AD4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8C3A1B-C649-4083-1FAD-94464C728D72}"/>
              </a:ext>
            </a:extLst>
          </p:cNvPr>
          <p:cNvSpPr>
            <a:spLocks noGrp="1"/>
          </p:cNvSpPr>
          <p:nvPr>
            <p:ph type="dt" sz="half" idx="10"/>
          </p:nvPr>
        </p:nvSpPr>
        <p:spPr/>
        <p:txBody>
          <a:bodyPr/>
          <a:lstStyle/>
          <a:p>
            <a:fld id="{6F96B21A-7313-4E66-9F7C-25CE6FDAD1AA}" type="datetimeFigureOut">
              <a:rPr lang="en-US" smtClean="0"/>
              <a:t>4/16/2026</a:t>
            </a:fld>
            <a:endParaRPr lang="en-US"/>
          </a:p>
        </p:txBody>
      </p:sp>
      <p:sp>
        <p:nvSpPr>
          <p:cNvPr id="6" name="Footer Placeholder 5">
            <a:extLst>
              <a:ext uri="{FF2B5EF4-FFF2-40B4-BE49-F238E27FC236}">
                <a16:creationId xmlns:a16="http://schemas.microsoft.com/office/drawing/2014/main" id="{7DF0AF8C-5DF1-BDF0-A20B-71D232FD65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F66D95-F0B2-4D75-5567-6386DA8FF040}"/>
              </a:ext>
            </a:extLst>
          </p:cNvPr>
          <p:cNvSpPr>
            <a:spLocks noGrp="1"/>
          </p:cNvSpPr>
          <p:nvPr>
            <p:ph type="sldNum" sz="quarter" idx="12"/>
          </p:nvPr>
        </p:nvSpPr>
        <p:spPr/>
        <p:txBody>
          <a:bodyPr/>
          <a:lstStyle/>
          <a:p>
            <a:fld id="{FBBEA7A9-6DA0-49A1-8940-712E0FC20F01}" type="slidenum">
              <a:rPr lang="en-US" smtClean="0"/>
              <a:t>‹#›</a:t>
            </a:fld>
            <a:endParaRPr lang="en-US"/>
          </a:p>
        </p:txBody>
      </p:sp>
    </p:spTree>
    <p:extLst>
      <p:ext uri="{BB962C8B-B14F-4D97-AF65-F5344CB8AC3E}">
        <p14:creationId xmlns:p14="http://schemas.microsoft.com/office/powerpoint/2010/main" val="738061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C4959-3E55-F584-B30B-AB67CC3848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77A13A-5C9B-37DF-5EBD-37CDF98B7D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47280A-58DF-912B-31E0-F83390E730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444190-E2F4-8C6B-6FFD-C0F4762C2DD7}"/>
              </a:ext>
            </a:extLst>
          </p:cNvPr>
          <p:cNvSpPr>
            <a:spLocks noGrp="1"/>
          </p:cNvSpPr>
          <p:nvPr>
            <p:ph type="dt" sz="half" idx="10"/>
          </p:nvPr>
        </p:nvSpPr>
        <p:spPr/>
        <p:txBody>
          <a:bodyPr/>
          <a:lstStyle/>
          <a:p>
            <a:fld id="{6F96B21A-7313-4E66-9F7C-25CE6FDAD1AA}" type="datetimeFigureOut">
              <a:rPr lang="en-US" smtClean="0"/>
              <a:t>4/16/2026</a:t>
            </a:fld>
            <a:endParaRPr lang="en-US"/>
          </a:p>
        </p:txBody>
      </p:sp>
      <p:sp>
        <p:nvSpPr>
          <p:cNvPr id="6" name="Footer Placeholder 5">
            <a:extLst>
              <a:ext uri="{FF2B5EF4-FFF2-40B4-BE49-F238E27FC236}">
                <a16:creationId xmlns:a16="http://schemas.microsoft.com/office/drawing/2014/main" id="{76F16B3F-709F-3FD5-F783-A462A8715D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047938-BA73-1B3E-6E58-DFE9DAD784FC}"/>
              </a:ext>
            </a:extLst>
          </p:cNvPr>
          <p:cNvSpPr>
            <a:spLocks noGrp="1"/>
          </p:cNvSpPr>
          <p:nvPr>
            <p:ph type="sldNum" sz="quarter" idx="12"/>
          </p:nvPr>
        </p:nvSpPr>
        <p:spPr/>
        <p:txBody>
          <a:bodyPr/>
          <a:lstStyle/>
          <a:p>
            <a:fld id="{FBBEA7A9-6DA0-49A1-8940-712E0FC20F01}" type="slidenum">
              <a:rPr lang="en-US" smtClean="0"/>
              <a:t>‹#›</a:t>
            </a:fld>
            <a:endParaRPr lang="en-US"/>
          </a:p>
        </p:txBody>
      </p:sp>
    </p:spTree>
    <p:extLst>
      <p:ext uri="{BB962C8B-B14F-4D97-AF65-F5344CB8AC3E}">
        <p14:creationId xmlns:p14="http://schemas.microsoft.com/office/powerpoint/2010/main" val="3612629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7540D-9BD5-2EE5-5955-6B97462507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13EF55-9FBD-12FA-2D7A-DE715A653B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87E464-06C2-0E29-7A64-C1F5C4E9A900}"/>
              </a:ext>
            </a:extLst>
          </p:cNvPr>
          <p:cNvSpPr>
            <a:spLocks noGrp="1"/>
          </p:cNvSpPr>
          <p:nvPr>
            <p:ph type="dt" sz="half" idx="10"/>
          </p:nvPr>
        </p:nvSpPr>
        <p:spPr/>
        <p:txBody>
          <a:bodyPr/>
          <a:lstStyle/>
          <a:p>
            <a:fld id="{6F96B21A-7313-4E66-9F7C-25CE6FDAD1AA}" type="datetimeFigureOut">
              <a:rPr lang="en-US" smtClean="0"/>
              <a:t>4/16/2026</a:t>
            </a:fld>
            <a:endParaRPr lang="en-US"/>
          </a:p>
        </p:txBody>
      </p:sp>
      <p:sp>
        <p:nvSpPr>
          <p:cNvPr id="5" name="Footer Placeholder 4">
            <a:extLst>
              <a:ext uri="{FF2B5EF4-FFF2-40B4-BE49-F238E27FC236}">
                <a16:creationId xmlns:a16="http://schemas.microsoft.com/office/drawing/2014/main" id="{88B75A93-4936-CE29-848E-AAEE2A6E2C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E1C736-B75D-2AF2-CF05-A9766A1F9902}"/>
              </a:ext>
            </a:extLst>
          </p:cNvPr>
          <p:cNvSpPr>
            <a:spLocks noGrp="1"/>
          </p:cNvSpPr>
          <p:nvPr>
            <p:ph type="sldNum" sz="quarter" idx="12"/>
          </p:nvPr>
        </p:nvSpPr>
        <p:spPr/>
        <p:txBody>
          <a:bodyPr/>
          <a:lstStyle/>
          <a:p>
            <a:fld id="{FBBEA7A9-6DA0-49A1-8940-712E0FC20F01}" type="slidenum">
              <a:rPr lang="en-US" smtClean="0"/>
              <a:t>‹#›</a:t>
            </a:fld>
            <a:endParaRPr lang="en-US"/>
          </a:p>
        </p:txBody>
      </p:sp>
    </p:spTree>
    <p:extLst>
      <p:ext uri="{BB962C8B-B14F-4D97-AF65-F5344CB8AC3E}">
        <p14:creationId xmlns:p14="http://schemas.microsoft.com/office/powerpoint/2010/main" val="2039243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224036-E902-6862-F125-90DC06E2AA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48F9BB-853B-3D9D-F7BC-46E9001088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86D231-EE18-65A2-0154-3668E6436233}"/>
              </a:ext>
            </a:extLst>
          </p:cNvPr>
          <p:cNvSpPr>
            <a:spLocks noGrp="1"/>
          </p:cNvSpPr>
          <p:nvPr>
            <p:ph type="dt" sz="half" idx="10"/>
          </p:nvPr>
        </p:nvSpPr>
        <p:spPr/>
        <p:txBody>
          <a:bodyPr/>
          <a:lstStyle/>
          <a:p>
            <a:fld id="{6F96B21A-7313-4E66-9F7C-25CE6FDAD1AA}" type="datetimeFigureOut">
              <a:rPr lang="en-US" smtClean="0"/>
              <a:t>4/16/2026</a:t>
            </a:fld>
            <a:endParaRPr lang="en-US"/>
          </a:p>
        </p:txBody>
      </p:sp>
      <p:sp>
        <p:nvSpPr>
          <p:cNvPr id="5" name="Footer Placeholder 4">
            <a:extLst>
              <a:ext uri="{FF2B5EF4-FFF2-40B4-BE49-F238E27FC236}">
                <a16:creationId xmlns:a16="http://schemas.microsoft.com/office/drawing/2014/main" id="{0EEA2309-7736-BCBB-0077-0DC609E623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05BDB5-F677-19A0-C27F-AC4DF6E06816}"/>
              </a:ext>
            </a:extLst>
          </p:cNvPr>
          <p:cNvSpPr>
            <a:spLocks noGrp="1"/>
          </p:cNvSpPr>
          <p:nvPr>
            <p:ph type="sldNum" sz="quarter" idx="12"/>
          </p:nvPr>
        </p:nvSpPr>
        <p:spPr/>
        <p:txBody>
          <a:bodyPr/>
          <a:lstStyle/>
          <a:p>
            <a:fld id="{FBBEA7A9-6DA0-49A1-8940-712E0FC20F01}" type="slidenum">
              <a:rPr lang="en-US" smtClean="0"/>
              <a:t>‹#›</a:t>
            </a:fld>
            <a:endParaRPr lang="en-US"/>
          </a:p>
        </p:txBody>
      </p:sp>
    </p:spTree>
    <p:extLst>
      <p:ext uri="{BB962C8B-B14F-4D97-AF65-F5344CB8AC3E}">
        <p14:creationId xmlns:p14="http://schemas.microsoft.com/office/powerpoint/2010/main" val="388796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DF6BD4-8A57-A562-9DFD-FEF7560939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FF23CC-A1ED-33F0-FA15-CFB48D7296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C49D9A-9398-8BB6-8064-EBB1ABC7E5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96B21A-7313-4E66-9F7C-25CE6FDAD1AA}" type="datetimeFigureOut">
              <a:rPr lang="en-US" smtClean="0"/>
              <a:t>4/16/2026</a:t>
            </a:fld>
            <a:endParaRPr lang="en-US"/>
          </a:p>
        </p:txBody>
      </p:sp>
      <p:sp>
        <p:nvSpPr>
          <p:cNvPr id="5" name="Footer Placeholder 4">
            <a:extLst>
              <a:ext uri="{FF2B5EF4-FFF2-40B4-BE49-F238E27FC236}">
                <a16:creationId xmlns:a16="http://schemas.microsoft.com/office/drawing/2014/main" id="{2E956D13-7116-E6AF-BA7D-837F55779E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5D5D9D8-91DC-C334-E025-EC255792B0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BEA7A9-6DA0-49A1-8940-712E0FC20F01}" type="slidenum">
              <a:rPr lang="en-US" smtClean="0"/>
              <a:t>‹#›</a:t>
            </a:fld>
            <a:endParaRPr lang="en-US"/>
          </a:p>
        </p:txBody>
      </p:sp>
    </p:spTree>
    <p:extLst>
      <p:ext uri="{BB962C8B-B14F-4D97-AF65-F5344CB8AC3E}">
        <p14:creationId xmlns:p14="http://schemas.microsoft.com/office/powerpoint/2010/main" val="24675485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C6BEC2-BDE1-F36A-F4C5-1E4E8DB94195}"/>
              </a:ext>
            </a:extLst>
          </p:cNvPr>
          <p:cNvSpPr txBox="1"/>
          <p:nvPr/>
        </p:nvSpPr>
        <p:spPr>
          <a:xfrm>
            <a:off x="506361" y="125476"/>
            <a:ext cx="11179278" cy="4378122"/>
          </a:xfrm>
          <a:prstGeom prst="rect">
            <a:avLst/>
          </a:prstGeom>
          <a:noFill/>
        </p:spPr>
        <p:txBody>
          <a:bodyPr wrap="square">
            <a:spAutoFit/>
          </a:bodyPr>
          <a:lstStyle/>
          <a:p>
            <a:pPr marR="13970" lvl="0">
              <a:lnSpc>
                <a:spcPct val="150000"/>
              </a:lnSpc>
              <a:spcBef>
                <a:spcPts val="5"/>
              </a:spcBef>
              <a:buSzPts val="1200"/>
              <a:tabLst>
                <a:tab pos="1003935" algn="l"/>
              </a:tabLst>
            </a:pPr>
            <a:r>
              <a:rPr lang="en-US" dirty="0">
                <a:latin typeface="Times New Roman" panose="02020603050405020304" pitchFamily="18" charset="0"/>
                <a:ea typeface="Times New Roman" panose="02020603050405020304" pitchFamily="18" charset="0"/>
              </a:rPr>
              <a:t>7(a)  </a:t>
            </a:r>
            <a:r>
              <a:rPr lang="en-US" spc="0" dirty="0">
                <a:effectLst/>
                <a:latin typeface="Times New Roman" panose="02020603050405020304" pitchFamily="18" charset="0"/>
                <a:ea typeface="Times New Roman" panose="02020603050405020304" pitchFamily="18" charset="0"/>
              </a:rPr>
              <a:t>In a double-slit experiment, monochromatic light passes through two narrow</a:t>
            </a:r>
            <a:r>
              <a:rPr lang="en-US" spc="20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slits separated</a:t>
            </a:r>
            <a:r>
              <a:rPr lang="en-US" spc="7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by 0.500</a:t>
            </a:r>
            <a:r>
              <a:rPr lang="en-US" spc="9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mm. The interference pattern is observed on</a:t>
            </a:r>
            <a:r>
              <a:rPr lang="en-US" spc="7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a screen</a:t>
            </a:r>
            <a:endParaRPr lang="en-MY" spc="0" dirty="0">
              <a:effectLst/>
              <a:latin typeface="Times New Roman" panose="02020603050405020304" pitchFamily="18" charset="0"/>
              <a:ea typeface="Times New Roman" panose="02020603050405020304" pitchFamily="18" charset="0"/>
            </a:endParaRPr>
          </a:p>
          <a:p>
            <a:pPr marL="1003935">
              <a:lnSpc>
                <a:spcPct val="150000"/>
              </a:lnSpc>
              <a:buNone/>
            </a:pPr>
            <a:r>
              <a:rPr lang="en-US" spc="-10" dirty="0">
                <a:effectLst/>
                <a:latin typeface="Times New Roman" panose="02020603050405020304" pitchFamily="18" charset="0"/>
                <a:ea typeface="Times New Roman" panose="02020603050405020304" pitchFamily="18" charset="0"/>
              </a:rPr>
              <a:t>1.20</a:t>
            </a:r>
            <a:r>
              <a:rPr lang="en-US" spc="-40" dirty="0">
                <a:effectLst/>
                <a:latin typeface="Times New Roman" panose="02020603050405020304" pitchFamily="18" charset="0"/>
                <a:ea typeface="Times New Roman" panose="02020603050405020304" pitchFamily="18" charset="0"/>
              </a:rPr>
              <a:t> </a:t>
            </a:r>
            <a:r>
              <a:rPr lang="en-US" spc="-10" dirty="0">
                <a:effectLst/>
                <a:latin typeface="Times New Roman" panose="02020603050405020304" pitchFamily="18" charset="0"/>
                <a:ea typeface="Times New Roman" panose="02020603050405020304" pitchFamily="18" charset="0"/>
              </a:rPr>
              <a:t>m</a:t>
            </a:r>
            <a:r>
              <a:rPr lang="en-US" spc="-35" dirty="0">
                <a:effectLst/>
                <a:latin typeface="Times New Roman" panose="02020603050405020304" pitchFamily="18" charset="0"/>
                <a:ea typeface="Times New Roman" panose="02020603050405020304" pitchFamily="18" charset="0"/>
              </a:rPr>
              <a:t> </a:t>
            </a:r>
            <a:r>
              <a:rPr lang="en-US" spc="-10" dirty="0">
                <a:effectLst/>
                <a:latin typeface="Times New Roman" panose="02020603050405020304" pitchFamily="18" charset="0"/>
                <a:ea typeface="Times New Roman" panose="02020603050405020304" pitchFamily="18" charset="0"/>
              </a:rPr>
              <a:t>away.</a:t>
            </a:r>
            <a:r>
              <a:rPr lang="en-US" spc="-40" dirty="0">
                <a:effectLst/>
                <a:latin typeface="Times New Roman" panose="02020603050405020304" pitchFamily="18" charset="0"/>
                <a:ea typeface="Times New Roman" panose="02020603050405020304" pitchFamily="18" charset="0"/>
              </a:rPr>
              <a:t> </a:t>
            </a:r>
            <a:r>
              <a:rPr lang="en-US" spc="-10" dirty="0">
                <a:effectLst/>
                <a:latin typeface="Times New Roman" panose="02020603050405020304" pitchFamily="18" charset="0"/>
                <a:ea typeface="Times New Roman" panose="02020603050405020304" pitchFamily="18" charset="0"/>
              </a:rPr>
              <a:t>The</a:t>
            </a:r>
            <a:r>
              <a:rPr lang="en-US" spc="-45" dirty="0">
                <a:effectLst/>
                <a:latin typeface="Times New Roman" panose="02020603050405020304" pitchFamily="18" charset="0"/>
                <a:ea typeface="Times New Roman" panose="02020603050405020304" pitchFamily="18" charset="0"/>
              </a:rPr>
              <a:t> </a:t>
            </a:r>
            <a:r>
              <a:rPr lang="en-US" spc="-10" dirty="0">
                <a:effectLst/>
                <a:latin typeface="Times New Roman" panose="02020603050405020304" pitchFamily="18" charset="0"/>
                <a:ea typeface="Times New Roman" panose="02020603050405020304" pitchFamily="18" charset="0"/>
              </a:rPr>
              <a:t>distance</a:t>
            </a:r>
            <a:r>
              <a:rPr lang="en-US" spc="-45" dirty="0">
                <a:effectLst/>
                <a:latin typeface="Times New Roman" panose="02020603050405020304" pitchFamily="18" charset="0"/>
                <a:ea typeface="Times New Roman" panose="02020603050405020304" pitchFamily="18" charset="0"/>
              </a:rPr>
              <a:t> </a:t>
            </a:r>
            <a:r>
              <a:rPr lang="en-US" spc="-10" dirty="0">
                <a:effectLst/>
                <a:latin typeface="Times New Roman" panose="02020603050405020304" pitchFamily="18" charset="0"/>
                <a:ea typeface="Times New Roman" panose="02020603050405020304" pitchFamily="18" charset="0"/>
              </a:rPr>
              <a:t>between</a:t>
            </a:r>
            <a:r>
              <a:rPr lang="en-US" spc="-40" dirty="0">
                <a:effectLst/>
                <a:latin typeface="Times New Roman" panose="02020603050405020304" pitchFamily="18" charset="0"/>
                <a:ea typeface="Times New Roman" panose="02020603050405020304" pitchFamily="18" charset="0"/>
              </a:rPr>
              <a:t> </a:t>
            </a:r>
            <a:r>
              <a:rPr lang="en-US" spc="-10" dirty="0">
                <a:effectLst/>
                <a:latin typeface="Times New Roman" panose="02020603050405020304" pitchFamily="18" charset="0"/>
                <a:ea typeface="Times New Roman" panose="02020603050405020304" pitchFamily="18" charset="0"/>
              </a:rPr>
              <a:t>the</a:t>
            </a:r>
            <a:r>
              <a:rPr lang="en-US" spc="-45" dirty="0">
                <a:effectLst/>
                <a:latin typeface="Times New Roman" panose="02020603050405020304" pitchFamily="18" charset="0"/>
                <a:ea typeface="Times New Roman" panose="02020603050405020304" pitchFamily="18" charset="0"/>
              </a:rPr>
              <a:t> </a:t>
            </a:r>
            <a:r>
              <a:rPr lang="en-US" spc="-10" dirty="0">
                <a:effectLst/>
                <a:latin typeface="Times New Roman" panose="02020603050405020304" pitchFamily="18" charset="0"/>
                <a:ea typeface="Times New Roman" panose="02020603050405020304" pitchFamily="18" charset="0"/>
              </a:rPr>
              <a:t>second</a:t>
            </a:r>
            <a:r>
              <a:rPr lang="en-US" spc="-40" dirty="0">
                <a:effectLst/>
                <a:latin typeface="Times New Roman" panose="02020603050405020304" pitchFamily="18" charset="0"/>
                <a:ea typeface="Times New Roman" panose="02020603050405020304" pitchFamily="18" charset="0"/>
              </a:rPr>
              <a:t> </a:t>
            </a:r>
            <a:r>
              <a:rPr lang="en-US" spc="-10" dirty="0">
                <a:effectLst/>
                <a:latin typeface="Times New Roman" panose="02020603050405020304" pitchFamily="18" charset="0"/>
                <a:ea typeface="Times New Roman" panose="02020603050405020304" pitchFamily="18" charset="0"/>
              </a:rPr>
              <a:t>and</a:t>
            </a:r>
            <a:r>
              <a:rPr lang="en-US" spc="-25" dirty="0">
                <a:effectLst/>
                <a:latin typeface="Times New Roman" panose="02020603050405020304" pitchFamily="18" charset="0"/>
                <a:ea typeface="Times New Roman" panose="02020603050405020304" pitchFamily="18" charset="0"/>
              </a:rPr>
              <a:t> </a:t>
            </a:r>
            <a:r>
              <a:rPr lang="en-US" spc="-10" dirty="0">
                <a:effectLst/>
                <a:latin typeface="Times New Roman" panose="02020603050405020304" pitchFamily="18" charset="0"/>
                <a:ea typeface="Times New Roman" panose="02020603050405020304" pitchFamily="18" charset="0"/>
              </a:rPr>
              <a:t>fifth</a:t>
            </a:r>
            <a:r>
              <a:rPr lang="en-US" spc="-35" dirty="0">
                <a:effectLst/>
                <a:latin typeface="Times New Roman" panose="02020603050405020304" pitchFamily="18" charset="0"/>
                <a:ea typeface="Times New Roman" panose="02020603050405020304" pitchFamily="18" charset="0"/>
              </a:rPr>
              <a:t> </a:t>
            </a:r>
            <a:r>
              <a:rPr lang="en-US" spc="-10" dirty="0">
                <a:effectLst/>
                <a:latin typeface="Times New Roman" panose="02020603050405020304" pitchFamily="18" charset="0"/>
                <a:ea typeface="Times New Roman" panose="02020603050405020304" pitchFamily="18" charset="0"/>
              </a:rPr>
              <a:t>dark</a:t>
            </a:r>
            <a:r>
              <a:rPr lang="en-US" spc="-45" dirty="0">
                <a:effectLst/>
                <a:latin typeface="Times New Roman" panose="02020603050405020304" pitchFamily="18" charset="0"/>
                <a:ea typeface="Times New Roman" panose="02020603050405020304" pitchFamily="18" charset="0"/>
              </a:rPr>
              <a:t> </a:t>
            </a:r>
            <a:r>
              <a:rPr lang="en-US" spc="-10" dirty="0">
                <a:effectLst/>
                <a:latin typeface="Times New Roman" panose="02020603050405020304" pitchFamily="18" charset="0"/>
                <a:ea typeface="Times New Roman" panose="02020603050405020304" pitchFamily="18" charset="0"/>
              </a:rPr>
              <a:t>fringes</a:t>
            </a:r>
            <a:r>
              <a:rPr lang="en-US" spc="-40" dirty="0">
                <a:effectLst/>
                <a:latin typeface="Times New Roman" panose="02020603050405020304" pitchFamily="18" charset="0"/>
                <a:ea typeface="Times New Roman" panose="02020603050405020304" pitchFamily="18" charset="0"/>
              </a:rPr>
              <a:t> </a:t>
            </a:r>
            <a:r>
              <a:rPr lang="en-US" spc="-10" dirty="0">
                <a:effectLst/>
                <a:latin typeface="Times New Roman" panose="02020603050405020304" pitchFamily="18" charset="0"/>
                <a:ea typeface="Times New Roman" panose="02020603050405020304" pitchFamily="18" charset="0"/>
              </a:rPr>
              <a:t>is</a:t>
            </a:r>
            <a:r>
              <a:rPr lang="en-US" spc="-35" dirty="0">
                <a:effectLst/>
                <a:latin typeface="Times New Roman" panose="02020603050405020304" pitchFamily="18" charset="0"/>
                <a:ea typeface="Times New Roman" panose="02020603050405020304" pitchFamily="18" charset="0"/>
              </a:rPr>
              <a:t> </a:t>
            </a:r>
            <a:r>
              <a:rPr lang="en-US" spc="-10" dirty="0">
                <a:effectLst/>
                <a:latin typeface="Times New Roman" panose="02020603050405020304" pitchFamily="18" charset="0"/>
                <a:ea typeface="Times New Roman" panose="02020603050405020304" pitchFamily="18" charset="0"/>
              </a:rPr>
              <a:t>measured </a:t>
            </a:r>
            <a:r>
              <a:rPr lang="en-US" dirty="0">
                <a:effectLst/>
                <a:latin typeface="Times New Roman" panose="02020603050405020304" pitchFamily="18" charset="0"/>
                <a:ea typeface="Times New Roman" panose="02020603050405020304" pitchFamily="18" charset="0"/>
              </a:rPr>
              <a:t>to be 3.00 mm. Determine the wavelength of the light used.</a:t>
            </a:r>
            <a:endParaRPr lang="en-MY" dirty="0">
              <a:effectLst/>
              <a:latin typeface="Times New Roman" panose="02020603050405020304" pitchFamily="18" charset="0"/>
              <a:ea typeface="Times New Roman" panose="02020603050405020304" pitchFamily="18" charset="0"/>
            </a:endParaRPr>
          </a:p>
          <a:p>
            <a:pPr marR="12700" algn="r">
              <a:lnSpc>
                <a:spcPts val="1370"/>
              </a:lnSpc>
              <a:buNone/>
            </a:pPr>
            <a:r>
              <a:rPr lang="en-US" dirty="0">
                <a:effectLst/>
                <a:latin typeface="Times New Roman" panose="02020603050405020304" pitchFamily="18" charset="0"/>
                <a:ea typeface="Times New Roman" panose="02020603050405020304" pitchFamily="18" charset="0"/>
              </a:rPr>
              <a:t>[3</a:t>
            </a:r>
            <a:r>
              <a:rPr lang="en-US" spc="-5" dirty="0">
                <a:effectLst/>
                <a:latin typeface="Times New Roman" panose="02020603050405020304" pitchFamily="18" charset="0"/>
                <a:ea typeface="Times New Roman" panose="02020603050405020304" pitchFamily="18" charset="0"/>
              </a:rPr>
              <a:t> </a:t>
            </a:r>
            <a:r>
              <a:rPr lang="en-US" i="1" spc="-10" dirty="0">
                <a:effectLst/>
                <a:latin typeface="Times New Roman" panose="02020603050405020304" pitchFamily="18" charset="0"/>
                <a:ea typeface="Times New Roman" panose="02020603050405020304" pitchFamily="18" charset="0"/>
              </a:rPr>
              <a:t>marks</a:t>
            </a:r>
            <a:r>
              <a:rPr lang="en-US" spc="-10" dirty="0">
                <a:effectLst/>
                <a:latin typeface="Times New Roman" panose="02020603050405020304" pitchFamily="18" charset="0"/>
                <a:ea typeface="Times New Roman" panose="02020603050405020304" pitchFamily="18" charset="0"/>
              </a:rPr>
              <a:t>]</a:t>
            </a:r>
            <a:endParaRPr lang="en-MY" dirty="0">
              <a:effectLst/>
              <a:latin typeface="Times New Roman" panose="02020603050405020304" pitchFamily="18" charset="0"/>
              <a:ea typeface="Times New Roman" panose="02020603050405020304" pitchFamily="18" charset="0"/>
            </a:endParaRPr>
          </a:p>
          <a:p>
            <a:pPr>
              <a:buNone/>
            </a:pPr>
            <a:r>
              <a:rPr lang="en-US" dirty="0">
                <a:effectLst/>
                <a:latin typeface="Times New Roman" panose="02020603050405020304" pitchFamily="18" charset="0"/>
                <a:ea typeface="Times New Roman" panose="02020603050405020304" pitchFamily="18" charset="0"/>
              </a:rPr>
              <a:t> </a:t>
            </a:r>
            <a:r>
              <a:rPr lang="en-MY" dirty="0">
                <a:latin typeface="Times New Roman" panose="02020603050405020304" pitchFamily="18" charset="0"/>
                <a:ea typeface="Times New Roman" panose="02020603050405020304" pitchFamily="18" charset="0"/>
              </a:rPr>
              <a:t>(b)   </a:t>
            </a:r>
            <a:r>
              <a:rPr lang="en-US" spc="0" dirty="0">
                <a:effectLst/>
                <a:latin typeface="Times New Roman" panose="02020603050405020304" pitchFamily="18" charset="0"/>
                <a:ea typeface="Times New Roman" panose="02020603050405020304" pitchFamily="18" charset="0"/>
              </a:rPr>
              <a:t>A thin oil film with a refractive index of 1.45 floats on water with a refractive index of 1.33 and is illuminated by white light. When viewed from above, it appears</a:t>
            </a:r>
            <a:r>
              <a:rPr lang="en-US" spc="-7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bright</a:t>
            </a:r>
            <a:r>
              <a:rPr lang="en-US" spc="-7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blue,</a:t>
            </a:r>
            <a:r>
              <a:rPr lang="en-US" spc="-7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with</a:t>
            </a:r>
            <a:r>
              <a:rPr lang="en-US" spc="-7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a</a:t>
            </a:r>
            <a:r>
              <a:rPr lang="en-US" spc="-8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wavelength</a:t>
            </a:r>
            <a:r>
              <a:rPr lang="en-US" spc="-7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of</a:t>
            </a:r>
            <a:r>
              <a:rPr lang="en-US" spc="-8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480</a:t>
            </a:r>
            <a:r>
              <a:rPr lang="en-US" spc="-7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nm</a:t>
            </a:r>
            <a:r>
              <a:rPr lang="en-US" spc="-7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in</a:t>
            </a:r>
            <a:r>
              <a:rPr lang="en-US" spc="-7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air.</a:t>
            </a:r>
            <a:r>
              <a:rPr lang="en-US" spc="-7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Determine</a:t>
            </a:r>
            <a:r>
              <a:rPr lang="en-US" spc="-8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the</a:t>
            </a:r>
            <a:r>
              <a:rPr lang="en-US" spc="-7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minimum thickness of the oil film required to produce this effect.</a:t>
            </a:r>
            <a:endParaRPr lang="en-MY" spc="0" dirty="0">
              <a:effectLst/>
              <a:latin typeface="Times New Roman" panose="02020603050405020304" pitchFamily="18" charset="0"/>
              <a:ea typeface="Times New Roman" panose="02020603050405020304" pitchFamily="18" charset="0"/>
            </a:endParaRPr>
          </a:p>
          <a:p>
            <a:pPr marR="12700" algn="r">
              <a:buNone/>
            </a:pPr>
            <a:r>
              <a:rPr lang="en-US" dirty="0">
                <a:effectLst/>
                <a:latin typeface="Times New Roman" panose="02020603050405020304" pitchFamily="18" charset="0"/>
                <a:ea typeface="Times New Roman" panose="02020603050405020304" pitchFamily="18" charset="0"/>
              </a:rPr>
              <a:t>[3</a:t>
            </a:r>
            <a:r>
              <a:rPr lang="en-US" spc="-5" dirty="0">
                <a:effectLst/>
                <a:latin typeface="Times New Roman" panose="02020603050405020304" pitchFamily="18" charset="0"/>
                <a:ea typeface="Times New Roman" panose="02020603050405020304" pitchFamily="18" charset="0"/>
              </a:rPr>
              <a:t> </a:t>
            </a:r>
            <a:r>
              <a:rPr lang="en-US" i="1" spc="-10" dirty="0">
                <a:effectLst/>
                <a:latin typeface="Times New Roman" panose="02020603050405020304" pitchFamily="18" charset="0"/>
                <a:ea typeface="Times New Roman" panose="02020603050405020304" pitchFamily="18" charset="0"/>
              </a:rPr>
              <a:t>marks</a:t>
            </a:r>
            <a:r>
              <a:rPr lang="en-US" spc="-10" dirty="0">
                <a:effectLst/>
                <a:latin typeface="Times New Roman" panose="02020603050405020304" pitchFamily="18" charset="0"/>
                <a:ea typeface="Times New Roman" panose="02020603050405020304" pitchFamily="18" charset="0"/>
              </a:rPr>
              <a:t>]</a:t>
            </a:r>
            <a:endParaRPr lang="en-MY" dirty="0">
              <a:latin typeface="Times New Roman" panose="02020603050405020304" pitchFamily="18" charset="0"/>
              <a:ea typeface="Times New Roman" panose="02020603050405020304" pitchFamily="18" charset="0"/>
            </a:endParaRPr>
          </a:p>
          <a:p>
            <a:pPr marR="12700">
              <a:buNone/>
            </a:pPr>
            <a:r>
              <a:rPr lang="en-MY" spc="0" dirty="0">
                <a:effectLst/>
                <a:latin typeface="Times New Roman" panose="02020603050405020304" pitchFamily="18" charset="0"/>
                <a:ea typeface="Times New Roman" panose="02020603050405020304" pitchFamily="18" charset="0"/>
              </a:rPr>
              <a:t>(c)   </a:t>
            </a:r>
            <a:r>
              <a:rPr lang="en-US" spc="0" dirty="0">
                <a:effectLst/>
                <a:latin typeface="Times New Roman" panose="02020603050405020304" pitchFamily="18" charset="0"/>
                <a:ea typeface="Times New Roman" panose="02020603050405020304" pitchFamily="18" charset="0"/>
              </a:rPr>
              <a:t>A</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diffraction</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grating</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with</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800</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lines</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per</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mm</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is</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illuminated</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by</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monochromatic light of wavelength 500 nm.</a:t>
            </a:r>
            <a:endParaRPr lang="en-MY" spc="0" dirty="0">
              <a:effectLst/>
              <a:latin typeface="Times New Roman" panose="02020603050405020304" pitchFamily="18" charset="0"/>
              <a:ea typeface="Times New Roman" panose="02020603050405020304" pitchFamily="18" charset="0"/>
            </a:endParaRPr>
          </a:p>
          <a:p>
            <a:pPr marL="742950" lvl="1" indent="-285750">
              <a:buSzPts val="1200"/>
              <a:buFont typeface="Times New Roman" panose="02020603050405020304" pitchFamily="18" charset="0"/>
              <a:buAutoNum type="romanLcParenBoth"/>
              <a:tabLst>
                <a:tab pos="1453515" algn="l"/>
              </a:tabLst>
            </a:pPr>
            <a:r>
              <a:rPr lang="en-US" spc="0" dirty="0">
                <a:effectLst/>
                <a:latin typeface="Times New Roman" panose="02020603050405020304" pitchFamily="18" charset="0"/>
                <a:ea typeface="Times New Roman" panose="02020603050405020304" pitchFamily="18" charset="0"/>
              </a:rPr>
              <a:t>Determine</a:t>
            </a:r>
            <a:r>
              <a:rPr lang="en-US" spc="-1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the</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diffraction</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angle</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of</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the</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second</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order</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bright</a:t>
            </a:r>
            <a:r>
              <a:rPr lang="en-US" spc="-5" dirty="0">
                <a:effectLst/>
                <a:latin typeface="Times New Roman" panose="02020603050405020304" pitchFamily="18" charset="0"/>
                <a:ea typeface="Times New Roman" panose="02020603050405020304" pitchFamily="18" charset="0"/>
              </a:rPr>
              <a:t> </a:t>
            </a:r>
            <a:r>
              <a:rPr lang="en-US" spc="-10" dirty="0">
                <a:effectLst/>
                <a:latin typeface="Times New Roman" panose="02020603050405020304" pitchFamily="18" charset="0"/>
                <a:ea typeface="Times New Roman" panose="02020603050405020304" pitchFamily="18" charset="0"/>
              </a:rPr>
              <a:t>fringe.</a:t>
            </a:r>
            <a:endParaRPr lang="en-MY" spc="0" dirty="0">
              <a:effectLst/>
              <a:latin typeface="Times New Roman" panose="02020603050405020304" pitchFamily="18" charset="0"/>
              <a:ea typeface="Times New Roman" panose="02020603050405020304" pitchFamily="18" charset="0"/>
            </a:endParaRPr>
          </a:p>
          <a:p>
            <a:pPr marL="742950" marR="480695" lvl="1" indent="-285750">
              <a:lnSpc>
                <a:spcPct val="150000"/>
              </a:lnSpc>
              <a:spcBef>
                <a:spcPts val="695"/>
              </a:spcBef>
              <a:buSzPts val="1200"/>
              <a:buFont typeface="Times New Roman" panose="02020603050405020304" pitchFamily="18" charset="0"/>
              <a:buAutoNum type="romanLcParenBoth"/>
              <a:tabLst>
                <a:tab pos="1449070" algn="l"/>
              </a:tabLst>
            </a:pPr>
            <a:r>
              <a:rPr lang="en-US" spc="0" dirty="0">
                <a:effectLst/>
                <a:latin typeface="Times New Roman" panose="02020603050405020304" pitchFamily="18" charset="0"/>
                <a:ea typeface="Times New Roman" panose="02020603050405020304" pitchFamily="18" charset="0"/>
              </a:rPr>
              <a:t>Determine</a:t>
            </a:r>
            <a:r>
              <a:rPr lang="en-US" spc="-3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whether</a:t>
            </a:r>
            <a:r>
              <a:rPr lang="en-US" spc="-2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a</a:t>
            </a:r>
            <a:r>
              <a:rPr lang="en-US" spc="-3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fourth-order</a:t>
            </a:r>
            <a:r>
              <a:rPr lang="en-US" spc="-2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bright</a:t>
            </a:r>
            <a:r>
              <a:rPr lang="en-US" spc="-2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fringe</a:t>
            </a:r>
            <a:r>
              <a:rPr lang="en-US" spc="-2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can</a:t>
            </a:r>
            <a:r>
              <a:rPr lang="en-US" spc="-2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be</a:t>
            </a:r>
            <a:r>
              <a:rPr lang="en-US" spc="-3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observed. Explain your answer.</a:t>
            </a:r>
            <a:endParaRPr lang="en-MY" spc="0" dirty="0">
              <a:effectLst/>
              <a:latin typeface="Times New Roman" panose="02020603050405020304" pitchFamily="18" charset="0"/>
              <a:ea typeface="Times New Roman" panose="02020603050405020304" pitchFamily="18" charset="0"/>
            </a:endParaRPr>
          </a:p>
          <a:p>
            <a:pPr marR="12700" algn="r">
              <a:buNone/>
            </a:pPr>
            <a:r>
              <a:rPr lang="en-US" dirty="0">
                <a:effectLst/>
                <a:latin typeface="Times New Roman" panose="02020603050405020304" pitchFamily="18" charset="0"/>
                <a:ea typeface="Times New Roman" panose="02020603050405020304" pitchFamily="18" charset="0"/>
              </a:rPr>
              <a:t>[4</a:t>
            </a:r>
            <a:r>
              <a:rPr lang="en-US" spc="-5" dirty="0">
                <a:effectLst/>
                <a:latin typeface="Times New Roman" panose="02020603050405020304" pitchFamily="18" charset="0"/>
                <a:ea typeface="Times New Roman" panose="02020603050405020304" pitchFamily="18" charset="0"/>
              </a:rPr>
              <a:t> </a:t>
            </a:r>
            <a:r>
              <a:rPr lang="en-US" spc="-10" dirty="0">
                <a:effectLst/>
                <a:latin typeface="Times New Roman" panose="02020603050405020304" pitchFamily="18" charset="0"/>
                <a:ea typeface="Times New Roman" panose="02020603050405020304" pitchFamily="18" charset="0"/>
              </a:rPr>
              <a:t>marks]</a:t>
            </a:r>
            <a:endParaRPr lang="en-MY" dirty="0">
              <a:effectLst/>
              <a:latin typeface="Times New Roman" panose="02020603050405020304" pitchFamily="18" charset="0"/>
              <a:ea typeface="Times New Roman" panose="02020603050405020304" pitchFamily="18" charset="0"/>
            </a:endParaRPr>
          </a:p>
        </p:txBody>
      </p:sp>
      <p:pic>
        <p:nvPicPr>
          <p:cNvPr id="7" name="Picture 6">
            <a:extLst>
              <a:ext uri="{FF2B5EF4-FFF2-40B4-BE49-F238E27FC236}">
                <a16:creationId xmlns:a16="http://schemas.microsoft.com/office/drawing/2014/main" id="{F7F4527C-D08C-E869-086D-B73BE71CE6B6}"/>
              </a:ext>
            </a:extLst>
          </p:cNvPr>
          <p:cNvPicPr>
            <a:picLocks noChangeAspect="1"/>
          </p:cNvPicPr>
          <p:nvPr/>
        </p:nvPicPr>
        <p:blipFill>
          <a:blip r:embed="rId2"/>
          <a:stretch>
            <a:fillRect/>
          </a:stretch>
        </p:blipFill>
        <p:spPr>
          <a:xfrm>
            <a:off x="506361" y="4870306"/>
            <a:ext cx="3105583" cy="1314633"/>
          </a:xfrm>
          <a:prstGeom prst="rect">
            <a:avLst/>
          </a:prstGeom>
        </p:spPr>
      </p:pic>
    </p:spTree>
    <p:extLst>
      <p:ext uri="{BB962C8B-B14F-4D97-AF65-F5344CB8AC3E}">
        <p14:creationId xmlns:p14="http://schemas.microsoft.com/office/powerpoint/2010/main" val="2520489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23E92-6A0A-72CA-EBF0-1710CB989C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C631264-2B56-26CE-417C-D846B9E4B4D1}"/>
              </a:ext>
            </a:extLst>
          </p:cNvPr>
          <p:cNvSpPr txBox="1"/>
          <p:nvPr/>
        </p:nvSpPr>
        <p:spPr>
          <a:xfrm>
            <a:off x="475246" y="308083"/>
            <a:ext cx="11363827" cy="1477328"/>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7. a)</a:t>
            </a:r>
            <a:r>
              <a:rPr lang="en-US" dirty="0">
                <a:latin typeface="Times New Roman" panose="02020603050405020304" pitchFamily="18" charset="0"/>
                <a:cs typeface="Times New Roman" panose="02020603050405020304" pitchFamily="18" charset="0"/>
              </a:rPr>
              <a:t> A screen is separated from a double slit source by 1.20 m. The distance between the two slits is 0.03 mm. The second order bright fringe is measured to be 4.50 cm from the centerline. Determine the:</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wavelength of the light.</a:t>
            </a:r>
          </a:p>
          <a:p>
            <a:r>
              <a:rPr lang="en-US" dirty="0">
                <a:latin typeface="Times New Roman" panose="02020603050405020304" pitchFamily="18" charset="0"/>
                <a:cs typeface="Times New Roman" panose="02020603050405020304" pitchFamily="18" charset="0"/>
              </a:rPr>
              <a:t> ii) distance between adjacent bright fringes.</a:t>
            </a:r>
          </a:p>
          <a:p>
            <a:pPr algn="r"/>
            <a:r>
              <a:rPr lang="en-US" dirty="0">
                <a:latin typeface="Times New Roman" panose="02020603050405020304" pitchFamily="18" charset="0"/>
                <a:cs typeface="Times New Roman" panose="02020603050405020304" pitchFamily="18" charset="0"/>
              </a:rPr>
              <a:t> [4 marks]</a:t>
            </a:r>
            <a:endParaRPr lang="en-MY"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8285C55-2198-CE3D-57BE-00A648F54252}"/>
              </a:ext>
            </a:extLst>
          </p:cNvPr>
          <p:cNvSpPr txBox="1"/>
          <p:nvPr/>
        </p:nvSpPr>
        <p:spPr>
          <a:xfrm>
            <a:off x="475245" y="1785411"/>
            <a:ext cx="11363827" cy="1477328"/>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b)</a:t>
            </a:r>
            <a:r>
              <a:rPr lang="en-US" dirty="0">
                <a:latin typeface="Times New Roman" panose="02020603050405020304" pitchFamily="18" charset="0"/>
                <a:cs typeface="Times New Roman" panose="02020603050405020304" pitchFamily="18" charset="0"/>
              </a:rPr>
              <a:t> A tank of gasoline (</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=1.40) is open to the air (</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=1.00). A thin film of liquid floats on the gasoline and has a refractive index that is between 1.00 and 1.40. Light has a wavelength of 570 nm shines perpendicularly down through the air onto this film, and in this light the film looks bright due to constructive interference. The thickness of the film is 242 nm and is the minimum nonzero thickness for which constructive interference to occur. What is the refractive index of the film? </a:t>
            </a:r>
          </a:p>
          <a:p>
            <a:pPr algn="r"/>
            <a:r>
              <a:rPr lang="en-US" dirty="0">
                <a:latin typeface="Times New Roman" panose="02020603050405020304" pitchFamily="18" charset="0"/>
                <a:cs typeface="Times New Roman" panose="02020603050405020304" pitchFamily="18" charset="0"/>
              </a:rPr>
              <a:t>[3 marks]</a:t>
            </a:r>
            <a:endParaRPr lang="en-MY"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63784E7-6D35-FCB8-8494-0191DEE915A3}"/>
              </a:ext>
            </a:extLst>
          </p:cNvPr>
          <p:cNvSpPr txBox="1"/>
          <p:nvPr/>
        </p:nvSpPr>
        <p:spPr>
          <a:xfrm>
            <a:off x="475243" y="3429000"/>
            <a:ext cx="11363827" cy="1200329"/>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c)</a:t>
            </a:r>
            <a:r>
              <a:rPr lang="en-US" dirty="0">
                <a:latin typeface="Times New Roman" panose="02020603050405020304" pitchFamily="18" charset="0"/>
                <a:cs typeface="Times New Roman" panose="02020603050405020304" pitchFamily="18" charset="0"/>
              </a:rPr>
              <a:t> A slit has a width of 2.3 × 10⁻⁶ m. When light of wavelength 580 nm passes through the slit, it creates a central bright fringe on a flat observation screen 1.62 m away. If the slit is then illuminated with light of a longer wavelength 660 nm, to where will the screen need to be moves in order to create a central bright fringe of the same width as the first experiment? </a:t>
            </a:r>
          </a:p>
          <a:p>
            <a:pPr algn="r"/>
            <a:r>
              <a:rPr lang="en-US" dirty="0">
                <a:latin typeface="Times New Roman" panose="02020603050405020304" pitchFamily="18" charset="0"/>
                <a:cs typeface="Times New Roman" panose="02020603050405020304" pitchFamily="18" charset="0"/>
              </a:rPr>
              <a:t>[3 marks]</a:t>
            </a:r>
            <a:endParaRPr lang="en-MY"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D36344C-95CA-CA72-BFDB-543325D17BC5}"/>
              </a:ext>
            </a:extLst>
          </p:cNvPr>
          <p:cNvPicPr>
            <a:picLocks noChangeAspect="1"/>
          </p:cNvPicPr>
          <p:nvPr/>
        </p:nvPicPr>
        <p:blipFill>
          <a:blip r:embed="rId2"/>
          <a:stretch>
            <a:fillRect/>
          </a:stretch>
        </p:blipFill>
        <p:spPr>
          <a:xfrm>
            <a:off x="9095943" y="5906154"/>
            <a:ext cx="3096057" cy="733527"/>
          </a:xfrm>
          <a:prstGeom prst="rect">
            <a:avLst/>
          </a:prstGeom>
        </p:spPr>
      </p:pic>
    </p:spTree>
    <p:extLst>
      <p:ext uri="{BB962C8B-B14F-4D97-AF65-F5344CB8AC3E}">
        <p14:creationId xmlns:p14="http://schemas.microsoft.com/office/powerpoint/2010/main" val="3673888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A6299-6822-500F-67E2-638E6EFE63D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B6A46D6-83A0-8B67-5E01-32B80F73538F}"/>
              </a:ext>
            </a:extLst>
          </p:cNvPr>
          <p:cNvSpPr txBox="1"/>
          <p:nvPr/>
        </p:nvSpPr>
        <p:spPr>
          <a:xfrm>
            <a:off x="653142" y="606309"/>
            <a:ext cx="10929257" cy="1477328"/>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7. a) Semiconductors such as silicon are used to fabricate solar cells, devices that generate electric energy when exposed to sunlight. A silicon solar cell (n = 3.50) is coated with a transparent thin film, such as silicon monoxide (</a:t>
            </a:r>
            <a:r>
              <a:rPr lang="en-US" dirty="0" err="1">
                <a:latin typeface="Times New Roman" panose="02020603050405020304" pitchFamily="18" charset="0"/>
                <a:cs typeface="Times New Roman" panose="02020603050405020304" pitchFamily="18" charset="0"/>
              </a:rPr>
              <a:t>SiO</a:t>
            </a:r>
            <a:r>
              <a:rPr lang="en-US" dirty="0">
                <a:latin typeface="Times New Roman" panose="02020603050405020304" pitchFamily="18" charset="0"/>
                <a:cs typeface="Times New Roman" panose="02020603050405020304" pitchFamily="18" charset="0"/>
              </a:rPr>
              <a:t>; n = 1.45). Determine the minimum thickness of the film that will produce no reflection at a wavelength of 552 nm.</a:t>
            </a:r>
          </a:p>
          <a:p>
            <a:pPr algn="r">
              <a:buNone/>
            </a:pPr>
            <a:r>
              <a:rPr lang="en-US" dirty="0">
                <a:latin typeface="Times New Roman" panose="02020603050405020304" pitchFamily="18" charset="0"/>
                <a:cs typeface="Times New Roman" panose="02020603050405020304" pitchFamily="18" charset="0"/>
              </a:rPr>
              <a:t>[3 marks]</a:t>
            </a:r>
          </a:p>
        </p:txBody>
      </p:sp>
      <p:sp>
        <p:nvSpPr>
          <p:cNvPr id="5" name="TextBox 4">
            <a:extLst>
              <a:ext uri="{FF2B5EF4-FFF2-40B4-BE49-F238E27FC236}">
                <a16:creationId xmlns:a16="http://schemas.microsoft.com/office/drawing/2014/main" id="{89C99F5E-82A5-A3FB-526C-274B127FCBD2}"/>
              </a:ext>
            </a:extLst>
          </p:cNvPr>
          <p:cNvSpPr txBox="1"/>
          <p:nvPr/>
        </p:nvSpPr>
        <p:spPr>
          <a:xfrm>
            <a:off x="653141" y="2228671"/>
            <a:ext cx="10929257" cy="923330"/>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b) Find the width of a single slit that will produce first order diffraction minima at an angle of 21° from the central maximum when red light (λ = 680 nm) is used.</a:t>
            </a:r>
          </a:p>
          <a:p>
            <a:pPr algn="r">
              <a:buNone/>
            </a:pPr>
            <a:r>
              <a:rPr lang="en-US" dirty="0">
                <a:latin typeface="Times New Roman" panose="02020603050405020304" pitchFamily="18" charset="0"/>
                <a:cs typeface="Times New Roman" panose="02020603050405020304" pitchFamily="18" charset="0"/>
              </a:rPr>
              <a:t>[2 marks]</a:t>
            </a:r>
          </a:p>
        </p:txBody>
      </p:sp>
      <p:sp>
        <p:nvSpPr>
          <p:cNvPr id="7" name="TextBox 6">
            <a:extLst>
              <a:ext uri="{FF2B5EF4-FFF2-40B4-BE49-F238E27FC236}">
                <a16:creationId xmlns:a16="http://schemas.microsoft.com/office/drawing/2014/main" id="{CBC85971-6E30-AD41-AB89-6C34B57847E9}"/>
              </a:ext>
            </a:extLst>
          </p:cNvPr>
          <p:cNvSpPr txBox="1"/>
          <p:nvPr/>
        </p:nvSpPr>
        <p:spPr>
          <a:xfrm>
            <a:off x="653140" y="3429000"/>
            <a:ext cx="10929257" cy="1200329"/>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c) Monochromatic light from a helium-neon laser with λ = 632.8 nm is incident normally on a diffraction grating containing 6.00 × 10³ lines/cm. Find the angles at which one would observe the first-order maximum and second-order maximum.</a:t>
            </a:r>
          </a:p>
          <a:p>
            <a:pPr algn="r">
              <a:buNone/>
            </a:pPr>
            <a:r>
              <a:rPr lang="en-US" dirty="0">
                <a:latin typeface="Times New Roman" panose="02020603050405020304" pitchFamily="18" charset="0"/>
                <a:cs typeface="Times New Roman" panose="02020603050405020304" pitchFamily="18" charset="0"/>
              </a:rPr>
              <a:t>[5 marks]</a:t>
            </a:r>
          </a:p>
        </p:txBody>
      </p:sp>
      <p:pic>
        <p:nvPicPr>
          <p:cNvPr id="9" name="Picture 8">
            <a:extLst>
              <a:ext uri="{FF2B5EF4-FFF2-40B4-BE49-F238E27FC236}">
                <a16:creationId xmlns:a16="http://schemas.microsoft.com/office/drawing/2014/main" id="{28A35184-E190-11C5-A75D-325FE204A1C3}"/>
              </a:ext>
            </a:extLst>
          </p:cNvPr>
          <p:cNvPicPr>
            <a:picLocks noChangeAspect="1"/>
          </p:cNvPicPr>
          <p:nvPr/>
        </p:nvPicPr>
        <p:blipFill>
          <a:blip r:embed="rId2"/>
          <a:stretch>
            <a:fillRect/>
          </a:stretch>
        </p:blipFill>
        <p:spPr>
          <a:xfrm>
            <a:off x="7381204" y="5980190"/>
            <a:ext cx="4810796" cy="543001"/>
          </a:xfrm>
          <a:prstGeom prst="rect">
            <a:avLst/>
          </a:prstGeom>
        </p:spPr>
      </p:pic>
    </p:spTree>
    <p:extLst>
      <p:ext uri="{BB962C8B-B14F-4D97-AF65-F5344CB8AC3E}">
        <p14:creationId xmlns:p14="http://schemas.microsoft.com/office/powerpoint/2010/main" val="2055942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67FEA-C60E-CE4E-CF71-E2F786283D7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D795E58A-0646-DC3E-81F9-EF735E59E82F}"/>
              </a:ext>
            </a:extLst>
          </p:cNvPr>
          <p:cNvSpPr txBox="1"/>
          <p:nvPr/>
        </p:nvSpPr>
        <p:spPr>
          <a:xfrm>
            <a:off x="639040" y="376719"/>
            <a:ext cx="10977995" cy="1277273"/>
          </a:xfrm>
          <a:prstGeom prst="rect">
            <a:avLst/>
          </a:prstGeom>
          <a:noFill/>
        </p:spPr>
        <p:txBody>
          <a:bodyPr wrap="square">
            <a:spAutoFit/>
          </a:bodyPr>
          <a:lstStyle/>
          <a:p>
            <a:pPr marL="76200" marR="18415">
              <a:spcBef>
                <a:spcPts val="610"/>
              </a:spcBef>
              <a:buNone/>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7. a) Two parallel slits are illuminated by light composed of two wavelengths. One wavelength is</a:t>
            </a:r>
            <a:r>
              <a:rPr lang="en-US" spc="-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λA</a:t>
            </a:r>
            <a:r>
              <a:rPr lang="en-US" spc="6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656</a:t>
            </a:r>
            <a:r>
              <a:rPr lang="en-US" spc="-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nm.</a:t>
            </a:r>
            <a:r>
              <a:rPr lang="en-US"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other</a:t>
            </a:r>
            <a:r>
              <a:rPr lang="en-US" spc="-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wavelength</a:t>
            </a:r>
            <a:r>
              <a:rPr lang="en-US"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is</a:t>
            </a:r>
            <a:r>
              <a:rPr lang="en-US" spc="-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λB</a:t>
            </a:r>
            <a:r>
              <a:rPr lang="en-US"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is</a:t>
            </a:r>
            <a:r>
              <a:rPr lang="en-US"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unknown.</a:t>
            </a:r>
            <a:r>
              <a:rPr lang="en-US"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On</a:t>
            </a:r>
            <a:r>
              <a:rPr lang="en-US"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pc="-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viewing</a:t>
            </a:r>
            <a:r>
              <a:rPr lang="en-US" spc="-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screen,</a:t>
            </a:r>
            <a:r>
              <a:rPr lang="en-US"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light</a:t>
            </a:r>
            <a:r>
              <a:rPr lang="en-US" spc="-20" dirty="0">
                <a:effectLst/>
                <a:latin typeface="Times New Roman" panose="02020603050405020304" pitchFamily="18" charset="0"/>
                <a:ea typeface="Times New Roman" panose="02020603050405020304" pitchFamily="18" charset="0"/>
                <a:cs typeface="Times New Roman" panose="02020603050405020304" pitchFamily="18" charset="0"/>
              </a:rPr>
              <a:t> with</a:t>
            </a:r>
            <a:r>
              <a:rPr lang="en-MY" spc="-20"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λA</a:t>
            </a:r>
            <a:r>
              <a:rPr lang="en-US" spc="9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produces its</a:t>
            </a:r>
            <a:r>
              <a:rPr lang="en-US"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third-order bright fringe at the</a:t>
            </a:r>
            <a:r>
              <a:rPr lang="en-US"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same place where</a:t>
            </a:r>
            <a:r>
              <a:rPr lang="en-US"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light with</a:t>
            </a:r>
            <a:r>
              <a:rPr lang="en-US"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λB</a:t>
            </a:r>
            <a:r>
              <a:rPr lang="en-US" spc="9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produces its fourth dark fringe. What is the unknown wavelength?</a:t>
            </a:r>
          </a:p>
          <a:p>
            <a:pPr marL="76200" marR="18415" algn="r">
              <a:spcBef>
                <a:spcPts val="610"/>
              </a:spcBef>
              <a:buNone/>
            </a:pPr>
            <a:r>
              <a:rPr lang="en-MY" dirty="0">
                <a:latin typeface="Times New Roman" panose="02020603050405020304" pitchFamily="18" charset="0"/>
                <a:cs typeface="Times New Roman" panose="02020603050405020304" pitchFamily="18" charset="0"/>
              </a:rPr>
              <a:t>[3 marks]</a:t>
            </a:r>
          </a:p>
        </p:txBody>
      </p:sp>
      <p:sp>
        <p:nvSpPr>
          <p:cNvPr id="11" name="TextBox 10">
            <a:extLst>
              <a:ext uri="{FF2B5EF4-FFF2-40B4-BE49-F238E27FC236}">
                <a16:creationId xmlns:a16="http://schemas.microsoft.com/office/drawing/2014/main" id="{57B160C5-F3D0-4923-E262-0C78E5E8D543}"/>
              </a:ext>
            </a:extLst>
          </p:cNvPr>
          <p:cNvSpPr txBox="1"/>
          <p:nvPr/>
        </p:nvSpPr>
        <p:spPr>
          <a:xfrm>
            <a:off x="761132" y="1653992"/>
            <a:ext cx="10733810" cy="1477328"/>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b) Light of wavelength 580 nm is incident on a slit of width 0.3 mm. The observing screen is placed 2.0 m from the slit. </a:t>
            </a:r>
          </a:p>
          <a:p>
            <a:pPr marL="400050" indent="-400050">
              <a:buAutoNum type="romanLcParenR"/>
            </a:pPr>
            <a:r>
              <a:rPr lang="en-US" dirty="0">
                <a:latin typeface="Times New Roman" panose="02020603050405020304" pitchFamily="18" charset="0"/>
                <a:cs typeface="Times New Roman" panose="02020603050405020304" pitchFamily="18" charset="0"/>
              </a:rPr>
              <a:t>Find the position of the first dark fringe.</a:t>
            </a:r>
          </a:p>
          <a:p>
            <a:pPr marL="400050" indent="-400050">
              <a:buAutoNum type="romanLcParenR"/>
            </a:pPr>
            <a:r>
              <a:rPr lang="en-US" dirty="0">
                <a:latin typeface="Times New Roman" panose="02020603050405020304" pitchFamily="18" charset="0"/>
                <a:cs typeface="Times New Roman" panose="02020603050405020304" pitchFamily="18" charset="0"/>
              </a:rPr>
              <a:t>Calculate the width of the central bright fringe. </a:t>
            </a:r>
          </a:p>
          <a:p>
            <a:pPr algn="r"/>
            <a:r>
              <a:rPr lang="en-US" dirty="0">
                <a:latin typeface="Times New Roman" panose="02020603050405020304" pitchFamily="18" charset="0"/>
                <a:cs typeface="Times New Roman" panose="02020603050405020304" pitchFamily="18" charset="0"/>
              </a:rPr>
              <a:t>[4 marks]</a:t>
            </a:r>
            <a:endParaRPr lang="en-MY"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2DFEAAF6-5E00-82AB-5CA1-BAD9E6AB1326}"/>
              </a:ext>
            </a:extLst>
          </p:cNvPr>
          <p:cNvSpPr txBox="1"/>
          <p:nvPr/>
        </p:nvSpPr>
        <p:spPr>
          <a:xfrm>
            <a:off x="761132" y="3131320"/>
            <a:ext cx="10733810"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 A monochromatic light 483 nm is incident on a diffraction grating with 560 lines per cm. The second order maximum produced at angle of 3.1°. Calculate the number of diffraction pattern that can be formed.</a:t>
            </a:r>
          </a:p>
          <a:p>
            <a:pPr algn="r"/>
            <a:r>
              <a:rPr lang="en-US" dirty="0">
                <a:latin typeface="Times New Roman" panose="02020603050405020304" pitchFamily="18" charset="0"/>
                <a:cs typeface="Times New Roman" panose="02020603050405020304" pitchFamily="18" charset="0"/>
              </a:rPr>
              <a:t> [3 marks]</a:t>
            </a:r>
            <a:endParaRPr lang="en-MY"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9654C2C9-6F50-9511-745E-C1C7B96A3ECC}"/>
              </a:ext>
            </a:extLst>
          </p:cNvPr>
          <p:cNvPicPr>
            <a:picLocks noChangeAspect="1"/>
          </p:cNvPicPr>
          <p:nvPr/>
        </p:nvPicPr>
        <p:blipFill>
          <a:blip r:embed="rId2"/>
          <a:stretch>
            <a:fillRect/>
          </a:stretch>
        </p:blipFill>
        <p:spPr>
          <a:xfrm>
            <a:off x="7362151" y="5943585"/>
            <a:ext cx="4829849" cy="743054"/>
          </a:xfrm>
          <a:prstGeom prst="rect">
            <a:avLst/>
          </a:prstGeom>
        </p:spPr>
      </p:pic>
    </p:spTree>
    <p:extLst>
      <p:ext uri="{BB962C8B-B14F-4D97-AF65-F5344CB8AC3E}">
        <p14:creationId xmlns:p14="http://schemas.microsoft.com/office/powerpoint/2010/main" val="1920840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708449-7937-3028-5482-AFA4FFAC4B35}"/>
              </a:ext>
            </a:extLst>
          </p:cNvPr>
          <p:cNvSpPr txBox="1"/>
          <p:nvPr/>
        </p:nvSpPr>
        <p:spPr>
          <a:xfrm>
            <a:off x="466298" y="388794"/>
            <a:ext cx="11259403" cy="2862322"/>
          </a:xfrm>
          <a:prstGeom prst="rect">
            <a:avLst/>
          </a:prstGeom>
          <a:noFill/>
        </p:spPr>
        <p:txBody>
          <a:bodyPr wrap="square">
            <a:spAutoFit/>
          </a:bodyPr>
          <a:lstStyle/>
          <a:p>
            <a:r>
              <a:rPr lang="en-MY" sz="1800" dirty="0">
                <a:solidFill>
                  <a:srgbClr val="000000"/>
                </a:solidFill>
                <a:effectLst/>
                <a:latin typeface="Times New Roman" panose="02020603050405020304" pitchFamily="18" charset="0"/>
                <a:ea typeface="Aptos" panose="020B0004020202020204" pitchFamily="34" charset="0"/>
              </a:rPr>
              <a:t>7(a)   An oil film (n =1.38) floats on the water puddle (n = 1.33). You notice that green light (λ = 521 nm) is absent in the reflection. What is the minimum thickness of the oil film</a:t>
            </a:r>
            <a:r>
              <a:rPr lang="en-MY" dirty="0">
                <a:solidFill>
                  <a:srgbClr val="000000"/>
                </a:solidFill>
                <a:latin typeface="Times New Roman" panose="02020603050405020304" pitchFamily="18" charset="0"/>
                <a:ea typeface="Aptos" panose="020B0004020202020204" pitchFamily="34" charset="0"/>
              </a:rPr>
              <a:t> when</a:t>
            </a:r>
            <a:r>
              <a:rPr lang="en-MY" sz="1800" dirty="0">
                <a:solidFill>
                  <a:srgbClr val="000000"/>
                </a:solidFill>
                <a:effectLst/>
                <a:latin typeface="Times New Roman" panose="02020603050405020304" pitchFamily="18" charset="0"/>
                <a:ea typeface="Aptos" panose="020B0004020202020204" pitchFamily="34" charset="0"/>
              </a:rPr>
              <a:t>	</a:t>
            </a:r>
          </a:p>
          <a:p>
            <a:r>
              <a:rPr lang="en-MY" sz="1800" dirty="0">
                <a:solidFill>
                  <a:srgbClr val="000000"/>
                </a:solidFill>
                <a:effectLst/>
                <a:latin typeface="Times New Roman" panose="02020603050405020304" pitchFamily="18" charset="0"/>
                <a:ea typeface="Aptos" panose="020B0004020202020204" pitchFamily="34" charset="0"/>
              </a:rPr>
              <a:t>	(</a:t>
            </a:r>
            <a:r>
              <a:rPr lang="en-MY" sz="1800" dirty="0" err="1">
                <a:solidFill>
                  <a:srgbClr val="000000"/>
                </a:solidFill>
                <a:effectLst/>
                <a:latin typeface="Times New Roman" panose="02020603050405020304" pitchFamily="18" charset="0"/>
                <a:ea typeface="Aptos" panose="020B0004020202020204" pitchFamily="34" charset="0"/>
              </a:rPr>
              <a:t>i</a:t>
            </a:r>
            <a:r>
              <a:rPr lang="en-MY" dirty="0">
                <a:solidFill>
                  <a:srgbClr val="000000"/>
                </a:solidFill>
                <a:latin typeface="Times New Roman" panose="02020603050405020304" pitchFamily="18" charset="0"/>
                <a:ea typeface="Aptos" panose="020B0004020202020204" pitchFamily="34" charset="0"/>
              </a:rPr>
              <a:t>) You notice that green light (λ = 521 nm) is absent in the reflection </a:t>
            </a:r>
          </a:p>
          <a:p>
            <a:r>
              <a:rPr lang="en-MY" sz="1800" dirty="0">
                <a:solidFill>
                  <a:srgbClr val="000000"/>
                </a:solidFill>
                <a:effectLst/>
                <a:latin typeface="Times New Roman" panose="02020603050405020304" pitchFamily="18" charset="0"/>
                <a:ea typeface="Aptos" panose="020B0004020202020204" pitchFamily="34" charset="0"/>
              </a:rPr>
              <a:t>	(ii) </a:t>
            </a:r>
            <a:r>
              <a:rPr lang="en-MY" dirty="0">
                <a:solidFill>
                  <a:srgbClr val="000000"/>
                </a:solidFill>
                <a:latin typeface="Times New Roman" panose="02020603050405020304" pitchFamily="18" charset="0"/>
                <a:ea typeface="Aptos" panose="020B0004020202020204" pitchFamily="34" charset="0"/>
              </a:rPr>
              <a:t>You notice that green light (λ = 521 nm) is present in the reflection </a:t>
            </a:r>
            <a:r>
              <a:rPr lang="en-MY" sz="1800" dirty="0">
                <a:solidFill>
                  <a:srgbClr val="000000"/>
                </a:solidFill>
                <a:effectLst/>
                <a:latin typeface="Times New Roman" panose="02020603050405020304" pitchFamily="18" charset="0"/>
                <a:ea typeface="Aptos" panose="020B0004020202020204" pitchFamily="34" charset="0"/>
              </a:rPr>
              <a:t>															[</a:t>
            </a:r>
            <a:r>
              <a:rPr lang="en-MY" dirty="0">
                <a:solidFill>
                  <a:srgbClr val="000000"/>
                </a:solidFill>
                <a:latin typeface="Times New Roman" panose="02020603050405020304" pitchFamily="18" charset="0"/>
                <a:ea typeface="Aptos" panose="020B0004020202020204" pitchFamily="34" charset="0"/>
              </a:rPr>
              <a:t>4</a:t>
            </a:r>
            <a:r>
              <a:rPr lang="en-MY" sz="1800" dirty="0">
                <a:solidFill>
                  <a:srgbClr val="000000"/>
                </a:solidFill>
                <a:effectLst/>
                <a:latin typeface="Times New Roman" panose="02020603050405020304" pitchFamily="18" charset="0"/>
                <a:ea typeface="Aptos" panose="020B0004020202020204" pitchFamily="34" charset="0"/>
              </a:rPr>
              <a:t> </a:t>
            </a:r>
            <a:r>
              <a:rPr lang="en-MY" sz="1800" i="1" dirty="0">
                <a:solidFill>
                  <a:srgbClr val="000000"/>
                </a:solidFill>
                <a:effectLst/>
                <a:latin typeface="Times New Roman" panose="02020603050405020304" pitchFamily="18" charset="0"/>
                <a:ea typeface="Aptos" panose="020B0004020202020204" pitchFamily="34" charset="0"/>
              </a:rPr>
              <a:t>marks</a:t>
            </a:r>
            <a:r>
              <a:rPr lang="en-MY" sz="1800" dirty="0">
                <a:solidFill>
                  <a:srgbClr val="000000"/>
                </a:solidFill>
                <a:effectLst/>
                <a:latin typeface="Times New Roman" panose="02020603050405020304" pitchFamily="18" charset="0"/>
                <a:ea typeface="Aptos" panose="020B0004020202020204" pitchFamily="34" charset="0"/>
              </a:rPr>
              <a:t>] </a:t>
            </a:r>
            <a:endParaRPr lang="en-MY" sz="2000" dirty="0">
              <a:solidFill>
                <a:srgbClr val="000000"/>
              </a:solidFill>
              <a:effectLst/>
              <a:latin typeface="Times New Roman" panose="02020603050405020304" pitchFamily="18" charset="0"/>
              <a:ea typeface="Aptos" panose="020B0004020202020204" pitchFamily="34" charset="0"/>
            </a:endParaRPr>
          </a:p>
          <a:p>
            <a:pPr>
              <a:buNone/>
            </a:pPr>
            <a:r>
              <a:rPr lang="en-MY" sz="1800" dirty="0">
                <a:solidFill>
                  <a:srgbClr val="000000"/>
                </a:solidFill>
                <a:effectLst/>
                <a:latin typeface="Times New Roman" panose="02020603050405020304" pitchFamily="18" charset="0"/>
                <a:ea typeface="Aptos" panose="020B0004020202020204" pitchFamily="34" charset="0"/>
              </a:rPr>
              <a:t> </a:t>
            </a:r>
            <a:endParaRPr lang="en-MY" sz="2000" dirty="0">
              <a:solidFill>
                <a:srgbClr val="000000"/>
              </a:solidFill>
              <a:effectLst/>
              <a:latin typeface="Times New Roman" panose="02020603050405020304" pitchFamily="18" charset="0"/>
              <a:ea typeface="Aptos" panose="020B0004020202020204" pitchFamily="34" charset="0"/>
            </a:endParaRPr>
          </a:p>
          <a:p>
            <a:pPr>
              <a:buNone/>
            </a:pPr>
            <a:r>
              <a:rPr lang="en-MY" sz="1800" dirty="0">
                <a:solidFill>
                  <a:srgbClr val="000000"/>
                </a:solidFill>
                <a:effectLst/>
                <a:latin typeface="Times New Roman" panose="02020603050405020304" pitchFamily="18" charset="0"/>
                <a:ea typeface="Aptos" panose="020B0004020202020204" pitchFamily="34" charset="0"/>
              </a:rPr>
              <a:t>(b) A monochromatic light of wavelength, 650 nm fell upon a single slit 4 x 10</a:t>
            </a:r>
            <a:r>
              <a:rPr lang="en-MY" sz="1800" baseline="30000" dirty="0">
                <a:solidFill>
                  <a:srgbClr val="000000"/>
                </a:solidFill>
                <a:effectLst/>
                <a:latin typeface="Times New Roman" panose="02020603050405020304" pitchFamily="18" charset="0"/>
                <a:ea typeface="Aptos" panose="020B0004020202020204" pitchFamily="34" charset="0"/>
              </a:rPr>
              <a:t>-6</a:t>
            </a:r>
            <a:r>
              <a:rPr lang="en-MY" sz="1800" dirty="0">
                <a:solidFill>
                  <a:srgbClr val="000000"/>
                </a:solidFill>
                <a:effectLst/>
                <a:latin typeface="Times New Roman" panose="02020603050405020304" pitchFamily="18" charset="0"/>
                <a:ea typeface="Aptos" panose="020B0004020202020204" pitchFamily="34" charset="0"/>
              </a:rPr>
              <a:t> . If the screen is placed at 8 cm from the slit, calculate </a:t>
            </a:r>
            <a:endParaRPr lang="en-MY" sz="2000" dirty="0">
              <a:solidFill>
                <a:srgbClr val="000000"/>
              </a:solidFill>
              <a:effectLst/>
              <a:latin typeface="Times New Roman" panose="02020603050405020304" pitchFamily="18" charset="0"/>
              <a:ea typeface="Aptos" panose="020B0004020202020204" pitchFamily="34" charset="0"/>
            </a:endParaRPr>
          </a:p>
          <a:p>
            <a:pPr marL="342900" lvl="0" indent="-342900">
              <a:buFont typeface="+mj-lt"/>
              <a:buAutoNum type="romanLcPeriod"/>
            </a:pPr>
            <a:r>
              <a:rPr lang="en-MY" sz="1800" dirty="0">
                <a:solidFill>
                  <a:srgbClr val="000000"/>
                </a:solidFill>
                <a:effectLst/>
                <a:latin typeface="Times New Roman" panose="02020603050405020304" pitchFamily="18" charset="0"/>
                <a:ea typeface="Aptos" panose="020B0004020202020204" pitchFamily="34" charset="0"/>
              </a:rPr>
              <a:t>the width of the central bright fringe. </a:t>
            </a:r>
            <a:endParaRPr lang="en-MY" sz="2000" dirty="0">
              <a:solidFill>
                <a:srgbClr val="000000"/>
              </a:solidFill>
              <a:effectLst/>
              <a:latin typeface="Times New Roman" panose="02020603050405020304" pitchFamily="18" charset="0"/>
              <a:ea typeface="Aptos" panose="020B0004020202020204" pitchFamily="34" charset="0"/>
            </a:endParaRPr>
          </a:p>
          <a:p>
            <a:pPr marL="342900" lvl="0" indent="-342900">
              <a:buFont typeface="+mj-lt"/>
              <a:buAutoNum type="romanLcPeriod"/>
            </a:pPr>
            <a:r>
              <a:rPr lang="en-MY" sz="1800" dirty="0">
                <a:solidFill>
                  <a:srgbClr val="000000"/>
                </a:solidFill>
                <a:effectLst/>
                <a:latin typeface="Times New Roman" panose="02020603050405020304" pitchFamily="18" charset="0"/>
                <a:ea typeface="Aptos" panose="020B0004020202020204" pitchFamily="34" charset="0"/>
              </a:rPr>
              <a:t>the distance of the fourth dark fringe from the central bright fringe. 				[6 marks] </a:t>
            </a:r>
            <a:endParaRPr lang="en-MY" sz="2000" dirty="0">
              <a:solidFill>
                <a:srgbClr val="000000"/>
              </a:solidFill>
              <a:effectLst/>
              <a:latin typeface="Times New Roman" panose="02020603050405020304" pitchFamily="18" charset="0"/>
              <a:ea typeface="Aptos" panose="020B0004020202020204" pitchFamily="34" charset="0"/>
            </a:endParaRPr>
          </a:p>
        </p:txBody>
      </p:sp>
      <p:pic>
        <p:nvPicPr>
          <p:cNvPr id="5" name="Picture 4">
            <a:extLst>
              <a:ext uri="{FF2B5EF4-FFF2-40B4-BE49-F238E27FC236}">
                <a16:creationId xmlns:a16="http://schemas.microsoft.com/office/drawing/2014/main" id="{6DF70668-2C01-7E7D-5779-EF6ABACAC1A7}"/>
              </a:ext>
            </a:extLst>
          </p:cNvPr>
          <p:cNvPicPr>
            <a:picLocks noChangeAspect="1"/>
          </p:cNvPicPr>
          <p:nvPr/>
        </p:nvPicPr>
        <p:blipFill>
          <a:blip r:embed="rId2"/>
          <a:stretch>
            <a:fillRect/>
          </a:stretch>
        </p:blipFill>
        <p:spPr>
          <a:xfrm>
            <a:off x="9107500" y="5346673"/>
            <a:ext cx="2791215" cy="1028844"/>
          </a:xfrm>
          <a:prstGeom prst="rect">
            <a:avLst/>
          </a:prstGeom>
        </p:spPr>
      </p:pic>
    </p:spTree>
    <p:extLst>
      <p:ext uri="{BB962C8B-B14F-4D97-AF65-F5344CB8AC3E}">
        <p14:creationId xmlns:p14="http://schemas.microsoft.com/office/powerpoint/2010/main" val="1921363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68AA65-4221-2450-317B-7ADE945B2B8A}"/>
              </a:ext>
            </a:extLst>
          </p:cNvPr>
          <p:cNvSpPr txBox="1"/>
          <p:nvPr/>
        </p:nvSpPr>
        <p:spPr>
          <a:xfrm>
            <a:off x="619432" y="431618"/>
            <a:ext cx="11326761" cy="3263970"/>
          </a:xfrm>
          <a:prstGeom prst="rect">
            <a:avLst/>
          </a:prstGeom>
          <a:noFill/>
        </p:spPr>
        <p:txBody>
          <a:bodyPr wrap="square">
            <a:spAutoFit/>
          </a:bodyPr>
          <a:lstStyle/>
          <a:p>
            <a:pPr marR="626745" lvl="0">
              <a:lnSpc>
                <a:spcPct val="115000"/>
              </a:lnSpc>
              <a:spcBef>
                <a:spcPts val="890"/>
              </a:spcBef>
              <a:buSzPts val="1100"/>
              <a:tabLst>
                <a:tab pos="949325" algn="l"/>
                <a:tab pos="950595" algn="l"/>
              </a:tabLst>
            </a:pPr>
            <a:r>
              <a:rPr lang="ms-MY" spc="0" dirty="0">
                <a:effectLst/>
                <a:latin typeface="Times New Roman" panose="02020603050405020304" pitchFamily="18" charset="0"/>
                <a:ea typeface="Times New Roman" panose="02020603050405020304" pitchFamily="18" charset="0"/>
              </a:rPr>
              <a:t>7(a)   In</a:t>
            </a:r>
            <a:r>
              <a:rPr lang="ms-MY" spc="-5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a</a:t>
            </a:r>
            <a:r>
              <a:rPr lang="ms-MY" spc="-6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Young’s</a:t>
            </a:r>
            <a:r>
              <a:rPr lang="ms-MY" spc="-5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double</a:t>
            </a:r>
            <a:r>
              <a:rPr lang="ms-MY" spc="-5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slit</a:t>
            </a:r>
            <a:r>
              <a:rPr lang="ms-MY" spc="-5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experiment,</a:t>
            </a:r>
            <a:r>
              <a:rPr lang="ms-MY" spc="-5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the</a:t>
            </a:r>
            <a:r>
              <a:rPr lang="ms-MY" spc="-5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separation</a:t>
            </a:r>
            <a:r>
              <a:rPr lang="ms-MY" spc="-4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between</a:t>
            </a:r>
            <a:r>
              <a:rPr lang="ms-MY" spc="-5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the</a:t>
            </a:r>
            <a:r>
              <a:rPr lang="ms-MY" spc="-5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slits</a:t>
            </a:r>
            <a:r>
              <a:rPr lang="ms-MY" spc="-6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is</a:t>
            </a:r>
            <a:r>
              <a:rPr lang="ms-MY" spc="-5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0.10</a:t>
            </a:r>
            <a:r>
              <a:rPr lang="ms-MY" spc="-7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mm</a:t>
            </a:r>
            <a:r>
              <a:rPr lang="ms-MY" spc="-5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and the screen is placed at a distance 2.0 m from the slits. If a monochromatic light is incident on slits, the distance between the 10</a:t>
            </a:r>
            <a:r>
              <a:rPr lang="ms-MY" spc="0" baseline="30000" dirty="0">
                <a:effectLst/>
                <a:latin typeface="Times New Roman" panose="02020603050405020304" pitchFamily="18" charset="0"/>
                <a:ea typeface="Times New Roman" panose="02020603050405020304" pitchFamily="18" charset="0"/>
              </a:rPr>
              <a:t>th</a:t>
            </a:r>
            <a:r>
              <a:rPr lang="ms-MY" spc="0" dirty="0">
                <a:effectLst/>
                <a:latin typeface="Times New Roman" panose="02020603050405020304" pitchFamily="18" charset="0"/>
                <a:ea typeface="Times New Roman" panose="02020603050405020304" pitchFamily="18" charset="0"/>
              </a:rPr>
              <a:t> bright fringe and the 5</a:t>
            </a:r>
            <a:r>
              <a:rPr lang="ms-MY" spc="0" baseline="30000" dirty="0">
                <a:effectLst/>
                <a:latin typeface="Times New Roman" panose="02020603050405020304" pitchFamily="18" charset="0"/>
                <a:ea typeface="Times New Roman" panose="02020603050405020304" pitchFamily="18" charset="0"/>
              </a:rPr>
              <a:t>th</a:t>
            </a:r>
            <a:r>
              <a:rPr lang="ms-MY" spc="0" dirty="0">
                <a:effectLst/>
                <a:latin typeface="Times New Roman" panose="02020603050405020304" pitchFamily="18" charset="0"/>
                <a:ea typeface="Times New Roman" panose="02020603050405020304" pitchFamily="18" charset="0"/>
              </a:rPr>
              <a:t> dark fringe </a:t>
            </a:r>
            <a:r>
              <a:rPr lang="ms-MY" dirty="0">
                <a:effectLst/>
                <a:latin typeface="Times New Roman" panose="02020603050405020304" pitchFamily="18" charset="0"/>
                <a:ea typeface="Times New Roman" panose="02020603050405020304" pitchFamily="18" charset="0"/>
              </a:rPr>
              <a:t>is</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40.0</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mm.</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Determine</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wavelength</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of</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a:t>
            </a:r>
            <a:r>
              <a:rPr lang="ms-MY" spc="-5" dirty="0">
                <a:effectLst/>
                <a:latin typeface="Times New Roman" panose="02020603050405020304" pitchFamily="18" charset="0"/>
                <a:ea typeface="Times New Roman" panose="02020603050405020304" pitchFamily="18" charset="0"/>
              </a:rPr>
              <a:t> </a:t>
            </a:r>
            <a:r>
              <a:rPr lang="ms-MY" spc="-10" dirty="0">
                <a:effectLst/>
                <a:latin typeface="Times New Roman" panose="02020603050405020304" pitchFamily="18" charset="0"/>
                <a:ea typeface="Times New Roman" panose="02020603050405020304" pitchFamily="18" charset="0"/>
              </a:rPr>
              <a:t>light.		</a:t>
            </a:r>
            <a:r>
              <a:rPr lang="ms-MY" dirty="0">
                <a:effectLst/>
                <a:latin typeface="Times New Roman" panose="02020603050405020304" pitchFamily="18" charset="0"/>
                <a:ea typeface="Times New Roman" panose="02020603050405020304" pitchFamily="18" charset="0"/>
              </a:rPr>
              <a:t>[5 </a:t>
            </a:r>
            <a:r>
              <a:rPr lang="ms-MY" i="1" spc="-10" dirty="0">
                <a:effectLst/>
                <a:latin typeface="Times New Roman" panose="02020603050405020304" pitchFamily="18" charset="0"/>
                <a:ea typeface="Times New Roman" panose="02020603050405020304" pitchFamily="18" charset="0"/>
              </a:rPr>
              <a:t>marks</a:t>
            </a:r>
            <a:r>
              <a:rPr lang="ms-MY" spc="-10" dirty="0">
                <a:effectLst/>
                <a:latin typeface="Times New Roman" panose="02020603050405020304" pitchFamily="18" charset="0"/>
                <a:ea typeface="Times New Roman" panose="02020603050405020304" pitchFamily="18" charset="0"/>
              </a:rPr>
              <a:t>]</a:t>
            </a:r>
            <a:endParaRPr lang="en-MY" dirty="0">
              <a:effectLst/>
              <a:latin typeface="Times New Roman" panose="02020603050405020304" pitchFamily="18" charset="0"/>
              <a:ea typeface="Times New Roman" panose="02020603050405020304" pitchFamily="18" charset="0"/>
            </a:endParaRPr>
          </a:p>
          <a:p>
            <a:pPr>
              <a:buNone/>
            </a:pPr>
            <a:br>
              <a:rPr lang="ms-MY" dirty="0">
                <a:effectLst/>
                <a:latin typeface="Times New Roman" panose="02020603050405020304" pitchFamily="18" charset="0"/>
                <a:ea typeface="Times New Roman" panose="02020603050405020304" pitchFamily="18" charset="0"/>
              </a:rPr>
            </a:br>
            <a:r>
              <a:rPr lang="ms-MY" dirty="0">
                <a:effectLst/>
                <a:latin typeface="Times New Roman" panose="02020603050405020304" pitchFamily="18" charset="0"/>
                <a:ea typeface="Times New Roman" panose="02020603050405020304" pitchFamily="18" charset="0"/>
              </a:rPr>
              <a:t>(b)   </a:t>
            </a:r>
            <a:r>
              <a:rPr lang="ms-MY" spc="0" dirty="0">
                <a:effectLst/>
                <a:latin typeface="Times New Roman" panose="02020603050405020304" pitchFamily="18" charset="0"/>
                <a:ea typeface="Times New Roman" panose="02020603050405020304" pitchFamily="18" charset="0"/>
              </a:rPr>
              <a:t>A diffraction grating of length 0.025 m has 20 000 slits. If a monochromatic light with a wavelength of 590 nm is incident on the grating determine the</a:t>
            </a:r>
            <a:endParaRPr lang="en-MY" spc="0" dirty="0">
              <a:effectLst/>
              <a:latin typeface="Times New Roman" panose="02020603050405020304" pitchFamily="18" charset="0"/>
              <a:ea typeface="Times New Roman" panose="02020603050405020304" pitchFamily="18" charset="0"/>
            </a:endParaRPr>
          </a:p>
          <a:p>
            <a:br>
              <a:rPr lang="ms-MY" dirty="0">
                <a:effectLst/>
                <a:latin typeface="Times New Roman" panose="02020603050405020304" pitchFamily="18" charset="0"/>
                <a:ea typeface="Times New Roman" panose="02020603050405020304" pitchFamily="18" charset="0"/>
              </a:rPr>
            </a:br>
            <a:r>
              <a:rPr lang="ms-MY" dirty="0">
                <a:effectLst/>
                <a:latin typeface="Times New Roman" panose="02020603050405020304" pitchFamily="18" charset="0"/>
                <a:ea typeface="Times New Roman" panose="02020603050405020304" pitchFamily="18" charset="0"/>
              </a:rPr>
              <a:t>(i)   </a:t>
            </a:r>
            <a:r>
              <a:rPr lang="ms-MY" spc="0" dirty="0">
                <a:effectLst/>
                <a:latin typeface="Times New Roman" panose="02020603050405020304" pitchFamily="18" charset="0"/>
                <a:ea typeface="Times New Roman" panose="02020603050405020304" pitchFamily="18" charset="0"/>
              </a:rPr>
              <a:t>number</a:t>
            </a:r>
            <a:r>
              <a:rPr lang="ms-MY" spc="-1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of slit per unit </a:t>
            </a:r>
            <a:r>
              <a:rPr lang="ms-MY" spc="-10" dirty="0">
                <a:effectLst/>
                <a:latin typeface="Times New Roman" panose="02020603050405020304" pitchFamily="18" charset="0"/>
                <a:ea typeface="Times New Roman" panose="02020603050405020304" pitchFamily="18" charset="0"/>
              </a:rPr>
              <a:t>length.							</a:t>
            </a:r>
            <a:r>
              <a:rPr lang="ms-MY" dirty="0">
                <a:effectLst/>
                <a:latin typeface="Times New Roman" panose="02020603050405020304" pitchFamily="18" charset="0"/>
                <a:ea typeface="Times New Roman" panose="02020603050405020304" pitchFamily="18" charset="0"/>
              </a:rPr>
              <a:t>[2 </a:t>
            </a:r>
            <a:r>
              <a:rPr lang="ms-MY" i="1" spc="-10" dirty="0">
                <a:effectLst/>
                <a:latin typeface="Times New Roman" panose="02020603050405020304" pitchFamily="18" charset="0"/>
                <a:ea typeface="Times New Roman" panose="02020603050405020304" pitchFamily="18" charset="0"/>
              </a:rPr>
              <a:t>mark</a:t>
            </a:r>
            <a:r>
              <a:rPr lang="ms-MY" spc="-10" dirty="0">
                <a:effectLst/>
                <a:latin typeface="Times New Roman" panose="02020603050405020304" pitchFamily="18" charset="0"/>
                <a:ea typeface="Times New Roman" panose="02020603050405020304" pitchFamily="18" charset="0"/>
              </a:rPr>
              <a:t>]</a:t>
            </a:r>
            <a:endParaRPr lang="en-MY" dirty="0">
              <a:latin typeface="Times New Roman" panose="02020603050405020304" pitchFamily="18" charset="0"/>
              <a:ea typeface="Times New Roman" panose="02020603050405020304" pitchFamily="18" charset="0"/>
            </a:endParaRPr>
          </a:p>
          <a:p>
            <a:r>
              <a:rPr lang="en-MY" spc="0" dirty="0">
                <a:effectLst/>
                <a:latin typeface="Times New Roman" panose="02020603050405020304" pitchFamily="18" charset="0"/>
                <a:ea typeface="Times New Roman" panose="02020603050405020304" pitchFamily="18" charset="0"/>
              </a:rPr>
              <a:t>(ii)  </a:t>
            </a:r>
            <a:r>
              <a:rPr lang="ms-MY" spc="0" dirty="0">
                <a:effectLst/>
                <a:latin typeface="Times New Roman" panose="02020603050405020304" pitchFamily="18" charset="0"/>
                <a:ea typeface="Times New Roman" panose="02020603050405020304" pitchFamily="18" charset="0"/>
              </a:rPr>
              <a:t>position</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of</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the</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1</a:t>
            </a:r>
            <a:r>
              <a:rPr lang="ms-MY" spc="0" baseline="30000" dirty="0">
                <a:effectLst/>
                <a:latin typeface="Times New Roman" panose="02020603050405020304" pitchFamily="18" charset="0"/>
                <a:ea typeface="Times New Roman" panose="02020603050405020304" pitchFamily="18" charset="0"/>
              </a:rPr>
              <a:t>st</a:t>
            </a:r>
            <a:r>
              <a:rPr lang="ms-MY" spc="0" dirty="0">
                <a:effectLst/>
                <a:latin typeface="Times New Roman" panose="02020603050405020304" pitchFamily="18" charset="0"/>
                <a:ea typeface="Times New Roman" panose="02020603050405020304" pitchFamily="18" charset="0"/>
              </a:rPr>
              <a:t> order </a:t>
            </a:r>
            <a:r>
              <a:rPr lang="ms-MY" spc="-10" dirty="0">
                <a:effectLst/>
                <a:latin typeface="Times New Roman" panose="02020603050405020304" pitchFamily="18" charset="0"/>
                <a:ea typeface="Times New Roman" panose="02020603050405020304" pitchFamily="18" charset="0"/>
              </a:rPr>
              <a:t>maximum.							</a:t>
            </a:r>
            <a:r>
              <a:rPr lang="ms-MY" dirty="0">
                <a:effectLst/>
                <a:latin typeface="Times New Roman" panose="02020603050405020304" pitchFamily="18" charset="0"/>
                <a:ea typeface="Times New Roman" panose="02020603050405020304" pitchFamily="18" charset="0"/>
              </a:rPr>
              <a:t>[3 </a:t>
            </a:r>
            <a:r>
              <a:rPr lang="ms-MY" i="1" spc="-10" dirty="0">
                <a:effectLst/>
                <a:latin typeface="Times New Roman" panose="02020603050405020304" pitchFamily="18" charset="0"/>
                <a:ea typeface="Times New Roman" panose="02020603050405020304" pitchFamily="18" charset="0"/>
              </a:rPr>
              <a:t>marks</a:t>
            </a:r>
            <a:endParaRPr lang="en-MY" spc="0" dirty="0">
              <a:effectLst/>
              <a:latin typeface="Times New Roman" panose="02020603050405020304" pitchFamily="18" charset="0"/>
              <a:ea typeface="Times New Roman" panose="02020603050405020304" pitchFamily="18" charset="0"/>
            </a:endParaRPr>
          </a:p>
          <a:p>
            <a:pPr>
              <a:buNone/>
            </a:pPr>
            <a:br>
              <a:rPr lang="ms-MY" dirty="0">
                <a:effectLst/>
                <a:latin typeface="Times New Roman" panose="02020603050405020304" pitchFamily="18" charset="0"/>
                <a:ea typeface="Times New Roman" panose="02020603050405020304" pitchFamily="18" charset="0"/>
              </a:rPr>
            </a:br>
            <a:endParaRPr lang="en-MY" dirty="0">
              <a:effectLst/>
            </a:endParaRPr>
          </a:p>
        </p:txBody>
      </p:sp>
      <p:pic>
        <p:nvPicPr>
          <p:cNvPr id="5" name="Picture 4">
            <a:extLst>
              <a:ext uri="{FF2B5EF4-FFF2-40B4-BE49-F238E27FC236}">
                <a16:creationId xmlns:a16="http://schemas.microsoft.com/office/drawing/2014/main" id="{1A572B73-578F-580A-BD7C-CD50AC78391F}"/>
              </a:ext>
            </a:extLst>
          </p:cNvPr>
          <p:cNvPicPr>
            <a:picLocks noChangeAspect="1"/>
          </p:cNvPicPr>
          <p:nvPr/>
        </p:nvPicPr>
        <p:blipFill>
          <a:blip r:embed="rId2"/>
          <a:stretch>
            <a:fillRect/>
          </a:stretch>
        </p:blipFill>
        <p:spPr>
          <a:xfrm>
            <a:off x="8669566" y="3695588"/>
            <a:ext cx="3067478" cy="619211"/>
          </a:xfrm>
          <a:prstGeom prst="rect">
            <a:avLst/>
          </a:prstGeom>
        </p:spPr>
      </p:pic>
    </p:spTree>
    <p:extLst>
      <p:ext uri="{BB962C8B-B14F-4D97-AF65-F5344CB8AC3E}">
        <p14:creationId xmlns:p14="http://schemas.microsoft.com/office/powerpoint/2010/main" val="42095503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1086</Words>
  <Application>Microsoft Office PowerPoint</Application>
  <PresentationFormat>Widescreen</PresentationFormat>
  <Paragraphs>43</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SHAFIQ R</dc:creator>
  <cp:lastModifiedBy>SHAFIQ R</cp:lastModifiedBy>
  <cp:revision>1</cp:revision>
  <dcterms:created xsi:type="dcterms:W3CDTF">2026-04-16T14:53:06Z</dcterms:created>
  <dcterms:modified xsi:type="dcterms:W3CDTF">2026-04-16T14:53:31Z</dcterms:modified>
</cp:coreProperties>
</file>