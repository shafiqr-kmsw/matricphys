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59" r:id="rId3"/>
    <p:sldId id="260" r:id="rId4"/>
    <p:sldId id="261" r:id="rId5"/>
    <p:sldId id="262" r:id="rId6"/>
    <p:sldId id="26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94660"/>
  </p:normalViewPr>
  <p:slideViewPr>
    <p:cSldViewPr snapToGrid="0">
      <p:cViewPr varScale="1">
        <p:scale>
          <a:sx n="40" d="100"/>
          <a:sy n="40" d="100"/>
        </p:scale>
        <p:origin x="72" y="7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9B2C1-F32E-47E9-8A88-6BBD9BB2D001}"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344B0F-5DDA-4F0E-A8DE-905227C220E7}" type="slidenum">
              <a:rPr lang="en-US" smtClean="0"/>
              <a:t>‹#›</a:t>
            </a:fld>
            <a:endParaRPr lang="en-US"/>
          </a:p>
        </p:txBody>
      </p:sp>
    </p:spTree>
    <p:extLst>
      <p:ext uri="{BB962C8B-B14F-4D97-AF65-F5344CB8AC3E}">
        <p14:creationId xmlns:p14="http://schemas.microsoft.com/office/powerpoint/2010/main" val="1563913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421600A3-27E0-4867-A172-77979DCD4B47}" type="slidenum">
              <a:rPr lang="en-MY" smtClean="0"/>
              <a:t>1</a:t>
            </a:fld>
            <a:endParaRPr lang="en-MY"/>
          </a:p>
        </p:txBody>
      </p:sp>
    </p:spTree>
    <p:extLst>
      <p:ext uri="{BB962C8B-B14F-4D97-AF65-F5344CB8AC3E}">
        <p14:creationId xmlns:p14="http://schemas.microsoft.com/office/powerpoint/2010/main" val="538182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421600A3-27E0-4867-A172-77979DCD4B47}" type="slidenum">
              <a:rPr lang="en-MY" smtClean="0"/>
              <a:t>4</a:t>
            </a:fld>
            <a:endParaRPr lang="en-MY"/>
          </a:p>
        </p:txBody>
      </p:sp>
    </p:spTree>
    <p:extLst>
      <p:ext uri="{BB962C8B-B14F-4D97-AF65-F5344CB8AC3E}">
        <p14:creationId xmlns:p14="http://schemas.microsoft.com/office/powerpoint/2010/main" val="538182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50602-36B6-A1F0-8236-7EF7EC48BE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DAFD81-047C-BFFD-86A4-478B19141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E49CC6-FB1D-F909-53EF-32AF5E113EE8}"/>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5" name="Footer Placeholder 4">
            <a:extLst>
              <a:ext uri="{FF2B5EF4-FFF2-40B4-BE49-F238E27FC236}">
                <a16:creationId xmlns:a16="http://schemas.microsoft.com/office/drawing/2014/main" id="{BCB5B2D6-CB61-4F59-4C60-F15B445E1A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9B3594-2013-8CC5-24E5-0AA73B440996}"/>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985100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13C40-1FFB-8B27-804C-722ED9BCE4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C0F500-7AB6-6A83-434F-1A11FE4DA6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185288-3E1E-FA13-3340-D1AC353AAC9F}"/>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5" name="Footer Placeholder 4">
            <a:extLst>
              <a:ext uri="{FF2B5EF4-FFF2-40B4-BE49-F238E27FC236}">
                <a16:creationId xmlns:a16="http://schemas.microsoft.com/office/drawing/2014/main" id="{795D8170-B548-7139-DC3C-443BE570E6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9B56EB-BFA2-27A0-22A3-9C2D89A72B89}"/>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1970110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E2414-5176-C509-827E-82BCB9EBE0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8E04B8-9E19-3DBA-DE17-134BC9AB00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98361E-6ED7-15CA-8934-614F67630D1C}"/>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5" name="Footer Placeholder 4">
            <a:extLst>
              <a:ext uri="{FF2B5EF4-FFF2-40B4-BE49-F238E27FC236}">
                <a16:creationId xmlns:a16="http://schemas.microsoft.com/office/drawing/2014/main" id="{D43834ED-1A9D-12B1-B94E-984D2BEEC5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9719BF-C0CC-DD57-23F0-9FD9F016982A}"/>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2938310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B6F7-0130-75BE-8797-113E6FFD6C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36C3AD-D67E-CEC7-3932-0EE03BCDF0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97B5A0-50AB-ECE9-A994-B50AF06F81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8786F8-78D9-2138-BAC9-B987C0A48840}"/>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6" name="Footer Placeholder 5">
            <a:extLst>
              <a:ext uri="{FF2B5EF4-FFF2-40B4-BE49-F238E27FC236}">
                <a16:creationId xmlns:a16="http://schemas.microsoft.com/office/drawing/2014/main" id="{01DFAD99-0D3C-0C6E-D6FA-F7E25FBF27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5A83D5-E0B7-A05E-BB0C-85DAAB4145D8}"/>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20680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5F2E8-2CC4-38AE-F4A6-B22404C35C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E07694E-0A27-452B-A5D9-44E79651BB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5EEFB6-4CA0-83F7-BDE5-1C617C4879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3F9B82-D4C6-BED1-A024-7D01A4BD68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439023-154B-8F8D-6285-E06F391C9C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80F166-99D7-FB29-3E50-6D6BD5851B00}"/>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8" name="Footer Placeholder 7">
            <a:extLst>
              <a:ext uri="{FF2B5EF4-FFF2-40B4-BE49-F238E27FC236}">
                <a16:creationId xmlns:a16="http://schemas.microsoft.com/office/drawing/2014/main" id="{08841326-7894-0D19-3C64-C6947E3143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E10670-108B-106F-45BE-63581A4650B6}"/>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3800190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F5195-D9AC-033F-2B44-969508C09E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0B7388-F2A1-ACE4-4EB1-573EE45E4A95}"/>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4" name="Footer Placeholder 3">
            <a:extLst>
              <a:ext uri="{FF2B5EF4-FFF2-40B4-BE49-F238E27FC236}">
                <a16:creationId xmlns:a16="http://schemas.microsoft.com/office/drawing/2014/main" id="{D9F2B31B-4792-26F1-148B-C247FF8980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298157-4550-8A34-3455-DF64489BD6C3}"/>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920371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BD52C8-220C-57A7-4694-95227C05A751}"/>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3" name="Footer Placeholder 2">
            <a:extLst>
              <a:ext uri="{FF2B5EF4-FFF2-40B4-BE49-F238E27FC236}">
                <a16:creationId xmlns:a16="http://schemas.microsoft.com/office/drawing/2014/main" id="{47417826-3944-47E4-8300-939E277EF2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B57FFE-8861-E7DB-3F6B-370CF7FF96C1}"/>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1596656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CD705-E537-1EC7-613B-F7C685902D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7557CD-2398-BC4A-3ABD-90281A1771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64B13B2-D680-3E7F-F690-1FFA652034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BC6C35-2931-418B-A72A-D70FEEFF8793}"/>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6" name="Footer Placeholder 5">
            <a:extLst>
              <a:ext uri="{FF2B5EF4-FFF2-40B4-BE49-F238E27FC236}">
                <a16:creationId xmlns:a16="http://schemas.microsoft.com/office/drawing/2014/main" id="{CE2E0A29-2CAF-CA09-FF35-497DAD77F0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FA9DF8-13BE-E66A-4458-065087AFB6CE}"/>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1082227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9B8AF-4DE3-8591-D630-7A4389836B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330CB6-23AC-68C8-6335-87A50C98EB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AA4004-F790-731D-BBC4-E12B72E5A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8F561E-312C-8CDC-67B5-A38AB28E0CAB}"/>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6" name="Footer Placeholder 5">
            <a:extLst>
              <a:ext uri="{FF2B5EF4-FFF2-40B4-BE49-F238E27FC236}">
                <a16:creationId xmlns:a16="http://schemas.microsoft.com/office/drawing/2014/main" id="{BE1C06EC-BCC1-14AB-0BAA-79E7BE5796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A51FE1-960D-941A-2B94-497DFBB1B66B}"/>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3097189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7587B-0509-CC3A-3A58-370C4DB502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1E26E1-C240-5B7A-020F-105CB7979B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624A1B-15F8-2282-A30B-D41D29F00FC0}"/>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5" name="Footer Placeholder 4">
            <a:extLst>
              <a:ext uri="{FF2B5EF4-FFF2-40B4-BE49-F238E27FC236}">
                <a16:creationId xmlns:a16="http://schemas.microsoft.com/office/drawing/2014/main" id="{66F4DED9-0648-6FA5-FE6B-42C155F2B7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047881-15DB-22BD-320A-D88057B96609}"/>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1213048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616DED-9CDA-D213-BCF4-D0D71A1C26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372106-8103-4D21-1A78-B3122323BD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A616F-5DE4-931E-15C3-9BFB7EE313C1}"/>
              </a:ext>
            </a:extLst>
          </p:cNvPr>
          <p:cNvSpPr>
            <a:spLocks noGrp="1"/>
          </p:cNvSpPr>
          <p:nvPr>
            <p:ph type="dt" sz="half" idx="10"/>
          </p:nvPr>
        </p:nvSpPr>
        <p:spPr/>
        <p:txBody>
          <a:bodyPr/>
          <a:lstStyle/>
          <a:p>
            <a:fld id="{BAEEC814-C76D-4E93-A63E-91FB3F688CB6}" type="datetimeFigureOut">
              <a:rPr lang="en-US" smtClean="0"/>
              <a:t>4/16/2026</a:t>
            </a:fld>
            <a:endParaRPr lang="en-US"/>
          </a:p>
        </p:txBody>
      </p:sp>
      <p:sp>
        <p:nvSpPr>
          <p:cNvPr id="5" name="Footer Placeholder 4">
            <a:extLst>
              <a:ext uri="{FF2B5EF4-FFF2-40B4-BE49-F238E27FC236}">
                <a16:creationId xmlns:a16="http://schemas.microsoft.com/office/drawing/2014/main" id="{A0EB8205-4F53-16C3-52D9-F4BA1455D4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D31109-EC3E-0183-3A34-0886F61A5991}"/>
              </a:ext>
            </a:extLst>
          </p:cNvPr>
          <p:cNvSpPr>
            <a:spLocks noGrp="1"/>
          </p:cNvSpPr>
          <p:nvPr>
            <p:ph type="sldNum" sz="quarter" idx="12"/>
          </p:nvPr>
        </p:nvSpPr>
        <p:spPr/>
        <p:txBody>
          <a:bodyPr/>
          <a:lstStyle/>
          <a:p>
            <a:fld id="{513191F5-23F4-485D-9879-782C977B6DAC}" type="slidenum">
              <a:rPr lang="en-US" smtClean="0"/>
              <a:t>‹#›</a:t>
            </a:fld>
            <a:endParaRPr lang="en-US"/>
          </a:p>
        </p:txBody>
      </p:sp>
    </p:spTree>
    <p:extLst>
      <p:ext uri="{BB962C8B-B14F-4D97-AF65-F5344CB8AC3E}">
        <p14:creationId xmlns:p14="http://schemas.microsoft.com/office/powerpoint/2010/main" val="94683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67176B-FDCF-801A-72BB-49F9CA454D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747E9B-E2E5-FD76-3AB3-AE299E861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E8B1F8-DD4C-12AB-5725-716108FF19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EEC814-C76D-4E93-A63E-91FB3F688CB6}" type="datetimeFigureOut">
              <a:rPr lang="en-US" smtClean="0"/>
              <a:t>4/16/2026</a:t>
            </a:fld>
            <a:endParaRPr lang="en-US"/>
          </a:p>
        </p:txBody>
      </p:sp>
      <p:sp>
        <p:nvSpPr>
          <p:cNvPr id="5" name="Footer Placeholder 4">
            <a:extLst>
              <a:ext uri="{FF2B5EF4-FFF2-40B4-BE49-F238E27FC236}">
                <a16:creationId xmlns:a16="http://schemas.microsoft.com/office/drawing/2014/main" id="{7F3AA2FC-075D-7D10-ABAE-25CB67FA31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269FC51-792A-041A-8A6B-F2299E92A7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3191F5-23F4-485D-9879-782C977B6DAC}" type="slidenum">
              <a:rPr lang="en-US" smtClean="0"/>
              <a:t>‹#›</a:t>
            </a:fld>
            <a:endParaRPr lang="en-US"/>
          </a:p>
        </p:txBody>
      </p:sp>
    </p:spTree>
    <p:extLst>
      <p:ext uri="{BB962C8B-B14F-4D97-AF65-F5344CB8AC3E}">
        <p14:creationId xmlns:p14="http://schemas.microsoft.com/office/powerpoint/2010/main" val="3123703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281475-6F7A-0C06-CA57-5C42F328E32A}"/>
              </a:ext>
            </a:extLst>
          </p:cNvPr>
          <p:cNvSpPr txBox="1"/>
          <p:nvPr/>
        </p:nvSpPr>
        <p:spPr>
          <a:xfrm>
            <a:off x="674737" y="288893"/>
            <a:ext cx="9059197" cy="369332"/>
          </a:xfrm>
          <a:prstGeom prst="rect">
            <a:avLst/>
          </a:prstGeom>
          <a:noFill/>
        </p:spPr>
        <p:txBody>
          <a:bodyPr wrap="square">
            <a:spAutoFit/>
          </a:bodyPr>
          <a:lstStyle/>
          <a:p>
            <a:pPr marL="342900" lvl="0" indent="-342900">
              <a:spcBef>
                <a:spcPts val="600"/>
              </a:spcBef>
              <a:buFont typeface="+mj-lt"/>
              <a:buAutoNum type="arabicPeriod" startAt="3"/>
              <a:tabLst>
                <a:tab pos="650240" algn="l"/>
                <a:tab pos="950595" algn="l"/>
              </a:tabLst>
            </a:pPr>
            <a:r>
              <a:rPr lang="ms-MY" spc="-25" dirty="0">
                <a:effectLst/>
                <a:latin typeface="Times New Roman" panose="02020603050405020304" pitchFamily="18" charset="0"/>
                <a:ea typeface="Times New Roman" panose="02020603050405020304" pitchFamily="18" charset="0"/>
              </a:rPr>
              <a:t>(a)</a:t>
            </a:r>
            <a:r>
              <a:rPr lang="ms-MY" spc="0" dirty="0">
                <a:effectLst/>
                <a:latin typeface="Times New Roman" panose="02020603050405020304" pitchFamily="18" charset="0"/>
                <a:ea typeface="Times New Roman" panose="02020603050405020304" pitchFamily="18" charset="0"/>
              </a:rPr>
              <a:t>	The</a:t>
            </a:r>
            <a:r>
              <a:rPr lang="ms-MY" spc="-1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dimensions</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of two</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copper</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wires,</a:t>
            </a:r>
            <a:r>
              <a:rPr lang="ms-MY" spc="1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and B</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are given in</a:t>
            </a:r>
            <a:r>
              <a:rPr lang="ms-MY" spc="10" dirty="0">
                <a:effectLst/>
                <a:latin typeface="Times New Roman" panose="02020603050405020304" pitchFamily="18" charset="0"/>
                <a:ea typeface="Times New Roman" panose="02020603050405020304" pitchFamily="18" charset="0"/>
              </a:rPr>
              <a:t> </a:t>
            </a:r>
            <a:r>
              <a:rPr lang="ms-MY" b="1" spc="0" dirty="0">
                <a:effectLst/>
                <a:latin typeface="Times New Roman" panose="02020603050405020304" pitchFamily="18" charset="0"/>
                <a:ea typeface="Times New Roman" panose="02020603050405020304" pitchFamily="18" charset="0"/>
              </a:rPr>
              <a:t>TABLE </a:t>
            </a:r>
            <a:r>
              <a:rPr lang="ms-MY" b="1" spc="-25" dirty="0">
                <a:effectLst/>
                <a:latin typeface="Times New Roman" panose="02020603050405020304" pitchFamily="18" charset="0"/>
                <a:ea typeface="Times New Roman" panose="02020603050405020304" pitchFamily="18" charset="0"/>
              </a:rPr>
              <a:t>3</a:t>
            </a:r>
            <a:r>
              <a:rPr lang="ms-MY" spc="-25" dirty="0">
                <a:effectLst/>
                <a:latin typeface="Times New Roman" panose="02020603050405020304" pitchFamily="18" charset="0"/>
                <a:ea typeface="Times New Roman" panose="02020603050405020304" pitchFamily="18" charset="0"/>
              </a:rPr>
              <a:t>.</a:t>
            </a:r>
            <a:endParaRPr lang="en-MY" spc="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FA93B6A6-DA48-C106-4292-D5FCD4DBEA06}"/>
              </a:ext>
            </a:extLst>
          </p:cNvPr>
          <p:cNvPicPr>
            <a:picLocks noChangeAspect="1"/>
          </p:cNvPicPr>
          <p:nvPr/>
        </p:nvPicPr>
        <p:blipFill>
          <a:blip r:embed="rId3"/>
          <a:stretch>
            <a:fillRect/>
          </a:stretch>
        </p:blipFill>
        <p:spPr>
          <a:xfrm>
            <a:off x="1502333" y="658226"/>
            <a:ext cx="6181577" cy="1634362"/>
          </a:xfrm>
          <a:prstGeom prst="rect">
            <a:avLst/>
          </a:prstGeom>
        </p:spPr>
      </p:pic>
      <p:sp>
        <p:nvSpPr>
          <p:cNvPr id="7" name="TextBox 6">
            <a:extLst>
              <a:ext uri="{FF2B5EF4-FFF2-40B4-BE49-F238E27FC236}">
                <a16:creationId xmlns:a16="http://schemas.microsoft.com/office/drawing/2014/main" id="{36EE0F17-ADF8-9BB9-4271-6F89A0661987}"/>
              </a:ext>
            </a:extLst>
          </p:cNvPr>
          <p:cNvSpPr txBox="1"/>
          <p:nvPr/>
        </p:nvSpPr>
        <p:spPr>
          <a:xfrm>
            <a:off x="755239" y="2292588"/>
            <a:ext cx="10681521" cy="369332"/>
          </a:xfrm>
          <a:prstGeom prst="rect">
            <a:avLst/>
          </a:prstGeom>
          <a:noFill/>
        </p:spPr>
        <p:txBody>
          <a:bodyPr wrap="square">
            <a:spAutoFit/>
          </a:bodyPr>
          <a:lstStyle/>
          <a:p>
            <a:pPr marL="950595"/>
            <a:r>
              <a:rPr lang="ms-MY" dirty="0">
                <a:effectLst/>
                <a:latin typeface="Times New Roman" panose="02020603050405020304" pitchFamily="18" charset="0"/>
                <a:ea typeface="Times New Roman" panose="02020603050405020304" pitchFamily="18" charset="0"/>
              </a:rPr>
              <a:t>Calculate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1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ratio</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of</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resistance</a:t>
            </a:r>
            <a:r>
              <a:rPr lang="ms-MY" spc="-1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of</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B</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to </a:t>
            </a:r>
            <a:r>
              <a:rPr lang="ms-MY" spc="-25" dirty="0">
                <a:effectLst/>
                <a:latin typeface="Times New Roman" panose="02020603050405020304" pitchFamily="18" charset="0"/>
                <a:ea typeface="Times New Roman" panose="02020603050405020304" pitchFamily="18" charset="0"/>
              </a:rPr>
              <a:t>A.</a:t>
            </a:r>
            <a:r>
              <a:rPr lang="en-MY" spc="-25" dirty="0">
                <a:latin typeface="Times New Roman" panose="02020603050405020304" pitchFamily="18" charset="0"/>
                <a:ea typeface="Times New Roman" panose="02020603050405020304" pitchFamily="18" charset="0"/>
              </a:rPr>
              <a:t>					</a:t>
            </a:r>
            <a:r>
              <a:rPr lang="ms-MY" dirty="0"/>
              <a:t> [3 </a:t>
            </a:r>
            <a:r>
              <a:rPr lang="ms-MY" i="1" dirty="0"/>
              <a:t>marks</a:t>
            </a:r>
            <a:r>
              <a:rPr lang="ms-MY" dirty="0"/>
              <a:t>]</a:t>
            </a:r>
            <a:endParaRPr lang="en-MY" dirty="0"/>
          </a:p>
        </p:txBody>
      </p:sp>
      <p:pic>
        <p:nvPicPr>
          <p:cNvPr id="9" name="Picture 8">
            <a:extLst>
              <a:ext uri="{FF2B5EF4-FFF2-40B4-BE49-F238E27FC236}">
                <a16:creationId xmlns:a16="http://schemas.microsoft.com/office/drawing/2014/main" id="{B9B55823-1559-07F1-836A-91BF820130BA}"/>
              </a:ext>
            </a:extLst>
          </p:cNvPr>
          <p:cNvPicPr>
            <a:picLocks noChangeAspect="1"/>
          </p:cNvPicPr>
          <p:nvPr/>
        </p:nvPicPr>
        <p:blipFill>
          <a:blip r:embed="rId4"/>
          <a:stretch>
            <a:fillRect/>
          </a:stretch>
        </p:blipFill>
        <p:spPr>
          <a:xfrm>
            <a:off x="0" y="2608404"/>
            <a:ext cx="3839111" cy="1810003"/>
          </a:xfrm>
          <a:prstGeom prst="rect">
            <a:avLst/>
          </a:prstGeom>
        </p:spPr>
      </p:pic>
      <p:sp>
        <p:nvSpPr>
          <p:cNvPr id="13" name="TextBox 12">
            <a:extLst>
              <a:ext uri="{FF2B5EF4-FFF2-40B4-BE49-F238E27FC236}">
                <a16:creationId xmlns:a16="http://schemas.microsoft.com/office/drawing/2014/main" id="{AD1BB142-6099-4B2D-F684-D95CFA012C4D}"/>
              </a:ext>
            </a:extLst>
          </p:cNvPr>
          <p:cNvSpPr txBox="1"/>
          <p:nvPr/>
        </p:nvSpPr>
        <p:spPr>
          <a:xfrm>
            <a:off x="3168834" y="2844110"/>
            <a:ext cx="7558550" cy="923330"/>
          </a:xfrm>
          <a:prstGeom prst="rect">
            <a:avLst/>
          </a:prstGeom>
          <a:noFill/>
        </p:spPr>
        <p:txBody>
          <a:bodyPr wrap="square">
            <a:spAutoFit/>
          </a:bodyPr>
          <a:lstStyle/>
          <a:p>
            <a:pPr marL="950595" marR="789305">
              <a:spcBef>
                <a:spcPts val="1365"/>
              </a:spcBef>
              <a:buNone/>
            </a:pPr>
            <a:r>
              <a:rPr lang="ms-MY" sz="1800" dirty="0">
                <a:effectLst/>
                <a:latin typeface="Times New Roman" panose="02020603050405020304" pitchFamily="18" charset="0"/>
                <a:ea typeface="Times New Roman" panose="02020603050405020304" pitchFamily="18" charset="0"/>
              </a:rPr>
              <a:t>(b)   A</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battery</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with</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an</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emf</a:t>
            </a:r>
            <a:r>
              <a:rPr lang="ms-MY" sz="1800" spc="-15" dirty="0">
                <a:effectLst/>
                <a:latin typeface="Times New Roman" panose="02020603050405020304" pitchFamily="18" charset="0"/>
                <a:ea typeface="Times New Roman" panose="02020603050405020304" pitchFamily="18" charset="0"/>
              </a:rPr>
              <a:t> </a:t>
            </a:r>
            <a:r>
              <a:rPr lang="ms-MY" sz="1800" i="1" dirty="0">
                <a:effectLst/>
                <a:latin typeface="Times New Roman" panose="02020603050405020304" pitchFamily="18" charset="0"/>
                <a:ea typeface="Times New Roman" panose="02020603050405020304" pitchFamily="18" charset="0"/>
              </a:rPr>
              <a:t>ε</a:t>
            </a:r>
            <a:r>
              <a:rPr lang="ms-MY" sz="1800" i="1" spc="-20"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of</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15</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V</a:t>
            </a:r>
            <a:r>
              <a:rPr lang="ms-MY" sz="1800" spc="-20"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is</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connected</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to</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three</a:t>
            </a:r>
            <a:r>
              <a:rPr lang="ms-MY" sz="1800" spc="-20"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resistors</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with</a:t>
            </a:r>
            <a:r>
              <a:rPr lang="ms-MY" sz="1800" spc="-15"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resistance</a:t>
            </a:r>
            <a:r>
              <a:rPr lang="ms-MY" sz="1800" spc="-20" dirty="0">
                <a:effectLst/>
                <a:latin typeface="Times New Roman" panose="02020603050405020304" pitchFamily="18" charset="0"/>
                <a:ea typeface="Times New Roman" panose="02020603050405020304" pitchFamily="18" charset="0"/>
              </a:rPr>
              <a:t> </a:t>
            </a:r>
            <a:r>
              <a:rPr lang="ms-MY" sz="1800" dirty="0">
                <a:effectLst/>
                <a:latin typeface="Times New Roman" panose="02020603050405020304" pitchFamily="18" charset="0"/>
                <a:ea typeface="Times New Roman" panose="02020603050405020304" pitchFamily="18" charset="0"/>
              </a:rPr>
              <a:t>of 5 Ω, 6 Ω and 4 Ω as shown in </a:t>
            </a:r>
            <a:r>
              <a:rPr lang="ms-MY" sz="1800" b="1" dirty="0">
                <a:effectLst/>
                <a:latin typeface="Times New Roman" panose="02020603050405020304" pitchFamily="18" charset="0"/>
                <a:ea typeface="Times New Roman" panose="02020603050405020304" pitchFamily="18" charset="0"/>
              </a:rPr>
              <a:t>FIGURE 3.1</a:t>
            </a:r>
            <a:r>
              <a:rPr lang="ms-MY" sz="1800" dirty="0">
                <a:effectLst/>
                <a:latin typeface="Times New Roman" panose="02020603050405020304" pitchFamily="18" charset="0"/>
                <a:ea typeface="Times New Roman" panose="02020603050405020304" pitchFamily="18" charset="0"/>
              </a:rPr>
              <a:t>. Calculate the</a:t>
            </a:r>
            <a:endParaRPr lang="en-MY" sz="1800" dirty="0">
              <a:effectLst/>
              <a:latin typeface="Times New Roman" panose="02020603050405020304" pitchFamily="18" charset="0"/>
              <a:ea typeface="Times New Roman" panose="02020603050405020304" pitchFamily="18" charset="0"/>
            </a:endParaRPr>
          </a:p>
        </p:txBody>
      </p:sp>
      <p:sp>
        <p:nvSpPr>
          <p:cNvPr id="15" name="TextBox 14">
            <a:extLst>
              <a:ext uri="{FF2B5EF4-FFF2-40B4-BE49-F238E27FC236}">
                <a16:creationId xmlns:a16="http://schemas.microsoft.com/office/drawing/2014/main" id="{1302A6F9-C1A3-1F30-C083-7D8342314EEF}"/>
              </a:ext>
            </a:extLst>
          </p:cNvPr>
          <p:cNvSpPr txBox="1"/>
          <p:nvPr/>
        </p:nvSpPr>
        <p:spPr>
          <a:xfrm>
            <a:off x="4077886" y="3767440"/>
            <a:ext cx="7558549" cy="723275"/>
          </a:xfrm>
          <a:prstGeom prst="rect">
            <a:avLst/>
          </a:prstGeom>
          <a:noFill/>
        </p:spPr>
        <p:txBody>
          <a:bodyPr wrap="square">
            <a:spAutoFit/>
          </a:bodyPr>
          <a:lstStyle/>
          <a:p>
            <a:pPr lvl="0">
              <a:spcBef>
                <a:spcPts val="600"/>
              </a:spcBef>
              <a:buSzPts val="1200"/>
              <a:tabLst>
                <a:tab pos="483870" algn="l"/>
              </a:tabLst>
            </a:pPr>
            <a:r>
              <a:rPr lang="ms-MY" spc="0" dirty="0">
                <a:effectLst/>
                <a:latin typeface="Times New Roman" panose="02020603050405020304" pitchFamily="18" charset="0"/>
                <a:ea typeface="Times New Roman" panose="02020603050405020304" pitchFamily="18" charset="0"/>
              </a:rPr>
              <a:t>(i)    total</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current</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flow</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in</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the </a:t>
            </a:r>
            <a:r>
              <a:rPr lang="ms-MY" spc="-10" dirty="0">
                <a:effectLst/>
                <a:latin typeface="Times New Roman" panose="02020603050405020304" pitchFamily="18" charset="0"/>
                <a:ea typeface="Times New Roman" panose="02020603050405020304" pitchFamily="18" charset="0"/>
              </a:rPr>
              <a:t>circuit.			</a:t>
            </a:r>
            <a:r>
              <a:rPr lang="ms-MY" dirty="0"/>
              <a:t> [2 </a:t>
            </a:r>
            <a:r>
              <a:rPr lang="ms-MY" i="1" dirty="0"/>
              <a:t>marks</a:t>
            </a:r>
            <a:r>
              <a:rPr lang="ms-MY" dirty="0"/>
              <a:t>]</a:t>
            </a:r>
            <a:endParaRPr lang="en-MY" spc="0" dirty="0">
              <a:effectLst/>
              <a:latin typeface="Times New Roman" panose="02020603050405020304" pitchFamily="18" charset="0"/>
              <a:ea typeface="Times New Roman" panose="02020603050405020304" pitchFamily="18" charset="0"/>
            </a:endParaRPr>
          </a:p>
          <a:p>
            <a:pPr lvl="0">
              <a:spcBef>
                <a:spcPts val="600"/>
              </a:spcBef>
              <a:buSzPts val="1200"/>
              <a:tabLst>
                <a:tab pos="483870" algn="l"/>
              </a:tabLst>
            </a:pPr>
            <a:r>
              <a:rPr lang="ms-MY" spc="0" dirty="0">
                <a:effectLst/>
                <a:latin typeface="Times New Roman" panose="02020603050405020304" pitchFamily="18" charset="0"/>
                <a:ea typeface="Times New Roman" panose="02020603050405020304" pitchFamily="18" charset="0"/>
              </a:rPr>
              <a:t>(ii)   current</a:t>
            </a:r>
            <a:r>
              <a:rPr lang="ms-MY" spc="-1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that</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flows</a:t>
            </a:r>
            <a:r>
              <a:rPr lang="ms-MY" spc="-10"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through</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4</a:t>
            </a:r>
            <a:r>
              <a:rPr lang="ms-MY" spc="-5" dirty="0">
                <a:effectLst/>
                <a:latin typeface="Times New Roman" panose="02020603050405020304" pitchFamily="18" charset="0"/>
                <a:ea typeface="Times New Roman" panose="02020603050405020304" pitchFamily="18" charset="0"/>
              </a:rPr>
              <a:t> </a:t>
            </a:r>
            <a:r>
              <a:rPr lang="ms-MY" spc="0" dirty="0">
                <a:effectLst/>
                <a:latin typeface="Times New Roman" panose="02020603050405020304" pitchFamily="18" charset="0"/>
                <a:ea typeface="Times New Roman" panose="02020603050405020304" pitchFamily="18" charset="0"/>
              </a:rPr>
              <a:t>Ω</a:t>
            </a:r>
            <a:r>
              <a:rPr lang="ms-MY" spc="-15" dirty="0">
                <a:effectLst/>
                <a:latin typeface="Times New Roman" panose="02020603050405020304" pitchFamily="18" charset="0"/>
                <a:ea typeface="Times New Roman" panose="02020603050405020304" pitchFamily="18" charset="0"/>
              </a:rPr>
              <a:t> </a:t>
            </a:r>
            <a:r>
              <a:rPr lang="ms-MY" spc="-10" dirty="0">
                <a:effectLst/>
                <a:latin typeface="Times New Roman" panose="02020603050405020304" pitchFamily="18" charset="0"/>
                <a:ea typeface="Times New Roman" panose="02020603050405020304" pitchFamily="18" charset="0"/>
              </a:rPr>
              <a:t>resistor.		</a:t>
            </a:r>
            <a:r>
              <a:rPr lang="ms-MY" dirty="0"/>
              <a:t> [3 </a:t>
            </a:r>
            <a:r>
              <a:rPr lang="ms-MY" i="1" dirty="0"/>
              <a:t>marks</a:t>
            </a:r>
            <a:r>
              <a:rPr lang="ms-MY" dirty="0"/>
              <a:t>]</a:t>
            </a:r>
            <a:endParaRPr lang="en-MY" spc="0" dirty="0">
              <a:effectLst/>
              <a:latin typeface="Times New Roman" panose="02020603050405020304" pitchFamily="18" charset="0"/>
              <a:ea typeface="Times New Roman" panose="02020603050405020304" pitchFamily="18" charset="0"/>
            </a:endParaRPr>
          </a:p>
        </p:txBody>
      </p:sp>
      <p:pic>
        <p:nvPicPr>
          <p:cNvPr id="17" name="Picture 16">
            <a:extLst>
              <a:ext uri="{FF2B5EF4-FFF2-40B4-BE49-F238E27FC236}">
                <a16:creationId xmlns:a16="http://schemas.microsoft.com/office/drawing/2014/main" id="{D17BC801-AA2F-4E1F-E6D8-CCFF9BDFA3D9}"/>
              </a:ext>
            </a:extLst>
          </p:cNvPr>
          <p:cNvPicPr>
            <a:picLocks noChangeAspect="1"/>
          </p:cNvPicPr>
          <p:nvPr/>
        </p:nvPicPr>
        <p:blipFill>
          <a:blip r:embed="rId5"/>
          <a:stretch>
            <a:fillRect/>
          </a:stretch>
        </p:blipFill>
        <p:spPr>
          <a:xfrm>
            <a:off x="424014" y="4364890"/>
            <a:ext cx="3534268" cy="2438740"/>
          </a:xfrm>
          <a:prstGeom prst="rect">
            <a:avLst/>
          </a:prstGeom>
        </p:spPr>
      </p:pic>
      <p:sp>
        <p:nvSpPr>
          <p:cNvPr id="19" name="TextBox 18">
            <a:extLst>
              <a:ext uri="{FF2B5EF4-FFF2-40B4-BE49-F238E27FC236}">
                <a16:creationId xmlns:a16="http://schemas.microsoft.com/office/drawing/2014/main" id="{6F6B51FB-6FD7-4AAC-38EE-FBDEC8C7CF20}"/>
              </a:ext>
            </a:extLst>
          </p:cNvPr>
          <p:cNvSpPr txBox="1"/>
          <p:nvPr/>
        </p:nvSpPr>
        <p:spPr>
          <a:xfrm>
            <a:off x="3168834" y="5099789"/>
            <a:ext cx="8833713" cy="1022459"/>
          </a:xfrm>
          <a:prstGeom prst="rect">
            <a:avLst/>
          </a:prstGeom>
          <a:noFill/>
        </p:spPr>
        <p:txBody>
          <a:bodyPr wrap="square">
            <a:spAutoFit/>
          </a:bodyPr>
          <a:lstStyle/>
          <a:p>
            <a:pPr marL="950595" marR="631190">
              <a:lnSpc>
                <a:spcPct val="115000"/>
              </a:lnSpc>
              <a:spcBef>
                <a:spcPts val="340"/>
              </a:spcBef>
              <a:buNone/>
            </a:pPr>
            <a:r>
              <a:rPr lang="ms-MY" b="1" dirty="0">
                <a:effectLst/>
                <a:latin typeface="Times New Roman" panose="02020603050405020304" pitchFamily="18" charset="0"/>
                <a:ea typeface="Times New Roman" panose="02020603050405020304" pitchFamily="18" charset="0"/>
              </a:rPr>
              <a:t>(c)   FIGURE</a:t>
            </a:r>
            <a:r>
              <a:rPr lang="ms-MY" b="1" spc="-15" dirty="0">
                <a:effectLst/>
                <a:latin typeface="Times New Roman" panose="02020603050405020304" pitchFamily="18" charset="0"/>
                <a:ea typeface="Times New Roman" panose="02020603050405020304" pitchFamily="18" charset="0"/>
              </a:rPr>
              <a:t> </a:t>
            </a:r>
            <a:r>
              <a:rPr lang="ms-MY" b="1" dirty="0">
                <a:effectLst/>
                <a:latin typeface="Times New Roman" panose="02020603050405020304" pitchFamily="18" charset="0"/>
                <a:ea typeface="Times New Roman" panose="02020603050405020304" pitchFamily="18" charset="0"/>
              </a:rPr>
              <a:t>3.2</a:t>
            </a:r>
            <a:r>
              <a:rPr lang="ms-MY" b="1"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shows</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a</a:t>
            </a:r>
            <a:r>
              <a:rPr lang="ms-MY" spc="-2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circuit</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with</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two</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batteries,</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three</a:t>
            </a:r>
            <a:r>
              <a:rPr lang="ms-MY" spc="-2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resistors</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and</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a</a:t>
            </a:r>
            <a:r>
              <a:rPr lang="ms-MY" spc="-2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switch.</a:t>
            </a:r>
            <a:r>
              <a:rPr lang="ms-MY" spc="-1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Using the given labelled circuit diagram, determine the ammeter </a:t>
            </a:r>
            <a:r>
              <a:rPr lang="ms-MY" b="1" dirty="0">
                <a:effectLst/>
                <a:latin typeface="Times New Roman" panose="02020603050405020304" pitchFamily="18" charset="0"/>
                <a:ea typeface="Times New Roman" panose="02020603050405020304" pitchFamily="18" charset="0"/>
              </a:rPr>
              <a:t>and </a:t>
            </a:r>
            <a:r>
              <a:rPr lang="ms-MY" dirty="0">
                <a:effectLst/>
                <a:latin typeface="Times New Roman" panose="02020603050405020304" pitchFamily="18" charset="0"/>
                <a:ea typeface="Times New Roman" panose="02020603050405020304" pitchFamily="18" charset="0"/>
              </a:rPr>
              <a:t>voltmeter readings when</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the</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switch</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in the</a:t>
            </a:r>
            <a:r>
              <a:rPr lang="ms-MY" spc="-10"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circuit</a:t>
            </a:r>
            <a:r>
              <a:rPr lang="ms-MY" spc="-5" dirty="0">
                <a:effectLst/>
                <a:latin typeface="Times New Roman" panose="02020603050405020304" pitchFamily="18" charset="0"/>
                <a:ea typeface="Times New Roman" panose="02020603050405020304" pitchFamily="18" charset="0"/>
              </a:rPr>
              <a:t> </a:t>
            </a:r>
            <a:r>
              <a:rPr lang="ms-MY" dirty="0">
                <a:effectLst/>
                <a:latin typeface="Times New Roman" panose="02020603050405020304" pitchFamily="18" charset="0"/>
                <a:ea typeface="Times New Roman" panose="02020603050405020304" pitchFamily="18" charset="0"/>
              </a:rPr>
              <a:t>is </a:t>
            </a:r>
            <a:r>
              <a:rPr lang="ms-MY" spc="-10" dirty="0">
                <a:effectLst/>
                <a:latin typeface="Times New Roman" panose="02020603050405020304" pitchFamily="18" charset="0"/>
                <a:ea typeface="Times New Roman" panose="02020603050405020304" pitchFamily="18" charset="0"/>
              </a:rPr>
              <a:t>closed.  </a:t>
            </a:r>
            <a:r>
              <a:rPr lang="ms-MY" dirty="0">
                <a:effectLst/>
                <a:latin typeface="Times New Roman" panose="02020603050405020304" pitchFamily="18" charset="0"/>
                <a:ea typeface="Times New Roman" panose="02020603050405020304" pitchFamily="18" charset="0"/>
              </a:rPr>
              <a:t>[5 </a:t>
            </a:r>
            <a:r>
              <a:rPr lang="ms-MY" i="1" spc="-10" dirty="0">
                <a:effectLst/>
                <a:latin typeface="Times New Roman" panose="02020603050405020304" pitchFamily="18" charset="0"/>
                <a:ea typeface="Times New Roman" panose="02020603050405020304" pitchFamily="18" charset="0"/>
              </a:rPr>
              <a:t>marks</a:t>
            </a:r>
            <a:r>
              <a:rPr lang="ms-MY"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pic>
        <p:nvPicPr>
          <p:cNvPr id="21" name="Picture 20">
            <a:extLst>
              <a:ext uri="{FF2B5EF4-FFF2-40B4-BE49-F238E27FC236}">
                <a16:creationId xmlns:a16="http://schemas.microsoft.com/office/drawing/2014/main" id="{75E20AE6-CF76-E5D5-8889-80DA7822DEB9}"/>
              </a:ext>
            </a:extLst>
          </p:cNvPr>
          <p:cNvPicPr>
            <a:picLocks noChangeAspect="1"/>
          </p:cNvPicPr>
          <p:nvPr/>
        </p:nvPicPr>
        <p:blipFill>
          <a:blip r:embed="rId6"/>
          <a:stretch>
            <a:fillRect/>
          </a:stretch>
        </p:blipFill>
        <p:spPr>
          <a:xfrm>
            <a:off x="9037317" y="196198"/>
            <a:ext cx="3048425" cy="924054"/>
          </a:xfrm>
          <a:prstGeom prst="rect">
            <a:avLst/>
          </a:prstGeom>
        </p:spPr>
      </p:pic>
    </p:spTree>
    <p:extLst>
      <p:ext uri="{BB962C8B-B14F-4D97-AF65-F5344CB8AC3E}">
        <p14:creationId xmlns:p14="http://schemas.microsoft.com/office/powerpoint/2010/main" val="3753367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81331A-5927-2608-E0EE-952EE7755B66}"/>
              </a:ext>
            </a:extLst>
          </p:cNvPr>
          <p:cNvSpPr txBox="1"/>
          <p:nvPr/>
        </p:nvSpPr>
        <p:spPr>
          <a:xfrm>
            <a:off x="685800" y="441867"/>
            <a:ext cx="10150521" cy="646331"/>
          </a:xfrm>
          <a:prstGeom prst="rect">
            <a:avLst/>
          </a:prstGeom>
          <a:noFill/>
        </p:spPr>
        <p:txBody>
          <a:bodyPr wrap="square">
            <a:spAutoFit/>
          </a:bodyPr>
          <a:lstStyle/>
          <a:p>
            <a:pPr>
              <a:buNone/>
            </a:pPr>
            <a:r>
              <a:rPr lang="en-MY" sz="1800" b="1" dirty="0">
                <a:solidFill>
                  <a:srgbClr val="000000"/>
                </a:solidFill>
                <a:effectLst/>
                <a:latin typeface="Times New Roman" panose="02020603050405020304" pitchFamily="18" charset="0"/>
                <a:ea typeface="Aptos" panose="020B0004020202020204" pitchFamily="34" charset="0"/>
              </a:rPr>
              <a:t>3</a:t>
            </a:r>
            <a:r>
              <a:rPr lang="en-MY" sz="1800" dirty="0">
                <a:solidFill>
                  <a:srgbClr val="000000"/>
                </a:solidFill>
                <a:effectLst/>
                <a:latin typeface="Times New Roman" panose="02020603050405020304" pitchFamily="18" charset="0"/>
                <a:ea typeface="Aptos" panose="020B0004020202020204" pitchFamily="34" charset="0"/>
              </a:rPr>
              <a:t> (a) In 400 </a:t>
            </a:r>
            <a:r>
              <a:rPr lang="en-MY" sz="1800" dirty="0" err="1">
                <a:solidFill>
                  <a:srgbClr val="000000"/>
                </a:solidFill>
                <a:effectLst/>
                <a:latin typeface="Times New Roman" panose="02020603050405020304" pitchFamily="18" charset="0"/>
                <a:ea typeface="Aptos" panose="020B0004020202020204" pitchFamily="34" charset="0"/>
              </a:rPr>
              <a:t>ms</a:t>
            </a:r>
            <a:r>
              <a:rPr lang="en-MY" sz="1800" dirty="0">
                <a:solidFill>
                  <a:srgbClr val="000000"/>
                </a:solidFill>
                <a:effectLst/>
                <a:latin typeface="Times New Roman" panose="02020603050405020304" pitchFamily="18" charset="0"/>
                <a:ea typeface="Aptos" panose="020B0004020202020204" pitchFamily="34" charset="0"/>
              </a:rPr>
              <a:t>, a charge of 3000 </a:t>
            </a:r>
            <a:r>
              <a:rPr lang="en-MY" sz="1800" dirty="0" err="1">
                <a:solidFill>
                  <a:srgbClr val="000000"/>
                </a:solidFill>
                <a:effectLst/>
                <a:latin typeface="Times New Roman" panose="02020603050405020304" pitchFamily="18" charset="0"/>
                <a:ea typeface="Aptos" panose="020B0004020202020204" pitchFamily="34" charset="0"/>
              </a:rPr>
              <a:t>μC</a:t>
            </a:r>
            <a:r>
              <a:rPr lang="en-MY" sz="1800" dirty="0">
                <a:solidFill>
                  <a:srgbClr val="000000"/>
                </a:solidFill>
                <a:effectLst/>
                <a:latin typeface="Times New Roman" panose="02020603050405020304" pitchFamily="18" charset="0"/>
                <a:ea typeface="Aptos" panose="020B0004020202020204" pitchFamily="34" charset="0"/>
              </a:rPr>
              <a:t> passes each point of a wire. Calculate </a:t>
            </a:r>
            <a:endParaRPr lang="en-MY" sz="2000" dirty="0">
              <a:solidFill>
                <a:srgbClr val="000000"/>
              </a:solidFill>
              <a:effectLst/>
              <a:latin typeface="Times New Roman" panose="02020603050405020304" pitchFamily="18" charset="0"/>
              <a:ea typeface="Aptos" panose="020B0004020202020204" pitchFamily="34" charset="0"/>
            </a:endParaRPr>
          </a:p>
          <a:p>
            <a:pPr marL="342900" lvl="0" indent="-342900">
              <a:buFont typeface="+mj-lt"/>
              <a:buAutoNum type="romanLcPeriod"/>
            </a:pPr>
            <a:r>
              <a:rPr lang="en-MY" sz="1800" dirty="0">
                <a:solidFill>
                  <a:srgbClr val="000000"/>
                </a:solidFill>
                <a:effectLst/>
                <a:latin typeface="Times New Roman" panose="02020603050405020304" pitchFamily="18" charset="0"/>
                <a:ea typeface="Aptos" panose="020B0004020202020204" pitchFamily="34" charset="0"/>
              </a:rPr>
              <a:t>the current.  ii. the number of electrons flow through the point. 			[3 </a:t>
            </a:r>
            <a:r>
              <a:rPr lang="en-MY" sz="1800" i="1" dirty="0">
                <a:solidFill>
                  <a:srgbClr val="000000"/>
                </a:solidFill>
                <a:effectLst/>
                <a:latin typeface="Times New Roman" panose="02020603050405020304" pitchFamily="18" charset="0"/>
                <a:ea typeface="Aptos" panose="020B0004020202020204" pitchFamily="34" charset="0"/>
              </a:rPr>
              <a:t>marks</a:t>
            </a:r>
            <a:r>
              <a:rPr lang="en-MY" sz="1800" dirty="0">
                <a:solidFill>
                  <a:srgbClr val="000000"/>
                </a:solidFill>
                <a:effectLst/>
                <a:latin typeface="Times New Roman" panose="02020603050405020304" pitchFamily="18" charset="0"/>
                <a:ea typeface="Aptos" panose="020B0004020202020204" pitchFamily="34" charset="0"/>
              </a:rPr>
              <a:t>] </a:t>
            </a:r>
            <a:endParaRPr lang="en-MY" sz="2000" dirty="0">
              <a:solidFill>
                <a:srgbClr val="000000"/>
              </a:solidFill>
              <a:effectLst/>
              <a:latin typeface="Times New Roman" panose="02020603050405020304" pitchFamily="18" charset="0"/>
              <a:ea typeface="Aptos" panose="020B0004020202020204" pitchFamily="34" charset="0"/>
            </a:endParaRPr>
          </a:p>
        </p:txBody>
      </p:sp>
      <p:sp>
        <p:nvSpPr>
          <p:cNvPr id="5" name="Rectangle 2">
            <a:extLst>
              <a:ext uri="{FF2B5EF4-FFF2-40B4-BE49-F238E27FC236}">
                <a16:creationId xmlns:a16="http://schemas.microsoft.com/office/drawing/2014/main" id="{41C9EFFC-A4F1-A9DD-B3F4-B3C3EA6B9E91}"/>
              </a:ext>
            </a:extLst>
          </p:cNvPr>
          <p:cNvSpPr>
            <a:spLocks noChangeArrowheads="1"/>
          </p:cNvSpPr>
          <p:nvPr/>
        </p:nvSpPr>
        <p:spPr bwMode="auto">
          <a:xfrm>
            <a:off x="359764" y="137151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MY"/>
          </a:p>
        </p:txBody>
      </p:sp>
      <p:pic>
        <p:nvPicPr>
          <p:cNvPr id="2049" name="Picture 1" descr="A diagram of a circuit&#10;&#10;Description automatically generated">
            <a:extLst>
              <a:ext uri="{FF2B5EF4-FFF2-40B4-BE49-F238E27FC236}">
                <a16:creationId xmlns:a16="http://schemas.microsoft.com/office/drawing/2014/main" id="{8F8DF14F-7D27-7124-1045-F58D0BC816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764" y="1371517"/>
            <a:ext cx="3973849" cy="174407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8BE76FF-C8B4-50A9-E40E-F069A449F04D}"/>
              </a:ext>
            </a:extLst>
          </p:cNvPr>
          <p:cNvSpPr txBox="1"/>
          <p:nvPr/>
        </p:nvSpPr>
        <p:spPr>
          <a:xfrm>
            <a:off x="4562939" y="1244782"/>
            <a:ext cx="6273382" cy="2308324"/>
          </a:xfrm>
          <a:prstGeom prst="rect">
            <a:avLst/>
          </a:prstGeom>
          <a:noFill/>
        </p:spPr>
        <p:txBody>
          <a:bodyPr wrap="square">
            <a:spAutoFit/>
          </a:bodyPr>
          <a:lstStyle/>
          <a:p>
            <a:pPr>
              <a:buNone/>
            </a:pPr>
            <a:r>
              <a:rPr lang="en-MY" sz="1800" dirty="0">
                <a:solidFill>
                  <a:srgbClr val="000000"/>
                </a:solidFill>
                <a:effectLst/>
                <a:latin typeface="Times New Roman" panose="02020603050405020304" pitchFamily="18" charset="0"/>
                <a:ea typeface="Aptos" panose="020B0004020202020204" pitchFamily="34" charset="0"/>
              </a:rPr>
              <a:t>(b)  The circuit in </a:t>
            </a:r>
            <a:r>
              <a:rPr lang="en-MY" sz="1800" b="1" dirty="0">
                <a:solidFill>
                  <a:srgbClr val="000000"/>
                </a:solidFill>
                <a:effectLst/>
                <a:latin typeface="Times New Roman" panose="02020603050405020304" pitchFamily="18" charset="0"/>
                <a:ea typeface="Aptos" panose="020B0004020202020204" pitchFamily="34" charset="0"/>
              </a:rPr>
              <a:t>FIGURE 2 </a:t>
            </a:r>
            <a:r>
              <a:rPr lang="en-MY" sz="1800" dirty="0">
                <a:solidFill>
                  <a:srgbClr val="000000"/>
                </a:solidFill>
                <a:effectLst/>
                <a:latin typeface="Times New Roman" panose="02020603050405020304" pitchFamily="18" charset="0"/>
                <a:ea typeface="Aptos" panose="020B0004020202020204" pitchFamily="34" charset="0"/>
              </a:rPr>
              <a:t>shows a battery emf,= 10 V with unknown internal resistance, </a:t>
            </a:r>
            <a:r>
              <a:rPr lang="en-MY" sz="1800" i="1" dirty="0">
                <a:solidFill>
                  <a:srgbClr val="000000"/>
                </a:solidFill>
                <a:effectLst/>
                <a:latin typeface="Times New Roman" panose="02020603050405020304" pitchFamily="18" charset="0"/>
                <a:ea typeface="Aptos" panose="020B0004020202020204" pitchFamily="34" charset="0"/>
              </a:rPr>
              <a:t>r </a:t>
            </a:r>
            <a:r>
              <a:rPr lang="en-MY" sz="1800" dirty="0">
                <a:solidFill>
                  <a:srgbClr val="000000"/>
                </a:solidFill>
                <a:effectLst/>
                <a:latin typeface="Times New Roman" panose="02020603050405020304" pitchFamily="18" charset="0"/>
                <a:ea typeface="Aptos" panose="020B0004020202020204" pitchFamily="34" charset="0"/>
              </a:rPr>
              <a:t>that is connected to a circuit includes resistor </a:t>
            </a:r>
            <a:r>
              <a:rPr lang="en-MY" sz="1800" i="1" dirty="0">
                <a:solidFill>
                  <a:srgbClr val="000000"/>
                </a:solidFill>
                <a:effectLst/>
                <a:latin typeface="Times New Roman" panose="02020603050405020304" pitchFamily="18" charset="0"/>
                <a:ea typeface="Aptos" panose="020B0004020202020204" pitchFamily="34" charset="0"/>
              </a:rPr>
              <a:t>R</a:t>
            </a:r>
            <a:r>
              <a:rPr lang="en-MY" sz="1800" baseline="-25000" dirty="0">
                <a:solidFill>
                  <a:srgbClr val="000000"/>
                </a:solidFill>
                <a:effectLst/>
                <a:latin typeface="Times New Roman" panose="02020603050405020304" pitchFamily="18" charset="0"/>
                <a:ea typeface="Aptos" panose="020B0004020202020204" pitchFamily="34" charset="0"/>
              </a:rPr>
              <a:t>1</a:t>
            </a:r>
            <a:r>
              <a:rPr lang="en-MY" sz="1800" dirty="0">
                <a:solidFill>
                  <a:srgbClr val="000000"/>
                </a:solidFill>
                <a:effectLst/>
                <a:latin typeface="Times New Roman" panose="02020603050405020304" pitchFamily="18" charset="0"/>
                <a:ea typeface="Aptos" panose="020B0004020202020204" pitchFamily="34" charset="0"/>
              </a:rPr>
              <a:t> = 2 Ω and </a:t>
            </a:r>
            <a:r>
              <a:rPr lang="en-MY" sz="1800" i="1" dirty="0">
                <a:solidFill>
                  <a:srgbClr val="000000"/>
                </a:solidFill>
                <a:effectLst/>
                <a:latin typeface="Times New Roman" panose="02020603050405020304" pitchFamily="18" charset="0"/>
                <a:ea typeface="Aptos" panose="020B0004020202020204" pitchFamily="34" charset="0"/>
              </a:rPr>
              <a:t>R</a:t>
            </a:r>
            <a:r>
              <a:rPr lang="en-MY" sz="1800" baseline="-25000" dirty="0">
                <a:solidFill>
                  <a:srgbClr val="000000"/>
                </a:solidFill>
                <a:effectLst/>
                <a:latin typeface="Times New Roman" panose="02020603050405020304" pitchFamily="18" charset="0"/>
                <a:ea typeface="Aptos" panose="020B0004020202020204" pitchFamily="34" charset="0"/>
              </a:rPr>
              <a:t>2</a:t>
            </a:r>
            <a:r>
              <a:rPr lang="en-MY" sz="1800" dirty="0">
                <a:solidFill>
                  <a:srgbClr val="000000"/>
                </a:solidFill>
                <a:effectLst/>
                <a:latin typeface="Times New Roman" panose="02020603050405020304" pitchFamily="18" charset="0"/>
                <a:ea typeface="Aptos" panose="020B0004020202020204" pitchFamily="34" charset="0"/>
              </a:rPr>
              <a:t> = 5 Ω. </a:t>
            </a:r>
            <a:r>
              <a:rPr lang="en-MY" sz="1800" b="1" dirty="0">
                <a:solidFill>
                  <a:srgbClr val="000000"/>
                </a:solidFill>
                <a:effectLst/>
                <a:latin typeface="Times New Roman" panose="02020603050405020304" pitchFamily="18" charset="0"/>
                <a:ea typeface="Aptos" panose="020B0004020202020204" pitchFamily="34" charset="0"/>
              </a:rPr>
              <a:t>The reading on the ideal voltmeter is 9.7 V. </a:t>
            </a:r>
            <a:endParaRPr lang="en-MY" sz="2000" dirty="0">
              <a:solidFill>
                <a:srgbClr val="000000"/>
              </a:solidFill>
              <a:effectLst/>
              <a:latin typeface="Times New Roman" panose="02020603050405020304" pitchFamily="18" charset="0"/>
              <a:ea typeface="Aptos" panose="020B0004020202020204" pitchFamily="34" charset="0"/>
            </a:endParaRPr>
          </a:p>
          <a:p>
            <a:pPr marL="342900" lvl="0" indent="-342900">
              <a:buFont typeface="+mj-lt"/>
              <a:buAutoNum type="romanLcPeriod"/>
            </a:pPr>
            <a:r>
              <a:rPr lang="en-MY" sz="1800" dirty="0">
                <a:solidFill>
                  <a:srgbClr val="000000"/>
                </a:solidFill>
                <a:effectLst/>
                <a:latin typeface="Times New Roman" panose="02020603050405020304" pitchFamily="18" charset="0"/>
                <a:ea typeface="Aptos" panose="020B0004020202020204" pitchFamily="34" charset="0"/>
              </a:rPr>
              <a:t>What is the terminal voltage? </a:t>
            </a:r>
            <a:endParaRPr lang="en-MY" sz="2000" dirty="0">
              <a:solidFill>
                <a:srgbClr val="000000"/>
              </a:solidFill>
              <a:effectLst/>
              <a:latin typeface="Times New Roman" panose="02020603050405020304" pitchFamily="18" charset="0"/>
              <a:ea typeface="Aptos" panose="020B0004020202020204" pitchFamily="34" charset="0"/>
            </a:endParaRPr>
          </a:p>
          <a:p>
            <a:pPr marL="342900" lvl="0" indent="-342900">
              <a:buFont typeface="+mj-lt"/>
              <a:buAutoNum type="romanLcPeriod"/>
            </a:pPr>
            <a:r>
              <a:rPr lang="en-MY" sz="1800" dirty="0">
                <a:solidFill>
                  <a:srgbClr val="000000"/>
                </a:solidFill>
                <a:effectLst/>
                <a:latin typeface="Times New Roman" panose="02020603050405020304" pitchFamily="18" charset="0"/>
                <a:ea typeface="Aptos" panose="020B0004020202020204" pitchFamily="34" charset="0"/>
              </a:rPr>
              <a:t>What is the reading of ammeter? </a:t>
            </a:r>
          </a:p>
          <a:p>
            <a:pPr marL="342900" lvl="0" indent="-342900">
              <a:buFont typeface="+mj-lt"/>
              <a:buAutoNum type="romanLcPeriod"/>
            </a:pPr>
            <a:r>
              <a:rPr lang="en-MY" sz="1800" dirty="0">
                <a:effectLst/>
                <a:latin typeface="Aptos" panose="020B0004020202020204" pitchFamily="34" charset="0"/>
                <a:ea typeface="Aptos" panose="020B0004020202020204" pitchFamily="34" charset="0"/>
                <a:cs typeface="Times New Roman" panose="02020603050405020304" pitchFamily="18" charset="0"/>
              </a:rPr>
              <a:t>Determine the internal resistance, r.</a:t>
            </a:r>
          </a:p>
          <a:p>
            <a:pPr lvl="0" algn="r"/>
            <a:r>
              <a:rPr lang="en-MY" dirty="0"/>
              <a:t>[6 </a:t>
            </a:r>
            <a:r>
              <a:rPr lang="en-MY" i="1" dirty="0"/>
              <a:t>marks</a:t>
            </a:r>
            <a:r>
              <a:rPr lang="en-MY" dirty="0"/>
              <a:t>]</a:t>
            </a:r>
          </a:p>
        </p:txBody>
      </p:sp>
      <p:sp>
        <p:nvSpPr>
          <p:cNvPr id="10" name="TextBox 9">
            <a:extLst>
              <a:ext uri="{FF2B5EF4-FFF2-40B4-BE49-F238E27FC236}">
                <a16:creationId xmlns:a16="http://schemas.microsoft.com/office/drawing/2014/main" id="{72E131AF-118D-D41B-33C2-974D18087B40}"/>
              </a:ext>
            </a:extLst>
          </p:cNvPr>
          <p:cNvSpPr txBox="1"/>
          <p:nvPr/>
        </p:nvSpPr>
        <p:spPr>
          <a:xfrm>
            <a:off x="5347024" y="3740726"/>
            <a:ext cx="6277970" cy="2577116"/>
          </a:xfrm>
          <a:prstGeom prst="rect">
            <a:avLst/>
          </a:prstGeom>
          <a:noFill/>
        </p:spPr>
        <p:txBody>
          <a:bodyPr wrap="square">
            <a:spAutoFit/>
          </a:bodyPr>
          <a:lstStyle/>
          <a:p>
            <a:pPr>
              <a:lnSpc>
                <a:spcPct val="115000"/>
              </a:lnSpc>
              <a:spcAft>
                <a:spcPts val="800"/>
              </a:spcAft>
              <a:buNone/>
            </a:pPr>
            <a:r>
              <a:rPr lang="en-MY" sz="1800" b="1" kern="100" dirty="0">
                <a:effectLst/>
                <a:latin typeface="Times New Roman" panose="02020603050405020304" pitchFamily="18" charset="0"/>
                <a:ea typeface="Aptos" panose="020B0004020202020204" pitchFamily="34" charset="0"/>
                <a:cs typeface="Times New Roman" panose="02020603050405020304" pitchFamily="18" charset="0"/>
              </a:rPr>
              <a:t>(c) FIGURE 3 </a:t>
            </a:r>
            <a:r>
              <a:rPr lang="en-MY" sz="1800" kern="100" dirty="0">
                <a:effectLst/>
                <a:latin typeface="Times New Roman" panose="02020603050405020304" pitchFamily="18" charset="0"/>
                <a:ea typeface="Aptos" panose="020B0004020202020204" pitchFamily="34" charset="0"/>
                <a:cs typeface="Times New Roman" panose="02020603050405020304" pitchFamily="18" charset="0"/>
              </a:rPr>
              <a:t>shows a potentiometer used to determine the emf of a cell. The sliding wire is 100 cm long and has resistance of 20 Ω. The internal resistance for power supply and the cell is negligible. AC is 70 cm long at equilibrium. </a:t>
            </a:r>
            <a:endParaRPr lang="en-MY" sz="20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MY" sz="1800" dirty="0">
                <a:solidFill>
                  <a:srgbClr val="000000"/>
                </a:solidFill>
                <a:effectLst/>
                <a:latin typeface="Times New Roman" panose="02020603050405020304" pitchFamily="18" charset="0"/>
                <a:ea typeface="Aptos" panose="020B0004020202020204" pitchFamily="34" charset="0"/>
              </a:rPr>
              <a:t>Calculate </a:t>
            </a:r>
            <a:endParaRPr lang="en-MY" sz="2000" dirty="0">
              <a:solidFill>
                <a:srgbClr val="000000"/>
              </a:solidFill>
              <a:effectLst/>
              <a:latin typeface="Times New Roman" panose="02020603050405020304" pitchFamily="18" charset="0"/>
              <a:ea typeface="Aptos" panose="020B0004020202020204" pitchFamily="34" charset="0"/>
            </a:endParaRPr>
          </a:p>
          <a:p>
            <a:pPr marL="342900" lvl="0" indent="-342900">
              <a:buFont typeface="+mj-lt"/>
              <a:buAutoNum type="romanLcPeriod"/>
            </a:pPr>
            <a:r>
              <a:rPr lang="en-MY" sz="1800" dirty="0">
                <a:solidFill>
                  <a:srgbClr val="000000"/>
                </a:solidFill>
                <a:effectLst/>
                <a:latin typeface="Times New Roman" panose="02020603050405020304" pitchFamily="18" charset="0"/>
                <a:ea typeface="Aptos" panose="020B0004020202020204" pitchFamily="34" charset="0"/>
              </a:rPr>
              <a:t>the voltage in sliding wire AB. </a:t>
            </a:r>
            <a:endParaRPr lang="en-MY" sz="2000" dirty="0">
              <a:solidFill>
                <a:srgbClr val="000000"/>
              </a:solidFill>
              <a:effectLst/>
              <a:latin typeface="Times New Roman" panose="02020603050405020304" pitchFamily="18" charset="0"/>
              <a:ea typeface="Aptos" panose="020B0004020202020204" pitchFamily="34" charset="0"/>
            </a:endParaRPr>
          </a:p>
          <a:p>
            <a:pPr marL="342900" lvl="0" indent="-342900">
              <a:buFont typeface="+mj-lt"/>
              <a:buAutoNum type="romanLcPeriod"/>
            </a:pPr>
            <a:r>
              <a:rPr lang="en-MY" sz="1800" dirty="0">
                <a:solidFill>
                  <a:srgbClr val="000000"/>
                </a:solidFill>
                <a:effectLst/>
                <a:latin typeface="Times New Roman" panose="02020603050405020304" pitchFamily="18" charset="0"/>
                <a:ea typeface="Aptos" panose="020B0004020202020204" pitchFamily="34" charset="0"/>
              </a:rPr>
              <a:t>the value of current across resistor R. 							[4 </a:t>
            </a:r>
            <a:r>
              <a:rPr lang="en-MY" sz="1800" i="1" dirty="0">
                <a:solidFill>
                  <a:srgbClr val="000000"/>
                </a:solidFill>
                <a:effectLst/>
                <a:latin typeface="Times New Roman" panose="02020603050405020304" pitchFamily="18" charset="0"/>
                <a:ea typeface="Aptos" panose="020B0004020202020204" pitchFamily="34" charset="0"/>
              </a:rPr>
              <a:t>marks</a:t>
            </a:r>
            <a:r>
              <a:rPr lang="en-MY" sz="1800" dirty="0">
                <a:solidFill>
                  <a:srgbClr val="000000"/>
                </a:solidFill>
                <a:effectLst/>
                <a:latin typeface="Times New Roman" panose="02020603050405020304" pitchFamily="18" charset="0"/>
                <a:ea typeface="Aptos" panose="020B0004020202020204" pitchFamily="34" charset="0"/>
              </a:rPr>
              <a:t>] </a:t>
            </a:r>
            <a:endParaRPr lang="en-MY" sz="2000" dirty="0">
              <a:solidFill>
                <a:srgbClr val="000000"/>
              </a:solidFill>
              <a:effectLst/>
              <a:latin typeface="Times New Roman" panose="02020603050405020304" pitchFamily="18" charset="0"/>
              <a:ea typeface="Aptos" panose="020B0004020202020204" pitchFamily="34" charset="0"/>
            </a:endParaRPr>
          </a:p>
        </p:txBody>
      </p:sp>
      <p:pic>
        <p:nvPicPr>
          <p:cNvPr id="11" name="Picture 10" descr="A diagram of a power supply&#10;&#10;Description automatically generated">
            <a:extLst>
              <a:ext uri="{FF2B5EF4-FFF2-40B4-BE49-F238E27FC236}">
                <a16:creationId xmlns:a16="http://schemas.microsoft.com/office/drawing/2014/main" id="{E23703B2-B3CB-3DDD-5A6A-ACC971879B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64" y="3192747"/>
            <a:ext cx="3469925" cy="2022518"/>
          </a:xfrm>
          <a:prstGeom prst="rect">
            <a:avLst/>
          </a:prstGeom>
        </p:spPr>
      </p:pic>
      <p:pic>
        <p:nvPicPr>
          <p:cNvPr id="15" name="Picture 14">
            <a:extLst>
              <a:ext uri="{FF2B5EF4-FFF2-40B4-BE49-F238E27FC236}">
                <a16:creationId xmlns:a16="http://schemas.microsoft.com/office/drawing/2014/main" id="{681942A9-7B07-7695-46F7-BA533B11CDD0}"/>
              </a:ext>
            </a:extLst>
          </p:cNvPr>
          <p:cNvPicPr>
            <a:picLocks noChangeAspect="1"/>
          </p:cNvPicPr>
          <p:nvPr/>
        </p:nvPicPr>
        <p:blipFill>
          <a:blip r:embed="rId4"/>
          <a:stretch>
            <a:fillRect/>
          </a:stretch>
        </p:blipFill>
        <p:spPr>
          <a:xfrm>
            <a:off x="130437" y="5292417"/>
            <a:ext cx="2743583" cy="1533739"/>
          </a:xfrm>
          <a:prstGeom prst="rect">
            <a:avLst/>
          </a:prstGeom>
        </p:spPr>
      </p:pic>
    </p:spTree>
    <p:extLst>
      <p:ext uri="{BB962C8B-B14F-4D97-AF65-F5344CB8AC3E}">
        <p14:creationId xmlns:p14="http://schemas.microsoft.com/office/powerpoint/2010/main" val="2052585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4E80C0-2853-20E0-4E02-6A93E8183EAF}"/>
              </a:ext>
            </a:extLst>
          </p:cNvPr>
          <p:cNvSpPr txBox="1"/>
          <p:nvPr/>
        </p:nvSpPr>
        <p:spPr>
          <a:xfrm>
            <a:off x="689487" y="350699"/>
            <a:ext cx="10991236" cy="1517980"/>
          </a:xfrm>
          <a:prstGeom prst="rect">
            <a:avLst/>
          </a:prstGeom>
          <a:noFill/>
        </p:spPr>
        <p:txBody>
          <a:bodyPr wrap="square">
            <a:spAutoFit/>
          </a:bodyPr>
          <a:lstStyle/>
          <a:p>
            <a:pPr marL="342900" marR="14605" lvl="0" indent="-342900" algn="just">
              <a:lnSpc>
                <a:spcPct val="150000"/>
              </a:lnSpc>
              <a:spcBef>
                <a:spcPts val="500"/>
              </a:spcBef>
              <a:buFont typeface="+mj-lt"/>
              <a:buAutoNum type="arabicPeriod" startAt="3"/>
              <a:tabLst>
                <a:tab pos="561340" algn="l"/>
                <a:tab pos="1019175" algn="l"/>
              </a:tabLst>
            </a:pPr>
            <a:r>
              <a:rPr lang="en-US" spc="0" dirty="0">
                <a:effectLst/>
                <a:latin typeface="Times New Roman" panose="02020603050405020304" pitchFamily="18" charset="0"/>
                <a:ea typeface="Times New Roman" panose="02020603050405020304" pitchFamily="18" charset="0"/>
              </a:rPr>
              <a:t>(a)</a:t>
            </a:r>
            <a:r>
              <a:rPr lang="en-US" spc="2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Constantan is commonly used in resistors and potentiometers due to its stable resistance.</a:t>
            </a:r>
            <a:r>
              <a:rPr lang="en-US" spc="4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The</a:t>
            </a:r>
            <a:r>
              <a:rPr lang="en-US" spc="4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temperature</a:t>
            </a:r>
            <a:r>
              <a:rPr lang="en-US" spc="4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coefficient</a:t>
            </a:r>
            <a:r>
              <a:rPr lang="en-US" spc="4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of</a:t>
            </a:r>
            <a:r>
              <a:rPr lang="en-US" spc="4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resistivity</a:t>
            </a:r>
            <a:r>
              <a:rPr lang="en-US" spc="4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of</a:t>
            </a:r>
            <a:r>
              <a:rPr lang="en-US" spc="4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constantan</a:t>
            </a:r>
            <a:r>
              <a:rPr lang="en-US" spc="400"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is </a:t>
            </a:r>
            <a:r>
              <a:rPr lang="en-US" spc="0" dirty="0">
                <a:effectLst/>
                <a:latin typeface="Cambria Math" panose="02040503050406030204" pitchFamily="18" charset="0"/>
                <a:ea typeface="Times New Roman" panose="02020603050405020304" pitchFamily="18" charset="0"/>
              </a:rPr>
              <a:t>4 ×</a:t>
            </a:r>
            <a:r>
              <a:rPr lang="en-US" spc="-10" dirty="0">
                <a:effectLst/>
                <a:latin typeface="Cambria Math" panose="02040503050406030204" pitchFamily="18" charset="0"/>
                <a:ea typeface="Times New Roman" panose="02020603050405020304" pitchFamily="18" charset="0"/>
              </a:rPr>
              <a:t> </a:t>
            </a:r>
            <a:r>
              <a:rPr lang="en-US" spc="0" dirty="0">
                <a:effectLst/>
                <a:latin typeface="Cambria Math" panose="02040503050406030204" pitchFamily="18" charset="0"/>
                <a:ea typeface="Times New Roman" panose="02020603050405020304" pitchFamily="18" charset="0"/>
              </a:rPr>
              <a:t>10</a:t>
            </a:r>
            <a:r>
              <a:rPr lang="en-US" spc="0" baseline="30000" dirty="0">
                <a:effectLst/>
                <a:latin typeface="Cambria Math" panose="02040503050406030204" pitchFamily="18" charset="0"/>
                <a:ea typeface="Times New Roman" panose="02020603050405020304" pitchFamily="18" charset="0"/>
              </a:rPr>
              <a:t>−5</a:t>
            </a:r>
            <a:r>
              <a:rPr lang="en-US" spc="0" dirty="0">
                <a:effectLst/>
                <a:latin typeface="Cambria Math" panose="02040503050406030204" pitchFamily="18" charset="0"/>
                <a:ea typeface="Times New Roman" panose="02020603050405020304" pitchFamily="18" charset="0"/>
              </a:rPr>
              <a:t> °C</a:t>
            </a:r>
            <a:r>
              <a:rPr lang="en-US" spc="0" baseline="30000" dirty="0">
                <a:effectLst/>
                <a:latin typeface="Cambria Math" panose="02040503050406030204" pitchFamily="18" charset="0"/>
                <a:ea typeface="Times New Roman" panose="02020603050405020304" pitchFamily="18" charset="0"/>
              </a:rPr>
              <a:t>−1</a:t>
            </a:r>
            <a:r>
              <a:rPr lang="en-US" spc="0" dirty="0">
                <a:effectLst/>
                <a:latin typeface="Times New Roman" panose="02020603050405020304" pitchFamily="18" charset="0"/>
                <a:ea typeface="Times New Roman" panose="02020603050405020304" pitchFamily="18" charset="0"/>
              </a:rPr>
              <a:t>. If the resistance of a constantan wire becomes</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148 Ω</a:t>
            </a:r>
            <a:r>
              <a:rPr lang="en-US" spc="-5" dirty="0">
                <a:effectLst/>
                <a:latin typeface="Times New Roman" panose="02020603050405020304" pitchFamily="18" charset="0"/>
                <a:ea typeface="Times New Roman" panose="02020603050405020304" pitchFamily="18" charset="0"/>
              </a:rPr>
              <a:t> </a:t>
            </a:r>
            <a:r>
              <a:rPr lang="en-US" spc="0" dirty="0">
                <a:effectLst/>
                <a:latin typeface="Times New Roman" panose="02020603050405020304" pitchFamily="18" charset="0"/>
                <a:ea typeface="Times New Roman" panose="02020603050405020304" pitchFamily="18" charset="0"/>
              </a:rPr>
              <a:t>from 150 Ω when its temperature changes, calculate the change in temperature of the constantan wire.</a:t>
            </a:r>
            <a:endParaRPr lang="en-MY" spc="0" dirty="0">
              <a:effectLst/>
              <a:latin typeface="Times New Roman" panose="02020603050405020304" pitchFamily="18" charset="0"/>
              <a:ea typeface="Times New Roman" panose="02020603050405020304" pitchFamily="18" charset="0"/>
            </a:endParaRPr>
          </a:p>
          <a:p>
            <a:pPr marR="12700" algn="r">
              <a:lnSpc>
                <a:spcPts val="1340"/>
              </a:lnSpc>
              <a:buNone/>
            </a:pPr>
            <a:r>
              <a:rPr lang="en-US" dirty="0">
                <a:effectLst/>
                <a:latin typeface="Times New Roman" panose="02020603050405020304" pitchFamily="18" charset="0"/>
                <a:ea typeface="Times New Roman" panose="02020603050405020304" pitchFamily="18" charset="0"/>
              </a:rPr>
              <a:t>[2</a:t>
            </a:r>
            <a:r>
              <a:rPr lang="en-US" spc="-5" dirty="0">
                <a:effectLst/>
                <a:latin typeface="Times New Roman" panose="02020603050405020304" pitchFamily="18" charset="0"/>
                <a:ea typeface="Times New Roman" panose="02020603050405020304" pitchFamily="18" charset="0"/>
              </a:rPr>
              <a:t> </a:t>
            </a:r>
            <a:r>
              <a:rPr lang="en-US" i="1" spc="-10" dirty="0">
                <a:effectLst/>
                <a:latin typeface="Times New Roman" panose="02020603050405020304" pitchFamily="18" charset="0"/>
                <a:ea typeface="Times New Roman" panose="02020603050405020304" pitchFamily="18" charset="0"/>
              </a:rPr>
              <a:t>marks</a:t>
            </a:r>
            <a:r>
              <a:rPr lang="en-US"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pic>
        <p:nvPicPr>
          <p:cNvPr id="4" name="Image 139">
            <a:extLst>
              <a:ext uri="{FF2B5EF4-FFF2-40B4-BE49-F238E27FC236}">
                <a16:creationId xmlns:a16="http://schemas.microsoft.com/office/drawing/2014/main" id="{612784DB-81E2-4C09-4D6E-5996F84F9FC5}"/>
              </a:ext>
            </a:extLst>
          </p:cNvPr>
          <p:cNvPicPr>
            <a:picLocks/>
          </p:cNvPicPr>
          <p:nvPr/>
        </p:nvPicPr>
        <p:blipFill>
          <a:blip r:embed="rId2" cstate="print"/>
          <a:stretch>
            <a:fillRect/>
          </a:stretch>
        </p:blipFill>
        <p:spPr>
          <a:xfrm>
            <a:off x="378050" y="2620980"/>
            <a:ext cx="4297680" cy="2077085"/>
          </a:xfrm>
          <a:prstGeom prst="rect">
            <a:avLst/>
          </a:prstGeom>
        </p:spPr>
      </p:pic>
      <p:sp>
        <p:nvSpPr>
          <p:cNvPr id="6" name="TextBox 5">
            <a:extLst>
              <a:ext uri="{FF2B5EF4-FFF2-40B4-BE49-F238E27FC236}">
                <a16:creationId xmlns:a16="http://schemas.microsoft.com/office/drawing/2014/main" id="{D8BCBCBD-4B68-D5EC-A244-DB6DF5AFCC2A}"/>
              </a:ext>
            </a:extLst>
          </p:cNvPr>
          <p:cNvSpPr txBox="1"/>
          <p:nvPr/>
        </p:nvSpPr>
        <p:spPr>
          <a:xfrm>
            <a:off x="4484001" y="2274838"/>
            <a:ext cx="6098458" cy="4293483"/>
          </a:xfrm>
          <a:prstGeom prst="rect">
            <a:avLst/>
          </a:prstGeom>
          <a:noFill/>
        </p:spPr>
        <p:txBody>
          <a:bodyPr wrap="square">
            <a:spAutoFit/>
          </a:bodyPr>
          <a:lstStyle/>
          <a:p>
            <a:pPr marL="1003935" marR="46990" indent="15240">
              <a:lnSpc>
                <a:spcPct val="150000"/>
              </a:lnSpc>
              <a:buNone/>
            </a:pPr>
            <a:r>
              <a:rPr lang="en-US" b="1" dirty="0">
                <a:effectLst/>
                <a:latin typeface="Times New Roman" panose="02020603050405020304" pitchFamily="18" charset="0"/>
                <a:ea typeface="Times New Roman" panose="02020603050405020304" pitchFamily="18" charset="0"/>
              </a:rPr>
              <a:t>(b) FIGURE 3 </a:t>
            </a:r>
            <a:r>
              <a:rPr lang="en-US" dirty="0">
                <a:effectLst/>
                <a:latin typeface="Times New Roman" panose="02020603050405020304" pitchFamily="18" charset="0"/>
                <a:ea typeface="Times New Roman" panose="02020603050405020304" pitchFamily="18" charset="0"/>
              </a:rPr>
              <a:t>shows a circuit consisting of four resistors and a battery. Voltmeter</a:t>
            </a:r>
            <a:r>
              <a:rPr lang="en-US" spc="-2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is</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connected</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across</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battery,</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while</a:t>
            </a:r>
            <a:r>
              <a:rPr lang="en-US" spc="-2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voltmeter</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B</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is</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connected</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in parallel to the resistor </a:t>
            </a:r>
            <a:r>
              <a:rPr lang="en-US" i="1" dirty="0">
                <a:effectLst/>
                <a:latin typeface="Times New Roman" panose="02020603050405020304" pitchFamily="18" charset="0"/>
                <a:ea typeface="Times New Roman" panose="02020603050405020304" pitchFamily="18" charset="0"/>
              </a:rPr>
              <a:t>R</a:t>
            </a:r>
            <a:r>
              <a:rPr lang="en-US" dirty="0">
                <a:effectLst/>
                <a:latin typeface="Times New Roman" panose="02020603050405020304" pitchFamily="18" charset="0"/>
                <a:ea typeface="Times New Roman" panose="02020603050405020304" pitchFamily="18" charset="0"/>
              </a:rPr>
              <a:t>1. If the battery has an emf of 12 V with internal resistance 0.2 Ω,</a:t>
            </a:r>
            <a:endParaRPr lang="en-MY" dirty="0">
              <a:effectLst/>
              <a:latin typeface="Times New Roman" panose="02020603050405020304" pitchFamily="18" charset="0"/>
              <a:ea typeface="Times New Roman" panose="02020603050405020304" pitchFamily="18" charset="0"/>
            </a:endParaRPr>
          </a:p>
          <a:p>
            <a:pPr marL="857250" lvl="1" indent="-400050">
              <a:lnSpc>
                <a:spcPts val="1370"/>
              </a:lnSpc>
              <a:buFont typeface="+mj-lt"/>
              <a:buAutoNum type="romanLcPeriod"/>
              <a:tabLst>
                <a:tab pos="1476375" algn="l"/>
              </a:tabLst>
            </a:pPr>
            <a:r>
              <a:rPr lang="en-US" dirty="0">
                <a:effectLst/>
                <a:latin typeface="Times New Roman" panose="02020603050405020304" pitchFamily="18" charset="0"/>
                <a:ea typeface="Times New Roman" panose="02020603050405020304" pitchFamily="18" charset="0"/>
              </a:rPr>
              <a:t>Calculate</a:t>
            </a:r>
            <a:r>
              <a:rPr lang="en-US" spc="-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a:t>
            </a:r>
            <a:r>
              <a:rPr lang="en-US" spc="-1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effective</a:t>
            </a:r>
            <a:r>
              <a:rPr lang="en-US" spc="-1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resistance</a:t>
            </a:r>
            <a:r>
              <a:rPr lang="en-US" spc="-1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of</a:t>
            </a:r>
            <a:r>
              <a:rPr lang="en-US" spc="-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a:t>
            </a:r>
            <a:r>
              <a:rPr lang="en-US" spc="-10" dirty="0">
                <a:effectLst/>
                <a:latin typeface="Times New Roman" panose="02020603050405020304" pitchFamily="18" charset="0"/>
                <a:ea typeface="Times New Roman" panose="02020603050405020304" pitchFamily="18" charset="0"/>
              </a:rPr>
              <a:t> circuit.</a:t>
            </a:r>
            <a:endParaRPr lang="en-MY" dirty="0">
              <a:effectLst/>
              <a:latin typeface="Times New Roman" panose="02020603050405020304" pitchFamily="18" charset="0"/>
              <a:ea typeface="Times New Roman" panose="02020603050405020304" pitchFamily="18" charset="0"/>
            </a:endParaRPr>
          </a:p>
          <a:p>
            <a:pPr marL="857250" lvl="1" indent="-400050">
              <a:spcBef>
                <a:spcPts val="695"/>
              </a:spcBef>
              <a:buFont typeface="+mj-lt"/>
              <a:buAutoNum type="romanLcPeriod"/>
              <a:tabLst>
                <a:tab pos="1476375" algn="l"/>
              </a:tabLst>
            </a:pPr>
            <a:r>
              <a:rPr lang="en-US" dirty="0">
                <a:effectLst/>
                <a:latin typeface="Times New Roman" panose="02020603050405020304" pitchFamily="18" charset="0"/>
                <a:ea typeface="Times New Roman" panose="02020603050405020304" pitchFamily="18" charset="0"/>
              </a:rPr>
              <a:t>Calculate</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a:t>
            </a:r>
            <a:r>
              <a:rPr lang="en-US" spc="-1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reading</a:t>
            </a:r>
            <a:r>
              <a:rPr lang="en-US" spc="-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of voltmeter </a:t>
            </a:r>
            <a:r>
              <a:rPr lang="en-US" spc="-25" dirty="0">
                <a:effectLst/>
                <a:latin typeface="Times New Roman" panose="02020603050405020304" pitchFamily="18" charset="0"/>
                <a:ea typeface="Times New Roman" panose="02020603050405020304" pitchFamily="18" charset="0"/>
              </a:rPr>
              <a:t>A.</a:t>
            </a:r>
            <a:endParaRPr lang="en-MY" dirty="0">
              <a:effectLst/>
              <a:latin typeface="Times New Roman" panose="02020603050405020304" pitchFamily="18" charset="0"/>
              <a:ea typeface="Times New Roman" panose="02020603050405020304" pitchFamily="18" charset="0"/>
            </a:endParaRPr>
          </a:p>
          <a:p>
            <a:pPr marL="857250" lvl="1" indent="-400050">
              <a:spcBef>
                <a:spcPts val="685"/>
              </a:spcBef>
              <a:buFont typeface="+mj-lt"/>
              <a:buAutoNum type="romanLcPeriod"/>
              <a:tabLst>
                <a:tab pos="1476375" algn="l"/>
              </a:tabLst>
            </a:pPr>
            <a:r>
              <a:rPr lang="en-US" dirty="0">
                <a:effectLst/>
                <a:latin typeface="Times New Roman" panose="02020603050405020304" pitchFamily="18" charset="0"/>
                <a:ea typeface="Times New Roman" panose="02020603050405020304" pitchFamily="18" charset="0"/>
              </a:rPr>
              <a:t>Calculate</a:t>
            </a:r>
            <a:r>
              <a:rPr lang="en-US" spc="-1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the</a:t>
            </a:r>
            <a:r>
              <a:rPr lang="en-US" spc="-10"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reading</a:t>
            </a:r>
            <a:r>
              <a:rPr lang="en-US" spc="-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of voltmeter </a:t>
            </a:r>
            <a:r>
              <a:rPr lang="en-US" spc="-25" dirty="0">
                <a:effectLst/>
                <a:latin typeface="Times New Roman" panose="02020603050405020304" pitchFamily="18" charset="0"/>
                <a:ea typeface="Times New Roman" panose="02020603050405020304" pitchFamily="18" charset="0"/>
              </a:rPr>
              <a:t>B.</a:t>
            </a:r>
            <a:endParaRPr lang="en-MY" dirty="0">
              <a:effectLst/>
              <a:latin typeface="Times New Roman" panose="02020603050405020304" pitchFamily="18" charset="0"/>
              <a:ea typeface="Times New Roman" panose="02020603050405020304" pitchFamily="18" charset="0"/>
            </a:endParaRPr>
          </a:p>
          <a:p>
            <a:pPr marL="857250" lvl="1" indent="-400050">
              <a:spcBef>
                <a:spcPts val="715"/>
              </a:spcBef>
              <a:buFont typeface="+mj-lt"/>
              <a:buAutoNum type="romanLcPeriod"/>
              <a:tabLst>
                <a:tab pos="1476375" algn="l"/>
              </a:tabLst>
            </a:pPr>
            <a:r>
              <a:rPr lang="en-US" dirty="0">
                <a:effectLst/>
                <a:latin typeface="Times New Roman" panose="02020603050405020304" pitchFamily="18" charset="0"/>
                <a:ea typeface="Times New Roman" panose="02020603050405020304" pitchFamily="18" charset="0"/>
              </a:rPr>
              <a:t>Calculate the</a:t>
            </a:r>
            <a:r>
              <a:rPr lang="en-US" spc="-5" dirty="0">
                <a:effectLst/>
                <a:latin typeface="Times New Roman" panose="02020603050405020304" pitchFamily="18" charset="0"/>
                <a:ea typeface="Times New Roman" panose="02020603050405020304" pitchFamily="18" charset="0"/>
              </a:rPr>
              <a:t> </a:t>
            </a:r>
            <a:r>
              <a:rPr lang="en-US" dirty="0">
                <a:effectLst/>
                <a:latin typeface="Times New Roman" panose="02020603050405020304" pitchFamily="18" charset="0"/>
                <a:ea typeface="Times New Roman" panose="02020603050405020304" pitchFamily="18" charset="0"/>
              </a:rPr>
              <a:t>energy dissipated by the resistor</a:t>
            </a:r>
            <a:r>
              <a:rPr lang="en-US" spc="20" dirty="0">
                <a:effectLst/>
                <a:latin typeface="Times New Roman" panose="02020603050405020304" pitchFamily="18" charset="0"/>
                <a:ea typeface="Times New Roman" panose="02020603050405020304" pitchFamily="18" charset="0"/>
              </a:rPr>
              <a:t> </a:t>
            </a:r>
            <a:r>
              <a:rPr lang="en-US" dirty="0">
                <a:effectLst/>
                <a:latin typeface="Cambria Math" panose="02040503050406030204" pitchFamily="18" charset="0"/>
                <a:ea typeface="Cambria Math" panose="02040503050406030204" pitchFamily="18" charset="0"/>
              </a:rPr>
              <a:t>𝑅</a:t>
            </a:r>
            <a:r>
              <a:rPr lang="en-US" baseline="-25000" dirty="0">
                <a:effectLst/>
                <a:latin typeface="Cambria Math" panose="02040503050406030204" pitchFamily="18" charset="0"/>
                <a:ea typeface="Cambria Math" panose="02040503050406030204" pitchFamily="18" charset="0"/>
              </a:rPr>
              <a:t>4</a:t>
            </a:r>
            <a:r>
              <a:rPr lang="en-US" spc="85" dirty="0">
                <a:effectLst/>
                <a:latin typeface="Cambria Math" panose="02040503050406030204" pitchFamily="18" charset="0"/>
                <a:ea typeface="Cambria Math" panose="02040503050406030204" pitchFamily="18" charset="0"/>
              </a:rPr>
              <a:t> </a:t>
            </a:r>
            <a:r>
              <a:rPr lang="en-US" dirty="0">
                <a:effectLst/>
                <a:latin typeface="Times New Roman" panose="02020603050405020304" pitchFamily="18" charset="0"/>
                <a:ea typeface="Times New Roman" panose="02020603050405020304" pitchFamily="18" charset="0"/>
              </a:rPr>
              <a:t>in 5 </a:t>
            </a:r>
            <a:r>
              <a:rPr lang="en-US" spc="-10" dirty="0">
                <a:effectLst/>
                <a:latin typeface="Times New Roman" panose="02020603050405020304" pitchFamily="18" charset="0"/>
                <a:ea typeface="Times New Roman" panose="02020603050405020304" pitchFamily="18" charset="0"/>
              </a:rPr>
              <a:t>minutes.</a:t>
            </a:r>
            <a:endParaRPr lang="en-MY" dirty="0">
              <a:effectLst/>
              <a:latin typeface="Times New Roman" panose="02020603050405020304" pitchFamily="18" charset="0"/>
              <a:ea typeface="Times New Roman" panose="02020603050405020304" pitchFamily="18" charset="0"/>
            </a:endParaRPr>
          </a:p>
          <a:p>
            <a:pPr>
              <a:spcBef>
                <a:spcPts val="100"/>
              </a:spcBef>
              <a:buNone/>
            </a:pPr>
            <a:r>
              <a:rPr lang="en-US" dirty="0">
                <a:effectLst/>
                <a:latin typeface="Times New Roman" panose="02020603050405020304" pitchFamily="18" charset="0"/>
                <a:ea typeface="Times New Roman" panose="02020603050405020304" pitchFamily="18" charset="0"/>
              </a:rPr>
              <a:t> </a:t>
            </a:r>
            <a:endParaRPr lang="en-MY" dirty="0">
              <a:effectLst/>
              <a:latin typeface="Times New Roman" panose="02020603050405020304" pitchFamily="18" charset="0"/>
              <a:ea typeface="Times New Roman" panose="02020603050405020304" pitchFamily="18" charset="0"/>
            </a:endParaRPr>
          </a:p>
          <a:p>
            <a:pPr marR="12700" algn="r">
              <a:buNone/>
            </a:pPr>
            <a:r>
              <a:rPr lang="en-US" dirty="0">
                <a:effectLst/>
                <a:latin typeface="Times New Roman" panose="02020603050405020304" pitchFamily="18" charset="0"/>
                <a:ea typeface="Times New Roman" panose="02020603050405020304" pitchFamily="18" charset="0"/>
              </a:rPr>
              <a:t>[11</a:t>
            </a:r>
            <a:r>
              <a:rPr lang="en-US" spc="-5" dirty="0">
                <a:effectLst/>
                <a:latin typeface="Times New Roman" panose="02020603050405020304" pitchFamily="18" charset="0"/>
                <a:ea typeface="Times New Roman" panose="02020603050405020304" pitchFamily="18" charset="0"/>
              </a:rPr>
              <a:t> </a:t>
            </a:r>
            <a:r>
              <a:rPr lang="en-US" i="1" spc="-10" dirty="0">
                <a:effectLst/>
                <a:latin typeface="Times New Roman" panose="02020603050405020304" pitchFamily="18" charset="0"/>
                <a:ea typeface="Times New Roman" panose="02020603050405020304" pitchFamily="18" charset="0"/>
              </a:rPr>
              <a:t>marks</a:t>
            </a:r>
            <a:r>
              <a:rPr lang="en-US" spc="-10" dirty="0">
                <a:effectLst/>
                <a:latin typeface="Times New Roman" panose="02020603050405020304" pitchFamily="18" charset="0"/>
                <a:ea typeface="Times New Roman" panose="02020603050405020304" pitchFamily="18" charset="0"/>
              </a:rPr>
              <a:t>]</a:t>
            </a:r>
            <a:endParaRPr lang="en-MY" dirty="0">
              <a:effectLst/>
              <a:latin typeface="Times New Roman" panose="02020603050405020304" pitchFamily="18" charset="0"/>
              <a:ea typeface="Times New Roman" panose="02020603050405020304" pitchFamily="18" charset="0"/>
            </a:endParaRPr>
          </a:p>
        </p:txBody>
      </p:sp>
      <p:pic>
        <p:nvPicPr>
          <p:cNvPr id="8" name="Picture 7">
            <a:extLst>
              <a:ext uri="{FF2B5EF4-FFF2-40B4-BE49-F238E27FC236}">
                <a16:creationId xmlns:a16="http://schemas.microsoft.com/office/drawing/2014/main" id="{1F6B7BE3-6ED8-685F-ADF7-9E1E06EB44FD}"/>
              </a:ext>
            </a:extLst>
          </p:cNvPr>
          <p:cNvPicPr>
            <a:picLocks noChangeAspect="1"/>
          </p:cNvPicPr>
          <p:nvPr/>
        </p:nvPicPr>
        <p:blipFill>
          <a:blip r:embed="rId3"/>
          <a:stretch>
            <a:fillRect/>
          </a:stretch>
        </p:blipFill>
        <p:spPr>
          <a:xfrm>
            <a:off x="689487" y="5450367"/>
            <a:ext cx="3086531" cy="1371791"/>
          </a:xfrm>
          <a:prstGeom prst="rect">
            <a:avLst/>
          </a:prstGeom>
        </p:spPr>
      </p:pic>
    </p:spTree>
    <p:extLst>
      <p:ext uri="{BB962C8B-B14F-4D97-AF65-F5344CB8AC3E}">
        <p14:creationId xmlns:p14="http://schemas.microsoft.com/office/powerpoint/2010/main" val="2023026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281475-6F7A-0C06-CA57-5C42F328E32A}"/>
              </a:ext>
            </a:extLst>
          </p:cNvPr>
          <p:cNvSpPr txBox="1"/>
          <p:nvPr/>
        </p:nvSpPr>
        <p:spPr>
          <a:xfrm>
            <a:off x="438666" y="254821"/>
            <a:ext cx="11448534" cy="723275"/>
          </a:xfrm>
          <a:prstGeom prst="rect">
            <a:avLst/>
          </a:prstGeom>
          <a:noFill/>
        </p:spPr>
        <p:txBody>
          <a:bodyPr wrap="square">
            <a:spAutoFit/>
          </a:bodyPr>
          <a:lstStyle/>
          <a:p>
            <a:pPr lvl="0">
              <a:spcBef>
                <a:spcPts val="600"/>
              </a:spcBef>
              <a:tabLst>
                <a:tab pos="650240" algn="l"/>
                <a:tab pos="950595" algn="l"/>
              </a:tabLst>
            </a:pPr>
            <a:r>
              <a:rPr lang="en-US" spc="-25" dirty="0">
                <a:latin typeface="Times New Roman" panose="02020603050405020304" pitchFamily="18" charset="0"/>
                <a:ea typeface="Times New Roman" panose="02020603050405020304" pitchFamily="18" charset="0"/>
              </a:rPr>
              <a:t>3. a) </a:t>
            </a:r>
            <a:r>
              <a:rPr lang="en-US" spc="-25" dirty="0">
                <a:effectLst/>
                <a:latin typeface="Times New Roman" panose="02020603050405020304" pitchFamily="18" charset="0"/>
                <a:ea typeface="Times New Roman" panose="02020603050405020304" pitchFamily="18" charset="0"/>
              </a:rPr>
              <a:t>Current of 0.4 A flows in a light bulb. Calculate the number of electrons that enter the light bulb every minute.</a:t>
            </a:r>
          </a:p>
          <a:p>
            <a:pPr lvl="0" algn="r">
              <a:spcBef>
                <a:spcPts val="600"/>
              </a:spcBef>
              <a:tabLst>
                <a:tab pos="650240" algn="l"/>
                <a:tab pos="950595" algn="l"/>
              </a:tabLst>
            </a:pPr>
            <a:r>
              <a:rPr lang="en-US" spc="-25" dirty="0">
                <a:effectLst/>
                <a:latin typeface="Times New Roman" panose="02020603050405020304" pitchFamily="18" charset="0"/>
                <a:ea typeface="Times New Roman" panose="02020603050405020304" pitchFamily="18" charset="0"/>
              </a:rPr>
              <a:t>[2 marks]</a:t>
            </a:r>
            <a:endParaRPr lang="en-MY" spc="0" dirty="0">
              <a:effectLst/>
              <a:latin typeface="Times New Roman" panose="02020603050405020304" pitchFamily="18" charset="0"/>
              <a:ea typeface="Times New Roman" panose="02020603050405020304" pitchFamily="18" charset="0"/>
            </a:endParaRPr>
          </a:p>
        </p:txBody>
      </p:sp>
      <p:sp>
        <p:nvSpPr>
          <p:cNvPr id="4" name="TextBox 3">
            <a:extLst>
              <a:ext uri="{FF2B5EF4-FFF2-40B4-BE49-F238E27FC236}">
                <a16:creationId xmlns:a16="http://schemas.microsoft.com/office/drawing/2014/main" id="{9300EB9B-8D76-4EDE-CF83-DFBCE668A534}"/>
              </a:ext>
            </a:extLst>
          </p:cNvPr>
          <p:cNvSpPr txBox="1"/>
          <p:nvPr/>
        </p:nvSpPr>
        <p:spPr>
          <a:xfrm>
            <a:off x="438666" y="1201468"/>
            <a:ext cx="11448534" cy="1754326"/>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b) A wire of cross-sectional area 0.8 mm² is connected to a variable voltage, V and the current, I in the wire is measured. At 27 °C, the resistance of the wire is 0.25 Ω and the resistivity is 4.5 × 10⁻⁸ Ω m. Calculate the:</a:t>
            </a:r>
          </a:p>
          <a:p>
            <a:pPr marL="400050" indent="-400050">
              <a:buAutoNum type="romanLcParenR"/>
            </a:pPr>
            <a:r>
              <a:rPr lang="en-US" dirty="0">
                <a:latin typeface="Times New Roman" panose="02020603050405020304" pitchFamily="18" charset="0"/>
                <a:cs typeface="Times New Roman" panose="02020603050405020304" pitchFamily="18" charset="0"/>
              </a:rPr>
              <a:t>length of the wire.</a:t>
            </a:r>
          </a:p>
          <a:p>
            <a:pPr marL="400050" indent="-400050">
              <a:buAutoNum type="romanLcParenR"/>
            </a:pPr>
            <a:r>
              <a:rPr lang="en-US" dirty="0">
                <a:latin typeface="Times New Roman" panose="02020603050405020304" pitchFamily="18" charset="0"/>
                <a:cs typeface="Times New Roman" panose="02020603050405020304" pitchFamily="18" charset="0"/>
              </a:rPr>
              <a:t>change in the resistance of the wire when it is heated to 50 °C. The temperature coefficient of resistivity of the wire is 3.9 × 10⁻³ °C⁻¹.</a:t>
            </a:r>
          </a:p>
          <a:p>
            <a:pPr algn="r"/>
            <a:r>
              <a:rPr lang="en-US" dirty="0">
                <a:latin typeface="Times New Roman" panose="02020603050405020304" pitchFamily="18" charset="0"/>
                <a:cs typeface="Times New Roman" panose="02020603050405020304" pitchFamily="18" charset="0"/>
              </a:rPr>
              <a:t>[3 marks]</a:t>
            </a:r>
            <a:endParaRPr lang="en-MY"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C5388D4-E388-2FBF-7F4E-309CB759B31B}"/>
              </a:ext>
            </a:extLst>
          </p:cNvPr>
          <p:cNvSpPr txBox="1"/>
          <p:nvPr/>
        </p:nvSpPr>
        <p:spPr>
          <a:xfrm>
            <a:off x="438666" y="2940046"/>
            <a:ext cx="11448534" cy="1477328"/>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 A battery of internal resistance 0.5 Ω has a terminal voltage of 9.0 V when no current flows. A 10.0 Ω resistor is connected across the battery terminals. Calculate the:</a:t>
            </a:r>
          </a:p>
          <a:p>
            <a:pPr marL="400050" indent="-400050">
              <a:buAutoNum type="romanLcParenR"/>
            </a:pPr>
            <a:r>
              <a:rPr lang="en-US" dirty="0">
                <a:latin typeface="Times New Roman" panose="02020603050405020304" pitchFamily="18" charset="0"/>
                <a:cs typeface="Times New Roman" panose="02020603050405020304" pitchFamily="18" charset="0"/>
              </a:rPr>
              <a:t>current through the 10.0 Ω resistor</a:t>
            </a:r>
          </a:p>
          <a:p>
            <a:pPr marL="400050" indent="-400050">
              <a:buAutoNum type="romanLcParenR"/>
            </a:pPr>
            <a:r>
              <a:rPr lang="en-US" dirty="0">
                <a:latin typeface="Times New Roman" panose="02020603050405020304" pitchFamily="18" charset="0"/>
                <a:cs typeface="Times New Roman" panose="02020603050405020304" pitchFamily="18" charset="0"/>
              </a:rPr>
              <a:t>new terminal voltage</a:t>
            </a:r>
          </a:p>
          <a:p>
            <a:pPr algn="r"/>
            <a:r>
              <a:rPr lang="en-US" dirty="0">
                <a:latin typeface="Times New Roman" panose="02020603050405020304" pitchFamily="18" charset="0"/>
                <a:cs typeface="Times New Roman" panose="02020603050405020304" pitchFamily="18" charset="0"/>
              </a:rPr>
              <a:t>[4 marks]</a:t>
            </a:r>
            <a:endParaRPr lang="en-MY"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A798754-FFBD-D6AC-97E2-C09C00B3F19B}"/>
              </a:ext>
            </a:extLst>
          </p:cNvPr>
          <p:cNvSpPr txBox="1"/>
          <p:nvPr/>
        </p:nvSpPr>
        <p:spPr>
          <a:xfrm>
            <a:off x="2496065" y="4417374"/>
            <a:ext cx="9140370" cy="923330"/>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FIGURE 3 </a:t>
            </a:r>
            <a:r>
              <a:rPr lang="en-US" dirty="0">
                <a:latin typeface="Times New Roman" panose="02020603050405020304" pitchFamily="18" charset="0"/>
                <a:cs typeface="Times New Roman" panose="02020603050405020304" pitchFamily="18" charset="0"/>
              </a:rPr>
              <a:t>shows a voltmeter with resistance 200 </a:t>
            </a:r>
            <a:r>
              <a:rPr lang="en-US" dirty="0" err="1">
                <a:latin typeface="Times New Roman" panose="02020603050405020304" pitchFamily="18" charset="0"/>
                <a:cs typeface="Times New Roman" panose="02020603050405020304" pitchFamily="18" charset="0"/>
              </a:rPr>
              <a:t>kΩ</a:t>
            </a:r>
            <a:r>
              <a:rPr lang="en-US" dirty="0">
                <a:latin typeface="Times New Roman" panose="02020603050405020304" pitchFamily="18" charset="0"/>
                <a:cs typeface="Times New Roman" panose="02020603050405020304" pitchFamily="18" charset="0"/>
              </a:rPr>
              <a:t> connected across a resistor Q. Determine the voltmeter reading.</a:t>
            </a:r>
          </a:p>
          <a:p>
            <a:pPr algn="r"/>
            <a:r>
              <a:rPr lang="en-US" dirty="0">
                <a:latin typeface="Times New Roman" panose="02020603050405020304" pitchFamily="18" charset="0"/>
                <a:cs typeface="Times New Roman" panose="02020603050405020304" pitchFamily="18" charset="0"/>
              </a:rPr>
              <a:t>[4 marks</a:t>
            </a:r>
            <a:r>
              <a:rPr lang="en-US" dirty="0"/>
              <a:t>]</a:t>
            </a:r>
            <a:endParaRPr lang="en-MY" dirty="0"/>
          </a:p>
        </p:txBody>
      </p:sp>
      <p:pic>
        <p:nvPicPr>
          <p:cNvPr id="14" name="Picture 13">
            <a:extLst>
              <a:ext uri="{FF2B5EF4-FFF2-40B4-BE49-F238E27FC236}">
                <a16:creationId xmlns:a16="http://schemas.microsoft.com/office/drawing/2014/main" id="{31C0609F-60AC-B880-CE7E-A4B445ADECAF}"/>
              </a:ext>
            </a:extLst>
          </p:cNvPr>
          <p:cNvPicPr>
            <a:picLocks noChangeAspect="1"/>
          </p:cNvPicPr>
          <p:nvPr/>
        </p:nvPicPr>
        <p:blipFill>
          <a:blip r:embed="rId3"/>
          <a:stretch>
            <a:fillRect/>
          </a:stretch>
        </p:blipFill>
        <p:spPr>
          <a:xfrm>
            <a:off x="0" y="4148661"/>
            <a:ext cx="2496065" cy="1477328"/>
          </a:xfrm>
          <a:prstGeom prst="rect">
            <a:avLst/>
          </a:prstGeom>
        </p:spPr>
      </p:pic>
      <p:pic>
        <p:nvPicPr>
          <p:cNvPr id="5" name="Picture 4">
            <a:extLst>
              <a:ext uri="{FF2B5EF4-FFF2-40B4-BE49-F238E27FC236}">
                <a16:creationId xmlns:a16="http://schemas.microsoft.com/office/drawing/2014/main" id="{5E5EFD77-C3B9-1CAF-D101-99DA6CFDE900}"/>
              </a:ext>
            </a:extLst>
          </p:cNvPr>
          <p:cNvPicPr>
            <a:picLocks noChangeAspect="1"/>
          </p:cNvPicPr>
          <p:nvPr/>
        </p:nvPicPr>
        <p:blipFill>
          <a:blip r:embed="rId4"/>
          <a:stretch>
            <a:fillRect/>
          </a:stretch>
        </p:blipFill>
        <p:spPr>
          <a:xfrm>
            <a:off x="9095216" y="5656532"/>
            <a:ext cx="2962688" cy="1114581"/>
          </a:xfrm>
          <a:prstGeom prst="rect">
            <a:avLst/>
          </a:prstGeom>
        </p:spPr>
      </p:pic>
    </p:spTree>
    <p:extLst>
      <p:ext uri="{BB962C8B-B14F-4D97-AF65-F5344CB8AC3E}">
        <p14:creationId xmlns:p14="http://schemas.microsoft.com/office/powerpoint/2010/main" val="2902798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B440-E597-99A2-7C3A-E3280196962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052B93F-9319-0945-BE89-A0278284E457}"/>
              </a:ext>
            </a:extLst>
          </p:cNvPr>
          <p:cNvPicPr>
            <a:picLocks noChangeAspect="1"/>
          </p:cNvPicPr>
          <p:nvPr/>
        </p:nvPicPr>
        <p:blipFill>
          <a:blip r:embed="rId2"/>
          <a:stretch>
            <a:fillRect/>
          </a:stretch>
        </p:blipFill>
        <p:spPr>
          <a:xfrm>
            <a:off x="461384" y="548831"/>
            <a:ext cx="2438740" cy="1162212"/>
          </a:xfrm>
          <a:prstGeom prst="rect">
            <a:avLst/>
          </a:prstGeom>
        </p:spPr>
      </p:pic>
      <p:pic>
        <p:nvPicPr>
          <p:cNvPr id="5" name="Picture 4">
            <a:extLst>
              <a:ext uri="{FF2B5EF4-FFF2-40B4-BE49-F238E27FC236}">
                <a16:creationId xmlns:a16="http://schemas.microsoft.com/office/drawing/2014/main" id="{720613A9-9033-142B-C3C9-E253C46C6CAD}"/>
              </a:ext>
            </a:extLst>
          </p:cNvPr>
          <p:cNvPicPr>
            <a:picLocks noChangeAspect="1"/>
          </p:cNvPicPr>
          <p:nvPr/>
        </p:nvPicPr>
        <p:blipFill>
          <a:blip r:embed="rId3"/>
          <a:stretch>
            <a:fillRect/>
          </a:stretch>
        </p:blipFill>
        <p:spPr>
          <a:xfrm>
            <a:off x="461384" y="2049076"/>
            <a:ext cx="2295845" cy="1295581"/>
          </a:xfrm>
          <a:prstGeom prst="rect">
            <a:avLst/>
          </a:prstGeom>
        </p:spPr>
      </p:pic>
      <p:pic>
        <p:nvPicPr>
          <p:cNvPr id="7" name="Picture 6">
            <a:extLst>
              <a:ext uri="{FF2B5EF4-FFF2-40B4-BE49-F238E27FC236}">
                <a16:creationId xmlns:a16="http://schemas.microsoft.com/office/drawing/2014/main" id="{9E9AABC2-8A08-4331-0CFC-77ACD4C111B4}"/>
              </a:ext>
            </a:extLst>
          </p:cNvPr>
          <p:cNvPicPr>
            <a:picLocks noChangeAspect="1"/>
          </p:cNvPicPr>
          <p:nvPr/>
        </p:nvPicPr>
        <p:blipFill>
          <a:blip r:embed="rId4"/>
          <a:stretch>
            <a:fillRect/>
          </a:stretch>
        </p:blipFill>
        <p:spPr>
          <a:xfrm>
            <a:off x="518542" y="3919049"/>
            <a:ext cx="2381582" cy="1343212"/>
          </a:xfrm>
          <a:prstGeom prst="rect">
            <a:avLst/>
          </a:prstGeom>
        </p:spPr>
      </p:pic>
      <p:sp>
        <p:nvSpPr>
          <p:cNvPr id="9" name="TextBox 8">
            <a:extLst>
              <a:ext uri="{FF2B5EF4-FFF2-40B4-BE49-F238E27FC236}">
                <a16:creationId xmlns:a16="http://schemas.microsoft.com/office/drawing/2014/main" id="{55135B80-D69F-ABE6-66C9-F4E624DAB0C3}"/>
              </a:ext>
            </a:extLst>
          </p:cNvPr>
          <p:cNvSpPr txBox="1"/>
          <p:nvPr/>
        </p:nvSpPr>
        <p:spPr>
          <a:xfrm>
            <a:off x="3045822" y="206798"/>
            <a:ext cx="8684793" cy="147732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3. a) FIGURE 2a</a:t>
            </a:r>
            <a:r>
              <a:rPr lang="en-US" dirty="0">
                <a:latin typeface="Times New Roman" panose="02020603050405020304" pitchFamily="18" charset="0"/>
                <a:cs typeface="Times New Roman" panose="02020603050405020304" pitchFamily="18" charset="0"/>
              </a:rPr>
              <a:t> shows a combination of four resistors connected to 12 V battery. Calculate the:</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equivalent resistance of the resistors.</a:t>
            </a:r>
          </a:p>
          <a:p>
            <a:r>
              <a:rPr lang="en-US" dirty="0">
                <a:latin typeface="Times New Roman" panose="02020603050405020304" pitchFamily="18" charset="0"/>
                <a:cs typeface="Times New Roman" panose="02020603050405020304" pitchFamily="18" charset="0"/>
              </a:rPr>
              <a:t> ii) current </a:t>
            </a:r>
            <a:r>
              <a:rPr lang="en-US" i="1"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p>
          <a:p>
            <a:pPr algn="r"/>
            <a:r>
              <a:rPr lang="en-US" dirty="0">
                <a:latin typeface="Times New Roman" panose="02020603050405020304" pitchFamily="18" charset="0"/>
                <a:cs typeface="Times New Roman" panose="02020603050405020304" pitchFamily="18" charset="0"/>
              </a:rPr>
              <a:t> [4 marks]</a:t>
            </a:r>
            <a:endParaRPr lang="en-MY"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C2715D2-1C6B-3C70-3953-EACEEE809CEC}"/>
              </a:ext>
            </a:extLst>
          </p:cNvPr>
          <p:cNvSpPr txBox="1"/>
          <p:nvPr/>
        </p:nvSpPr>
        <p:spPr>
          <a:xfrm>
            <a:off x="3050177" y="2049076"/>
            <a:ext cx="8680438" cy="147732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A battery with ε = 12 V and internal resistance,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 2 Ω is connected to a resistor,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 4 Ω as shown in </a:t>
            </a:r>
            <a:r>
              <a:rPr lang="en-US" b="1" dirty="0">
                <a:latin typeface="Times New Roman" panose="02020603050405020304" pitchFamily="18" charset="0"/>
                <a:cs typeface="Times New Roman" panose="02020603050405020304" pitchFamily="18" charset="0"/>
              </a:rPr>
              <a:t>FIGURE 2b</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What is the reading of the voltmeter in the circuit?</a:t>
            </a:r>
          </a:p>
          <a:p>
            <a:r>
              <a:rPr lang="en-US" dirty="0">
                <a:latin typeface="Times New Roman" panose="02020603050405020304" pitchFamily="18" charset="0"/>
                <a:cs typeface="Times New Roman" panose="02020603050405020304" pitchFamily="18" charset="0"/>
              </a:rPr>
              <a:t> ii) Is the voltmeter reading different from the </a:t>
            </a:r>
            <a:r>
              <a:rPr lang="en-US" dirty="0" err="1">
                <a:latin typeface="Times New Roman" panose="02020603050405020304" pitchFamily="18" charset="0"/>
                <a:cs typeface="Times New Roman" panose="02020603050405020304" pitchFamily="18" charset="0"/>
              </a:rPr>
              <a:t>e.m.f.</a:t>
            </a:r>
            <a:r>
              <a:rPr lang="en-US" dirty="0">
                <a:latin typeface="Times New Roman" panose="02020603050405020304" pitchFamily="18" charset="0"/>
                <a:cs typeface="Times New Roman" panose="02020603050405020304" pitchFamily="18" charset="0"/>
              </a:rPr>
              <a:t> of the battery? Justify your answer.</a:t>
            </a:r>
          </a:p>
          <a:p>
            <a:pPr algn="r"/>
            <a:r>
              <a:rPr lang="en-US" dirty="0">
                <a:latin typeface="Times New Roman" panose="02020603050405020304" pitchFamily="18" charset="0"/>
                <a:cs typeface="Times New Roman" panose="02020603050405020304" pitchFamily="18" charset="0"/>
              </a:rPr>
              <a:t> [4 marks]</a:t>
            </a:r>
            <a:endParaRPr lang="en-MY"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1CA01A9E-6749-3A94-DC82-86028B2E38BD}"/>
              </a:ext>
            </a:extLst>
          </p:cNvPr>
          <p:cNvSpPr txBox="1"/>
          <p:nvPr/>
        </p:nvSpPr>
        <p:spPr>
          <a:xfrm>
            <a:off x="3045822" y="3891354"/>
            <a:ext cx="8680437" cy="1477328"/>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c) FIGURE 2c</a:t>
            </a:r>
            <a:r>
              <a:rPr lang="en-US" dirty="0">
                <a:latin typeface="Times New Roman" panose="02020603050405020304" pitchFamily="18" charset="0"/>
                <a:cs typeface="Times New Roman" panose="02020603050405020304" pitchFamily="18" charset="0"/>
              </a:rPr>
              <a:t> shows a potential divider consisting of a wire XY of length 1.0 m and resistance 5.0 Ω. A cell of emf 2.0 V with internal resistance 0.5 Ω is connected in series with a 3.0 Ω resistor. When another cell with emf ε is connected to the potential divider, the balance length XQ is 76.2 cm. Calculate ε.</a:t>
            </a:r>
          </a:p>
          <a:p>
            <a:pPr algn="r">
              <a:buNone/>
            </a:pPr>
            <a:r>
              <a:rPr lang="en-US" dirty="0">
                <a:latin typeface="Times New Roman" panose="02020603050405020304" pitchFamily="18" charset="0"/>
                <a:cs typeface="Times New Roman" panose="02020603050405020304" pitchFamily="18" charset="0"/>
              </a:rPr>
              <a:t>[5 marks]</a:t>
            </a:r>
          </a:p>
        </p:txBody>
      </p:sp>
      <p:pic>
        <p:nvPicPr>
          <p:cNvPr id="17" name="Picture 16">
            <a:extLst>
              <a:ext uri="{FF2B5EF4-FFF2-40B4-BE49-F238E27FC236}">
                <a16:creationId xmlns:a16="http://schemas.microsoft.com/office/drawing/2014/main" id="{8283DDCC-0E57-3FD0-5A97-71138BF1C83C}"/>
              </a:ext>
            </a:extLst>
          </p:cNvPr>
          <p:cNvPicPr>
            <a:picLocks noChangeAspect="1"/>
          </p:cNvPicPr>
          <p:nvPr/>
        </p:nvPicPr>
        <p:blipFill>
          <a:blip r:embed="rId5"/>
          <a:stretch>
            <a:fillRect/>
          </a:stretch>
        </p:blipFill>
        <p:spPr>
          <a:xfrm>
            <a:off x="7343098" y="5368682"/>
            <a:ext cx="4848902" cy="1286054"/>
          </a:xfrm>
          <a:prstGeom prst="rect">
            <a:avLst/>
          </a:prstGeom>
        </p:spPr>
      </p:pic>
    </p:spTree>
    <p:extLst>
      <p:ext uri="{BB962C8B-B14F-4D97-AF65-F5344CB8AC3E}">
        <p14:creationId xmlns:p14="http://schemas.microsoft.com/office/powerpoint/2010/main" val="2477160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826C8-6701-231F-1F60-9951C8C785A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7EFB6D2-D7E1-0ED0-9B38-A8788FB4CDBA}"/>
              </a:ext>
            </a:extLst>
          </p:cNvPr>
          <p:cNvPicPr>
            <a:picLocks noChangeAspect="1"/>
          </p:cNvPicPr>
          <p:nvPr/>
        </p:nvPicPr>
        <p:blipFill>
          <a:blip r:embed="rId2"/>
          <a:stretch>
            <a:fillRect/>
          </a:stretch>
        </p:blipFill>
        <p:spPr>
          <a:xfrm>
            <a:off x="394903" y="270373"/>
            <a:ext cx="3391033" cy="2221126"/>
          </a:xfrm>
          <a:prstGeom prst="rect">
            <a:avLst/>
          </a:prstGeom>
        </p:spPr>
      </p:pic>
      <p:pic>
        <p:nvPicPr>
          <p:cNvPr id="5" name="Picture 4">
            <a:extLst>
              <a:ext uri="{FF2B5EF4-FFF2-40B4-BE49-F238E27FC236}">
                <a16:creationId xmlns:a16="http://schemas.microsoft.com/office/drawing/2014/main" id="{8BA4830D-7CAA-17FD-1474-817CAD0580A4}"/>
              </a:ext>
            </a:extLst>
          </p:cNvPr>
          <p:cNvPicPr>
            <a:picLocks noChangeAspect="1"/>
          </p:cNvPicPr>
          <p:nvPr/>
        </p:nvPicPr>
        <p:blipFill>
          <a:blip r:embed="rId3"/>
          <a:stretch>
            <a:fillRect/>
          </a:stretch>
        </p:blipFill>
        <p:spPr>
          <a:xfrm>
            <a:off x="394903" y="2631077"/>
            <a:ext cx="3262697" cy="1977905"/>
          </a:xfrm>
          <a:prstGeom prst="rect">
            <a:avLst/>
          </a:prstGeom>
        </p:spPr>
      </p:pic>
      <p:sp>
        <p:nvSpPr>
          <p:cNvPr id="7" name="TextBox 6">
            <a:extLst>
              <a:ext uri="{FF2B5EF4-FFF2-40B4-BE49-F238E27FC236}">
                <a16:creationId xmlns:a16="http://schemas.microsoft.com/office/drawing/2014/main" id="{253E1F88-28AE-683E-0181-6CD8D28F389B}"/>
              </a:ext>
            </a:extLst>
          </p:cNvPr>
          <p:cNvSpPr txBox="1"/>
          <p:nvPr/>
        </p:nvSpPr>
        <p:spPr>
          <a:xfrm>
            <a:off x="3946356" y="496578"/>
            <a:ext cx="8011161" cy="1477328"/>
          </a:xfrm>
          <a:prstGeom prst="rect">
            <a:avLst/>
          </a:prstGeom>
          <a:noFill/>
        </p:spPr>
        <p:txBody>
          <a:bodyPr wrap="square">
            <a:spAutoFit/>
          </a:bodyPr>
          <a:lstStyle/>
          <a:p>
            <a:pPr>
              <a:buNone/>
            </a:pPr>
            <a:r>
              <a:rPr lang="en-MY" dirty="0">
                <a:latin typeface="Times New Roman" panose="02020603050405020304" pitchFamily="18" charset="0"/>
                <a:cs typeface="Times New Roman" panose="02020603050405020304" pitchFamily="18" charset="0"/>
              </a:rPr>
              <a:t>3. a) FIGURE 3a shows a circuit with </a:t>
            </a:r>
            <a:r>
              <a:rPr lang="el-GR" dirty="0">
                <a:latin typeface="Times New Roman" panose="02020603050405020304" pitchFamily="18" charset="0"/>
                <a:cs typeface="Times New Roman" panose="02020603050405020304" pitchFamily="18" charset="0"/>
              </a:rPr>
              <a:t>ξ₁ = 15.0 </a:t>
            </a:r>
            <a:r>
              <a:rPr lang="en-MY" dirty="0">
                <a:latin typeface="Times New Roman" panose="02020603050405020304" pitchFamily="18" charset="0"/>
                <a:cs typeface="Times New Roman" panose="02020603050405020304" pitchFamily="18" charset="0"/>
              </a:rPr>
              <a:t>V, r₁ = 1.0 </a:t>
            </a:r>
            <a:r>
              <a:rPr lang="el-GR" dirty="0">
                <a:latin typeface="Times New Roman" panose="02020603050405020304" pitchFamily="18" charset="0"/>
                <a:cs typeface="Times New Roman" panose="02020603050405020304" pitchFamily="18" charset="0"/>
              </a:rPr>
              <a:t>Ω, ξ₂ = 10.0 </a:t>
            </a:r>
            <a:r>
              <a:rPr lang="en-MY" dirty="0">
                <a:latin typeface="Times New Roman" panose="02020603050405020304" pitchFamily="18" charset="0"/>
                <a:cs typeface="Times New Roman" panose="02020603050405020304" pitchFamily="18" charset="0"/>
              </a:rPr>
              <a:t>V, r₂ = 0.5 </a:t>
            </a:r>
            <a:r>
              <a:rPr lang="el-GR" dirty="0">
                <a:latin typeface="Times New Roman" panose="02020603050405020304" pitchFamily="18" charset="0"/>
                <a:cs typeface="Times New Roman" panose="02020603050405020304" pitchFamily="18" charset="0"/>
              </a:rPr>
              <a:t>Ω, ξ₃ = 3.0 </a:t>
            </a:r>
            <a:r>
              <a:rPr lang="en-MY" dirty="0">
                <a:latin typeface="Times New Roman" panose="02020603050405020304" pitchFamily="18" charset="0"/>
                <a:cs typeface="Times New Roman" panose="02020603050405020304" pitchFamily="18" charset="0"/>
              </a:rPr>
              <a:t>V, r₃ = 0.1 </a:t>
            </a:r>
            <a:r>
              <a:rPr lang="el-GR" dirty="0">
                <a:latin typeface="Times New Roman" panose="02020603050405020304" pitchFamily="18" charset="0"/>
                <a:cs typeface="Times New Roman" panose="02020603050405020304" pitchFamily="18" charset="0"/>
              </a:rPr>
              <a:t>Ω, </a:t>
            </a:r>
            <a:r>
              <a:rPr lang="en-MY" dirty="0">
                <a:latin typeface="Times New Roman" panose="02020603050405020304" pitchFamily="18" charset="0"/>
                <a:cs typeface="Times New Roman" panose="02020603050405020304" pitchFamily="18" charset="0"/>
              </a:rPr>
              <a:t>R₁ = 9.5 </a:t>
            </a:r>
            <a:r>
              <a:rPr lang="el-GR" dirty="0">
                <a:latin typeface="Times New Roman" panose="02020603050405020304" pitchFamily="18" charset="0"/>
                <a:cs typeface="Times New Roman" panose="02020603050405020304" pitchFamily="18" charset="0"/>
              </a:rPr>
              <a:t>Ω </a:t>
            </a:r>
            <a:r>
              <a:rPr lang="en-MY" dirty="0">
                <a:latin typeface="Times New Roman" panose="02020603050405020304" pitchFamily="18" charset="0"/>
                <a:cs typeface="Times New Roman" panose="02020603050405020304" pitchFamily="18" charset="0"/>
              </a:rPr>
              <a:t>and R₂ = 1.4 </a:t>
            </a:r>
            <a:r>
              <a:rPr lang="el-GR" dirty="0">
                <a:latin typeface="Times New Roman" panose="02020603050405020304" pitchFamily="18" charset="0"/>
                <a:cs typeface="Times New Roman" panose="02020603050405020304" pitchFamily="18" charset="0"/>
              </a:rPr>
              <a:t>Ω. </a:t>
            </a:r>
            <a:r>
              <a:rPr lang="en-MY" dirty="0">
                <a:latin typeface="Times New Roman" panose="02020603050405020304" pitchFamily="18" charset="0"/>
                <a:cs typeface="Times New Roman" panose="02020603050405020304" pitchFamily="18" charset="0"/>
              </a:rPr>
              <a:t>Determine:</a:t>
            </a:r>
          </a:p>
          <a:p>
            <a:pPr marL="400050" indent="-400050">
              <a:buAutoNum type="romanLcParenR"/>
            </a:pPr>
            <a:r>
              <a:rPr lang="en-MY" dirty="0">
                <a:latin typeface="Times New Roman" panose="02020603050405020304" pitchFamily="18" charset="0"/>
                <a:cs typeface="Times New Roman" panose="02020603050405020304" pitchFamily="18" charset="0"/>
              </a:rPr>
              <a:t>I₁, I₂ and I₃ </a:t>
            </a:r>
          </a:p>
          <a:p>
            <a:pPr marL="400050" indent="-400050">
              <a:buAutoNum type="romanLcParenR"/>
            </a:pPr>
            <a:r>
              <a:rPr lang="en-MY" dirty="0">
                <a:latin typeface="Times New Roman" panose="02020603050405020304" pitchFamily="18" charset="0"/>
                <a:cs typeface="Times New Roman" panose="02020603050405020304" pitchFamily="18" charset="0"/>
              </a:rPr>
              <a:t>Potential difference between point </a:t>
            </a:r>
            <a:r>
              <a:rPr lang="en-MY" b="1" dirty="0">
                <a:latin typeface="Times New Roman" panose="02020603050405020304" pitchFamily="18" charset="0"/>
                <a:cs typeface="Times New Roman" panose="02020603050405020304" pitchFamily="18" charset="0"/>
              </a:rPr>
              <a:t>b</a:t>
            </a:r>
            <a:r>
              <a:rPr lang="en-MY" dirty="0">
                <a:latin typeface="Times New Roman" panose="02020603050405020304" pitchFamily="18" charset="0"/>
                <a:cs typeface="Times New Roman" panose="02020603050405020304" pitchFamily="18" charset="0"/>
              </a:rPr>
              <a:t> to </a:t>
            </a:r>
            <a:r>
              <a:rPr lang="en-MY" b="1" dirty="0">
                <a:latin typeface="Times New Roman" panose="02020603050405020304" pitchFamily="18" charset="0"/>
                <a:cs typeface="Times New Roman" panose="02020603050405020304" pitchFamily="18" charset="0"/>
              </a:rPr>
              <a:t>e</a:t>
            </a:r>
          </a:p>
          <a:p>
            <a:pPr algn="r">
              <a:buNone/>
            </a:pPr>
            <a:r>
              <a:rPr lang="en-MY" dirty="0">
                <a:latin typeface="Times New Roman" panose="02020603050405020304" pitchFamily="18" charset="0"/>
                <a:cs typeface="Times New Roman" panose="02020603050405020304" pitchFamily="18" charset="0"/>
              </a:rPr>
              <a:t>[7 marks]</a:t>
            </a:r>
          </a:p>
        </p:txBody>
      </p:sp>
      <p:sp>
        <p:nvSpPr>
          <p:cNvPr id="9" name="TextBox 8">
            <a:extLst>
              <a:ext uri="{FF2B5EF4-FFF2-40B4-BE49-F238E27FC236}">
                <a16:creationId xmlns:a16="http://schemas.microsoft.com/office/drawing/2014/main" id="{DC2F8B66-65E5-EDF5-C490-5155B653943D}"/>
              </a:ext>
            </a:extLst>
          </p:cNvPr>
          <p:cNvSpPr txBox="1"/>
          <p:nvPr/>
        </p:nvSpPr>
        <p:spPr>
          <a:xfrm>
            <a:off x="3946355" y="2547983"/>
            <a:ext cx="8011161" cy="1477328"/>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b) FIGURE 3b shows a circuit consists of resistors connected to a 10 V battery. Calculate the:</a:t>
            </a:r>
          </a:p>
          <a:p>
            <a:pPr marL="400050" indent="-400050">
              <a:buAutoNum type="romanLcParenR"/>
            </a:pPr>
            <a:r>
              <a:rPr lang="en-US" dirty="0">
                <a:latin typeface="Times New Roman" panose="02020603050405020304" pitchFamily="18" charset="0"/>
                <a:cs typeface="Times New Roman" panose="02020603050405020304" pitchFamily="18" charset="0"/>
              </a:rPr>
              <a:t>effective resistance of the circuit. </a:t>
            </a:r>
          </a:p>
          <a:p>
            <a:pPr marL="400050" indent="-400050">
              <a:buAutoNum type="romanLcParenR"/>
            </a:pPr>
            <a:r>
              <a:rPr lang="en-US" dirty="0">
                <a:latin typeface="Times New Roman" panose="02020603050405020304" pitchFamily="18" charset="0"/>
                <a:cs typeface="Times New Roman" panose="02020603050405020304" pitchFamily="18" charset="0"/>
              </a:rPr>
              <a:t>power delivered by the battery.</a:t>
            </a:r>
          </a:p>
          <a:p>
            <a:pPr algn="r">
              <a:buNone/>
            </a:pPr>
            <a:r>
              <a:rPr lang="en-US" dirty="0">
                <a:latin typeface="Times New Roman" panose="02020603050405020304" pitchFamily="18" charset="0"/>
                <a:cs typeface="Times New Roman" panose="02020603050405020304" pitchFamily="18" charset="0"/>
              </a:rPr>
              <a:t>[6 marks]</a:t>
            </a:r>
          </a:p>
        </p:txBody>
      </p:sp>
      <p:pic>
        <p:nvPicPr>
          <p:cNvPr id="11" name="Picture 10">
            <a:extLst>
              <a:ext uri="{FF2B5EF4-FFF2-40B4-BE49-F238E27FC236}">
                <a16:creationId xmlns:a16="http://schemas.microsoft.com/office/drawing/2014/main" id="{B0D323E6-639A-04DD-A754-1DACBE3FFDEE}"/>
              </a:ext>
            </a:extLst>
          </p:cNvPr>
          <p:cNvPicPr>
            <a:picLocks noChangeAspect="1"/>
          </p:cNvPicPr>
          <p:nvPr/>
        </p:nvPicPr>
        <p:blipFill>
          <a:blip r:embed="rId4"/>
          <a:stretch>
            <a:fillRect/>
          </a:stretch>
        </p:blipFill>
        <p:spPr>
          <a:xfrm>
            <a:off x="7070509" y="5705410"/>
            <a:ext cx="4887007" cy="933580"/>
          </a:xfrm>
          <a:prstGeom prst="rect">
            <a:avLst/>
          </a:prstGeom>
        </p:spPr>
      </p:pic>
    </p:spTree>
    <p:extLst>
      <p:ext uri="{BB962C8B-B14F-4D97-AF65-F5344CB8AC3E}">
        <p14:creationId xmlns:p14="http://schemas.microsoft.com/office/powerpoint/2010/main" val="2878784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1015</Words>
  <Application>Microsoft Office PowerPoint</Application>
  <PresentationFormat>Widescreen</PresentationFormat>
  <Paragraphs>58</Paragraphs>
  <Slides>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SHAFIQ R</dc:creator>
  <cp:lastModifiedBy>SHAFIQ R</cp:lastModifiedBy>
  <cp:revision>1</cp:revision>
  <dcterms:created xsi:type="dcterms:W3CDTF">2026-04-16T14:49:33Z</dcterms:created>
  <dcterms:modified xsi:type="dcterms:W3CDTF">2026-04-16T14:49:45Z</dcterms:modified>
</cp:coreProperties>
</file>