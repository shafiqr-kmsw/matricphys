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5" r:id="rId2"/>
    <p:sldId id="257" r:id="rId3"/>
    <p:sldId id="256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60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D3782-1580-41DD-BDF7-989A29CEAB7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CDA49-851E-4726-B362-23B203C7F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69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751DC-A03C-41D3-8164-F52DCCFC3959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8109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F558-471D-A61E-3929-0DC15B5EE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76039-0142-6750-E70B-E07263E43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EC311-97B4-B0BE-7039-B4C2127C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218AE-AEC9-8034-3B0A-78E82A00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4E61B-3160-25FA-BE61-7A1AB02A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4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EC77-D7D8-E2F5-5389-4E36AF93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556E1-4B1C-D21E-4263-824F9AC5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0B77E-5761-E4DD-58A9-C74436B5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51949-64D8-7A7F-E4AC-DB43F12A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4A819-B591-6E64-6983-8DF04124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4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CB25-AA31-4FF9-76D3-196207594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55DB5-6307-B34E-8F13-D355A71E3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E0541-82DF-0899-C856-7F14F896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9DA6F-5B68-BD81-5AFE-4C3D0C56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908D5-4B81-ABAB-CC3A-662D35F5E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9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4957-BDB0-5E3E-9FFC-D02B7BF3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B4138-09AA-D808-86F3-7059BCACE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954A6-3D27-4B7E-538E-1CF38B725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1E965-AC8A-005F-8065-404B8F87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54543-A161-58C7-2181-4B758FEF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BF0EC-68DF-2D1E-A9E8-67F7EB35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9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9A49-34C0-E0F3-57F3-005D027F4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B8FDF-5D75-8E7A-5670-862B16CE2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FCFB3-3D26-5F90-98ED-6B7A5CFD9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E8078-1AD3-E377-E49A-B94E5E43C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46A0D3-5153-5FDD-0B78-D685BA374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28E2D-5870-66EA-E67F-FAE41B34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74C351-CBE5-C52E-EE87-3729942DA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87DF2-A508-F0C3-98A2-7878B39A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5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DF75-7E3F-D504-5ADA-066C351F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65DF3-7213-8519-00AD-DB0FC104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F9E7A-0AFA-177A-3332-33EE1416D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0C468-ADB5-441F-5995-0028AAD9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1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0C9E5-4925-4E09-4EC0-65615343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68A23C-88CF-044D-ADAF-7FEC59FD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2BAC3-B21B-CF6B-5169-396CC825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6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57DB-8216-9BA9-E8E7-143FEDDE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70270-0943-E9F5-77DE-C81015163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9EA78-A4F9-4FAA-FC4B-30A043DB7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79B52-38E1-CD34-4232-9DBAEA2B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E7166-D212-B5FC-9B0C-F76819E6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DD0D-C963-EF24-BCA8-B31BDABD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6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B51D-987E-4A46-C74E-2CF37603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05020-441E-7356-1FCD-28801E459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789C6-CBE4-6608-0B08-E3F7F0CB6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6ADD7-C160-DE67-9626-C1A7DC97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AC9F1-C031-06CA-36C7-8F1CE55C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C1F54-29E4-DC28-A015-3C1F328F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3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5A9A2-1341-3F38-8359-585FD415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1EFDF-0E5A-68C5-8DBA-F13BCD02A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14BDE-3747-08EE-2A0C-25D07A08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16D1A-C468-25F8-4EF5-C67B0437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5C58C-3B4E-A9C1-D434-93F24F84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E43064-38B3-F6A0-25AD-D515FFBAE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C575C-5FEF-C4C5-8180-9065238CD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78044-E6C1-2BA7-C760-38E2E548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36F55-A4B9-2887-452A-440D0CD3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622B7-67FA-8417-2ED4-405C6D41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48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84803E-D0D8-62F1-30E7-85CFA50C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E6464-DA06-E5D7-FD9E-50CC8DE5D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F7C73-0781-F962-CE3A-90A430E40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6223D-16EB-4D1E-AFD3-FF3FA16FF4E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92B20-888C-D94E-5F52-E1386F1AA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454A8-64D6-5AA1-09A5-8C58669DF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7E69D-BDBC-4A9F-918D-0C8D17D4D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93A95-9D45-1777-4F1C-ECEA9C359A07}"/>
              </a:ext>
            </a:extLst>
          </p:cNvPr>
          <p:cNvSpPr txBox="1"/>
          <p:nvPr/>
        </p:nvSpPr>
        <p:spPr>
          <a:xfrm>
            <a:off x="3693806" y="568404"/>
            <a:ext cx="7503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50240" marR="629285" algn="just">
              <a:spcBef>
                <a:spcPts val="1135"/>
              </a:spcBef>
              <a:buNone/>
            </a:pP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  A proton is released from rest in a uniform magnetic field between two parallel plates that are separated by 5 cm as shown in </a:t>
            </a:r>
            <a:r>
              <a:rPr lang="ms-MY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electric field strength between the plates is</a:t>
            </a:r>
            <a:r>
              <a:rPr lang="ms-MY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5000 NC</a:t>
            </a:r>
            <a:r>
              <a:rPr lang="ms-MY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−1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Calculate the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51B9F4-2510-BDE6-3B41-12344E220CAD}"/>
              </a:ext>
            </a:extLst>
          </p:cNvPr>
          <p:cNvGrpSpPr>
            <a:grpSpLocks/>
          </p:cNvGrpSpPr>
          <p:nvPr/>
        </p:nvGrpSpPr>
        <p:grpSpPr>
          <a:xfrm>
            <a:off x="440100" y="896788"/>
            <a:ext cx="3606539" cy="2262157"/>
            <a:chOff x="0" y="0"/>
            <a:chExt cx="2075940" cy="815339"/>
          </a:xfrm>
        </p:grpSpPr>
        <p:sp>
          <p:nvSpPr>
            <p:cNvPr id="7" name="Graphic 145">
              <a:extLst>
                <a:ext uri="{FF2B5EF4-FFF2-40B4-BE49-F238E27FC236}">
                  <a16:creationId xmlns:a16="http://schemas.microsoft.com/office/drawing/2014/main" id="{9144FCD4-C665-5C34-A0E6-C25822757106}"/>
                </a:ext>
              </a:extLst>
            </p:cNvPr>
            <p:cNvSpPr/>
            <p:nvPr/>
          </p:nvSpPr>
          <p:spPr>
            <a:xfrm>
              <a:off x="0" y="210184"/>
              <a:ext cx="67310" cy="554355"/>
            </a:xfrm>
            <a:custGeom>
              <a:avLst/>
              <a:gdLst/>
              <a:ahLst/>
              <a:cxnLst/>
              <a:rect l="l" t="t" r="r" b="b"/>
              <a:pathLst>
                <a:path w="67310" h="554355">
                  <a:moveTo>
                    <a:pt x="2667" y="498728"/>
                  </a:moveTo>
                  <a:lnTo>
                    <a:pt x="1524" y="498728"/>
                  </a:lnTo>
                  <a:lnTo>
                    <a:pt x="1016" y="498982"/>
                  </a:lnTo>
                  <a:lnTo>
                    <a:pt x="254" y="499491"/>
                  </a:lnTo>
                  <a:lnTo>
                    <a:pt x="0" y="500506"/>
                  </a:lnTo>
                  <a:lnTo>
                    <a:pt x="507" y="501142"/>
                  </a:lnTo>
                  <a:lnTo>
                    <a:pt x="33528" y="554101"/>
                  </a:lnTo>
                  <a:lnTo>
                    <a:pt x="35356" y="551179"/>
                  </a:lnTo>
                  <a:lnTo>
                    <a:pt x="32004" y="551179"/>
                  </a:lnTo>
                  <a:lnTo>
                    <a:pt x="32004" y="545617"/>
                  </a:lnTo>
                  <a:lnTo>
                    <a:pt x="3175" y="499491"/>
                  </a:lnTo>
                  <a:lnTo>
                    <a:pt x="2667" y="498728"/>
                  </a:lnTo>
                  <a:close/>
                </a:path>
                <a:path w="67310" h="554355">
                  <a:moveTo>
                    <a:pt x="32004" y="545617"/>
                  </a:moveTo>
                  <a:lnTo>
                    <a:pt x="32004" y="551179"/>
                  </a:lnTo>
                  <a:lnTo>
                    <a:pt x="35179" y="551179"/>
                  </a:lnTo>
                  <a:lnTo>
                    <a:pt x="35179" y="550291"/>
                  </a:lnTo>
                  <a:lnTo>
                    <a:pt x="32257" y="550291"/>
                  </a:lnTo>
                  <a:lnTo>
                    <a:pt x="33591" y="548157"/>
                  </a:lnTo>
                  <a:lnTo>
                    <a:pt x="32004" y="545617"/>
                  </a:lnTo>
                  <a:close/>
                </a:path>
                <a:path w="67310" h="554355">
                  <a:moveTo>
                    <a:pt x="65659" y="498728"/>
                  </a:moveTo>
                  <a:lnTo>
                    <a:pt x="64388" y="498728"/>
                  </a:lnTo>
                  <a:lnTo>
                    <a:pt x="64007" y="499491"/>
                  </a:lnTo>
                  <a:lnTo>
                    <a:pt x="35179" y="545617"/>
                  </a:lnTo>
                  <a:lnTo>
                    <a:pt x="35179" y="551179"/>
                  </a:lnTo>
                  <a:lnTo>
                    <a:pt x="35356" y="551179"/>
                  </a:lnTo>
                  <a:lnTo>
                    <a:pt x="66675" y="501142"/>
                  </a:lnTo>
                  <a:lnTo>
                    <a:pt x="67182" y="500506"/>
                  </a:lnTo>
                  <a:lnTo>
                    <a:pt x="66929" y="499491"/>
                  </a:lnTo>
                  <a:lnTo>
                    <a:pt x="66167" y="498982"/>
                  </a:lnTo>
                  <a:lnTo>
                    <a:pt x="65659" y="498728"/>
                  </a:lnTo>
                  <a:close/>
                </a:path>
                <a:path w="67310" h="554355">
                  <a:moveTo>
                    <a:pt x="33591" y="548157"/>
                  </a:moveTo>
                  <a:lnTo>
                    <a:pt x="32257" y="550291"/>
                  </a:lnTo>
                  <a:lnTo>
                    <a:pt x="34925" y="550291"/>
                  </a:lnTo>
                  <a:lnTo>
                    <a:pt x="33591" y="548157"/>
                  </a:lnTo>
                  <a:close/>
                </a:path>
                <a:path w="67310" h="554355">
                  <a:moveTo>
                    <a:pt x="35179" y="545617"/>
                  </a:moveTo>
                  <a:lnTo>
                    <a:pt x="33591" y="548157"/>
                  </a:lnTo>
                  <a:lnTo>
                    <a:pt x="34925" y="550291"/>
                  </a:lnTo>
                  <a:lnTo>
                    <a:pt x="35179" y="550291"/>
                  </a:lnTo>
                  <a:lnTo>
                    <a:pt x="35179" y="545617"/>
                  </a:lnTo>
                  <a:close/>
                </a:path>
                <a:path w="67310" h="554355">
                  <a:moveTo>
                    <a:pt x="33591" y="5943"/>
                  </a:moveTo>
                  <a:lnTo>
                    <a:pt x="32004" y="8483"/>
                  </a:lnTo>
                  <a:lnTo>
                    <a:pt x="32004" y="545617"/>
                  </a:lnTo>
                  <a:lnTo>
                    <a:pt x="33591" y="548157"/>
                  </a:lnTo>
                  <a:lnTo>
                    <a:pt x="35178" y="545617"/>
                  </a:lnTo>
                  <a:lnTo>
                    <a:pt x="35179" y="8483"/>
                  </a:lnTo>
                  <a:lnTo>
                    <a:pt x="33591" y="5943"/>
                  </a:lnTo>
                  <a:close/>
                </a:path>
                <a:path w="67310" h="554355">
                  <a:moveTo>
                    <a:pt x="33528" y="0"/>
                  </a:moveTo>
                  <a:lnTo>
                    <a:pt x="507" y="52958"/>
                  </a:lnTo>
                  <a:lnTo>
                    <a:pt x="0" y="53594"/>
                  </a:lnTo>
                  <a:lnTo>
                    <a:pt x="254" y="54609"/>
                  </a:lnTo>
                  <a:lnTo>
                    <a:pt x="1016" y="55118"/>
                  </a:lnTo>
                  <a:lnTo>
                    <a:pt x="1778" y="55499"/>
                  </a:lnTo>
                  <a:lnTo>
                    <a:pt x="2582" y="55499"/>
                  </a:lnTo>
                  <a:lnTo>
                    <a:pt x="3175" y="54609"/>
                  </a:lnTo>
                  <a:lnTo>
                    <a:pt x="32003" y="8483"/>
                  </a:lnTo>
                  <a:lnTo>
                    <a:pt x="32004" y="2921"/>
                  </a:lnTo>
                  <a:lnTo>
                    <a:pt x="35356" y="2921"/>
                  </a:lnTo>
                  <a:lnTo>
                    <a:pt x="33528" y="0"/>
                  </a:lnTo>
                  <a:close/>
                </a:path>
                <a:path w="67310" h="554355">
                  <a:moveTo>
                    <a:pt x="35356" y="2921"/>
                  </a:moveTo>
                  <a:lnTo>
                    <a:pt x="35179" y="2921"/>
                  </a:lnTo>
                  <a:lnTo>
                    <a:pt x="35179" y="8483"/>
                  </a:lnTo>
                  <a:lnTo>
                    <a:pt x="64007" y="54609"/>
                  </a:lnTo>
                  <a:lnTo>
                    <a:pt x="64452" y="55499"/>
                  </a:lnTo>
                  <a:lnTo>
                    <a:pt x="65405" y="55499"/>
                  </a:lnTo>
                  <a:lnTo>
                    <a:pt x="66167" y="55118"/>
                  </a:lnTo>
                  <a:lnTo>
                    <a:pt x="66929" y="54609"/>
                  </a:lnTo>
                  <a:lnTo>
                    <a:pt x="67182" y="53594"/>
                  </a:lnTo>
                  <a:lnTo>
                    <a:pt x="66675" y="52958"/>
                  </a:lnTo>
                  <a:lnTo>
                    <a:pt x="35356" y="2921"/>
                  </a:lnTo>
                  <a:close/>
                </a:path>
                <a:path w="67310" h="554355">
                  <a:moveTo>
                    <a:pt x="35179" y="2921"/>
                  </a:moveTo>
                  <a:lnTo>
                    <a:pt x="32004" y="2921"/>
                  </a:lnTo>
                  <a:lnTo>
                    <a:pt x="32004" y="8483"/>
                  </a:lnTo>
                  <a:lnTo>
                    <a:pt x="33591" y="5943"/>
                  </a:lnTo>
                  <a:lnTo>
                    <a:pt x="32257" y="3809"/>
                  </a:lnTo>
                  <a:lnTo>
                    <a:pt x="35179" y="3809"/>
                  </a:lnTo>
                  <a:lnTo>
                    <a:pt x="35179" y="2921"/>
                  </a:lnTo>
                  <a:close/>
                </a:path>
                <a:path w="67310" h="554355">
                  <a:moveTo>
                    <a:pt x="35179" y="3809"/>
                  </a:moveTo>
                  <a:lnTo>
                    <a:pt x="34925" y="3809"/>
                  </a:lnTo>
                  <a:lnTo>
                    <a:pt x="33591" y="5943"/>
                  </a:lnTo>
                  <a:lnTo>
                    <a:pt x="35179" y="8483"/>
                  </a:lnTo>
                  <a:lnTo>
                    <a:pt x="35179" y="3809"/>
                  </a:lnTo>
                  <a:close/>
                </a:path>
                <a:path w="67310" h="554355">
                  <a:moveTo>
                    <a:pt x="34925" y="3809"/>
                  </a:moveTo>
                  <a:lnTo>
                    <a:pt x="32257" y="3809"/>
                  </a:lnTo>
                  <a:lnTo>
                    <a:pt x="33591" y="5943"/>
                  </a:lnTo>
                  <a:lnTo>
                    <a:pt x="34925" y="38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MY"/>
            </a:p>
          </p:txBody>
        </p:sp>
        <p:sp>
          <p:nvSpPr>
            <p:cNvPr id="8" name="Graphic 146">
              <a:extLst>
                <a:ext uri="{FF2B5EF4-FFF2-40B4-BE49-F238E27FC236}">
                  <a16:creationId xmlns:a16="http://schemas.microsoft.com/office/drawing/2014/main" id="{3D9FA75C-85BE-10A5-D322-DD93E624F440}"/>
                </a:ext>
              </a:extLst>
            </p:cNvPr>
            <p:cNvSpPr/>
            <p:nvPr/>
          </p:nvSpPr>
          <p:spPr>
            <a:xfrm>
              <a:off x="22732" y="175132"/>
              <a:ext cx="2050414" cy="1270"/>
            </a:xfrm>
            <a:custGeom>
              <a:avLst/>
              <a:gdLst/>
              <a:ahLst/>
              <a:cxnLst/>
              <a:rect l="l" t="t" r="r" b="b"/>
              <a:pathLst>
                <a:path w="2050414">
                  <a:moveTo>
                    <a:pt x="0" y="0"/>
                  </a:moveTo>
                  <a:lnTo>
                    <a:pt x="2050288" y="0"/>
                  </a:lnTo>
                </a:path>
              </a:pathLst>
            </a:custGeom>
            <a:ln w="5715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MY"/>
            </a:p>
          </p:txBody>
        </p:sp>
        <p:sp>
          <p:nvSpPr>
            <p:cNvPr id="9" name="Graphic 147">
              <a:extLst>
                <a:ext uri="{FF2B5EF4-FFF2-40B4-BE49-F238E27FC236}">
                  <a16:creationId xmlns:a16="http://schemas.microsoft.com/office/drawing/2014/main" id="{7A78B21F-D62C-30D5-0CC8-A270820C8EAE}"/>
                </a:ext>
              </a:extLst>
            </p:cNvPr>
            <p:cNvSpPr/>
            <p:nvPr/>
          </p:nvSpPr>
          <p:spPr>
            <a:xfrm>
              <a:off x="41782" y="0"/>
              <a:ext cx="1983739" cy="114935"/>
            </a:xfrm>
            <a:custGeom>
              <a:avLst/>
              <a:gdLst/>
              <a:ahLst/>
              <a:cxnLst/>
              <a:rect l="l" t="t" r="r" b="b"/>
              <a:pathLst>
                <a:path w="1983739" h="114935">
                  <a:moveTo>
                    <a:pt x="0" y="53720"/>
                  </a:moveTo>
                  <a:lnTo>
                    <a:pt x="109600" y="53720"/>
                  </a:lnTo>
                </a:path>
                <a:path w="1983739" h="114935">
                  <a:moveTo>
                    <a:pt x="53721" y="0"/>
                  </a:moveTo>
                  <a:lnTo>
                    <a:pt x="53721" y="107441"/>
                  </a:lnTo>
                </a:path>
                <a:path w="1983739" h="114935">
                  <a:moveTo>
                    <a:pt x="220980" y="53593"/>
                  </a:moveTo>
                  <a:lnTo>
                    <a:pt x="330200" y="53593"/>
                  </a:lnTo>
                </a:path>
                <a:path w="1983739" h="114935">
                  <a:moveTo>
                    <a:pt x="274447" y="0"/>
                  </a:moveTo>
                  <a:lnTo>
                    <a:pt x="274447" y="107187"/>
                  </a:lnTo>
                </a:path>
                <a:path w="1983739" h="114935">
                  <a:moveTo>
                    <a:pt x="434339" y="53593"/>
                  </a:moveTo>
                  <a:lnTo>
                    <a:pt x="543433" y="53593"/>
                  </a:lnTo>
                </a:path>
                <a:path w="1983739" h="114935">
                  <a:moveTo>
                    <a:pt x="487807" y="0"/>
                  </a:moveTo>
                  <a:lnTo>
                    <a:pt x="487807" y="107187"/>
                  </a:lnTo>
                </a:path>
                <a:path w="1983739" h="114935">
                  <a:moveTo>
                    <a:pt x="643763" y="61213"/>
                  </a:moveTo>
                  <a:lnTo>
                    <a:pt x="752983" y="61213"/>
                  </a:lnTo>
                </a:path>
                <a:path w="1983739" h="114935">
                  <a:moveTo>
                    <a:pt x="697357" y="7619"/>
                  </a:moveTo>
                  <a:lnTo>
                    <a:pt x="697357" y="114807"/>
                  </a:lnTo>
                </a:path>
                <a:path w="1983739" h="114935">
                  <a:moveTo>
                    <a:pt x="845693" y="57403"/>
                  </a:moveTo>
                  <a:lnTo>
                    <a:pt x="954913" y="57403"/>
                  </a:lnTo>
                </a:path>
                <a:path w="1983739" h="114935">
                  <a:moveTo>
                    <a:pt x="899287" y="3809"/>
                  </a:moveTo>
                  <a:lnTo>
                    <a:pt x="899287" y="110998"/>
                  </a:lnTo>
                </a:path>
                <a:path w="1983739" h="114935">
                  <a:moveTo>
                    <a:pt x="1043813" y="61213"/>
                  </a:moveTo>
                  <a:lnTo>
                    <a:pt x="1153033" y="61213"/>
                  </a:lnTo>
                </a:path>
                <a:path w="1983739" h="114935">
                  <a:moveTo>
                    <a:pt x="1097407" y="7619"/>
                  </a:moveTo>
                  <a:lnTo>
                    <a:pt x="1097407" y="114807"/>
                  </a:lnTo>
                </a:path>
                <a:path w="1983739" h="114935">
                  <a:moveTo>
                    <a:pt x="1253363" y="61213"/>
                  </a:moveTo>
                  <a:lnTo>
                    <a:pt x="1362583" y="61213"/>
                  </a:lnTo>
                </a:path>
                <a:path w="1983739" h="114935">
                  <a:moveTo>
                    <a:pt x="1306957" y="7619"/>
                  </a:moveTo>
                  <a:lnTo>
                    <a:pt x="1306957" y="114807"/>
                  </a:lnTo>
                </a:path>
                <a:path w="1983739" h="114935">
                  <a:moveTo>
                    <a:pt x="1455293" y="61213"/>
                  </a:moveTo>
                  <a:lnTo>
                    <a:pt x="1564513" y="61213"/>
                  </a:lnTo>
                </a:path>
                <a:path w="1983739" h="114935">
                  <a:moveTo>
                    <a:pt x="1508887" y="7619"/>
                  </a:moveTo>
                  <a:lnTo>
                    <a:pt x="1508887" y="114807"/>
                  </a:lnTo>
                </a:path>
                <a:path w="1983739" h="114935">
                  <a:moveTo>
                    <a:pt x="1661033" y="61213"/>
                  </a:moveTo>
                  <a:lnTo>
                    <a:pt x="1770252" y="61213"/>
                  </a:lnTo>
                </a:path>
                <a:path w="1983739" h="114935">
                  <a:moveTo>
                    <a:pt x="1714627" y="7619"/>
                  </a:moveTo>
                  <a:lnTo>
                    <a:pt x="1714627" y="114807"/>
                  </a:lnTo>
                </a:path>
                <a:path w="1983739" h="114935">
                  <a:moveTo>
                    <a:pt x="1874393" y="61213"/>
                  </a:moveTo>
                  <a:lnTo>
                    <a:pt x="1983613" y="61213"/>
                  </a:lnTo>
                </a:path>
                <a:path w="1983739" h="114935">
                  <a:moveTo>
                    <a:pt x="1927987" y="7619"/>
                  </a:moveTo>
                  <a:lnTo>
                    <a:pt x="1927987" y="114807"/>
                  </a:lnTo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MY"/>
            </a:p>
          </p:txBody>
        </p:sp>
        <p:sp>
          <p:nvSpPr>
            <p:cNvPr id="10" name="Graphic 148">
              <a:extLst>
                <a:ext uri="{FF2B5EF4-FFF2-40B4-BE49-F238E27FC236}">
                  <a16:creationId xmlns:a16="http://schemas.microsoft.com/office/drawing/2014/main" id="{59616FB7-B4AE-5368-4E51-BD819A06733D}"/>
                </a:ext>
              </a:extLst>
            </p:cNvPr>
            <p:cNvSpPr/>
            <p:nvPr/>
          </p:nvSpPr>
          <p:spPr>
            <a:xfrm>
              <a:off x="25526" y="814069"/>
              <a:ext cx="2050414" cy="1270"/>
            </a:xfrm>
            <a:custGeom>
              <a:avLst/>
              <a:gdLst/>
              <a:ahLst/>
              <a:cxnLst/>
              <a:rect l="l" t="t" r="r" b="b"/>
              <a:pathLst>
                <a:path w="2050414">
                  <a:moveTo>
                    <a:pt x="0" y="0"/>
                  </a:moveTo>
                  <a:lnTo>
                    <a:pt x="2050033" y="0"/>
                  </a:lnTo>
                </a:path>
              </a:pathLst>
            </a:custGeom>
            <a:ln w="5715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MY"/>
            </a:p>
          </p:txBody>
        </p:sp>
        <p:pic>
          <p:nvPicPr>
            <p:cNvPr id="11" name="Image 149">
              <a:extLst>
                <a:ext uri="{FF2B5EF4-FFF2-40B4-BE49-F238E27FC236}">
                  <a16:creationId xmlns:a16="http://schemas.microsoft.com/office/drawing/2014/main" id="{7B93947E-1822-4CA3-9450-0C28379EC48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6907" y="207263"/>
              <a:ext cx="147954" cy="139573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4F05CC4-9078-3BBD-633B-C826B145699B}"/>
              </a:ext>
            </a:extLst>
          </p:cNvPr>
          <p:cNvSpPr txBox="1"/>
          <p:nvPr/>
        </p:nvSpPr>
        <p:spPr>
          <a:xfrm>
            <a:off x="4354734" y="1768733"/>
            <a:ext cx="7151012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10"/>
              </a:spcBef>
              <a:buSzPts val="1100"/>
              <a:tabLst>
                <a:tab pos="950595" algn="l"/>
              </a:tabLst>
            </a:pP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   magnitude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direction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force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acted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proton.		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10"/>
              </a:spcBef>
              <a:buSzPts val="1100"/>
              <a:tabLst>
                <a:tab pos="950595" algn="l"/>
              </a:tabLst>
            </a:pP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  acceleration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proton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due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field.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595"/>
              </a:spcBef>
              <a:buSzPts val="1100"/>
              <a:tabLst>
                <a:tab pos="950595" algn="l"/>
              </a:tabLst>
            </a:pP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   potential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difference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between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parallel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plates.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5"/>
              </a:spcBef>
              <a:buSzPts val="1100"/>
              <a:tabLst>
                <a:tab pos="950595" algn="l"/>
              </a:tabLst>
            </a:pP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   a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energy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proton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ms-MY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reaches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negative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plate.						</a:t>
            </a:r>
            <a:r>
              <a:rPr lang="ms-MY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 </a:t>
            </a:r>
            <a:r>
              <a:rPr lang="ms-MY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ms-MY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23FCAF-A4B2-BFF1-AF33-AD57955E6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029" y="5414113"/>
            <a:ext cx="2705478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5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E8FC07-A1AB-D795-7DC8-93879CB94E93}"/>
              </a:ext>
            </a:extLst>
          </p:cNvPr>
          <p:cNvSpPr txBox="1"/>
          <p:nvPr/>
        </p:nvSpPr>
        <p:spPr>
          <a:xfrm>
            <a:off x="4851348" y="542218"/>
            <a:ext cx="65174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</a:t>
            </a:r>
            <a:r>
              <a:rPr lang="en-MY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 (a) Three charges of magnitudes + 0.3 </a:t>
            </a:r>
            <a:r>
              <a:rPr lang="en-MY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μC</a:t>
            </a:r>
            <a:r>
              <a:rPr lang="en-MY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, + 0.6 </a:t>
            </a:r>
            <a:r>
              <a:rPr lang="en-MY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μC</a:t>
            </a:r>
            <a:r>
              <a:rPr lang="en-MY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and + 0.3 </a:t>
            </a:r>
            <a:r>
              <a:rPr lang="en-MY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μC</a:t>
            </a:r>
            <a:r>
              <a:rPr lang="en-MY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are placed on each corner of a left angled triangle with sides 6.0 cm, 8.0 cm and 10.0 cm respectively, as shown in </a:t>
            </a:r>
            <a:r>
              <a:rPr lang="en-MY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FIGURE 1</a:t>
            </a:r>
            <a:r>
              <a:rPr lang="en-MY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Determine 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6151A-6E0A-8EA5-8352-7A2DEBDBCD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65" y="389204"/>
            <a:ext cx="4106410" cy="1799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FD88AB-3A2D-15ED-28FC-8867246DC643}"/>
              </a:ext>
            </a:extLst>
          </p:cNvPr>
          <p:cNvSpPr txBox="1"/>
          <p:nvPr/>
        </p:nvSpPr>
        <p:spPr>
          <a:xfrm>
            <a:off x="4851348" y="1742547"/>
            <a:ext cx="66264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the electric field at charge + 0.6 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μC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(ii) the force experienced by the charge + 0.6 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μC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									[7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40549D-D469-E91B-57A0-8BC7E8CDAC8F}"/>
              </a:ext>
            </a:extLst>
          </p:cNvPr>
          <p:cNvSpPr txBox="1"/>
          <p:nvPr/>
        </p:nvSpPr>
        <p:spPr>
          <a:xfrm>
            <a:off x="890516" y="2746655"/>
            <a:ext cx="109557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An isolated charge,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Q 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of 5 x 10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-6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 is placed in a region and it creates an electric field around it. Calculate the work done to move a test charge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q 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of 2 x 10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-7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 from point S to point P, which are located at 60 cm and 30 cm respectively from charge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Q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								[3 </a:t>
            </a:r>
            <a:r>
              <a:rPr lang="en-MY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marks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]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2D3F79-5469-2EF0-37B1-202EE9D25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7145" y="5745475"/>
            <a:ext cx="2772162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12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8FF6CA19-DA51-C281-A761-8D25156D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52" y="383855"/>
            <a:ext cx="9692640" cy="2011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141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(a) Two point charges, q₁ and q₂ are located on the y-axis. Charge q₁ = +2.3 µC is placed at y = -0.56 m and charge q₂ = -5.3 µC is located at y = +0.37 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) Calculate the magnitude and direction of the net electric field at the origin due to these two point charges.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(ii) Determine the magnitude and direction of the electric force exerted on a third charge, q₃ = -3.8 µC placed at the origin.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[6 marks]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F60EEB-5618-FBEF-12B9-ECE7E0F7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" y="2500516"/>
            <a:ext cx="3285201" cy="41794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BE2D63-90C1-A882-1CA6-65314A8B01EE}"/>
              </a:ext>
            </a:extLst>
          </p:cNvPr>
          <p:cNvSpPr txBox="1"/>
          <p:nvPr/>
        </p:nvSpPr>
        <p:spPr>
          <a:xfrm>
            <a:off x="3476930" y="2566098"/>
            <a:ext cx="73041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(b) FIGURE 1 shows a stationary alpha particle is accelerated at 7.86 x 10⁹ m s⁻² from the positive plate towards the negative plate. The alpha particle has a mass of 6.64 x 10⁻²⁷ kg and a charge of +2e travels between two parallel plates separated by 2.50 cm.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) Calculate the magnitude of the electric field strength between the plates.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(ii) Determine the time taken for the particle to reach the negative plate.</a:t>
            </a: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1F1F1F"/>
                </a:solidFill>
                <a:latin typeface="Google Sans Text"/>
              </a:rPr>
              <a:t>[4 marks]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57D29E-6197-EB87-A2F0-700AE0AE4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072" y="5277063"/>
            <a:ext cx="3077004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1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93A95-9D45-1777-4F1C-ECEA9C359A07}"/>
              </a:ext>
            </a:extLst>
          </p:cNvPr>
          <p:cNvSpPr txBox="1"/>
          <p:nvPr/>
        </p:nvSpPr>
        <p:spPr>
          <a:xfrm>
            <a:off x="3693806" y="568404"/>
            <a:ext cx="7503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50240" marR="629285" algn="just">
              <a:spcBef>
                <a:spcPts val="1135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FIGURE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point P is located at the midway between two points charges, Q₁ = +8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Q₂ = -3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Both charges are separated by a distance of 0.5 m. Another point Q located 0.6m from point P. Calculate the: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05CC4-9078-3BBD-633B-C826B145699B}"/>
              </a:ext>
            </a:extLst>
          </p:cNvPr>
          <p:cNvSpPr txBox="1"/>
          <p:nvPr/>
        </p:nvSpPr>
        <p:spPr>
          <a:xfrm>
            <a:off x="4261762" y="2060410"/>
            <a:ext cx="71510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magnitude and direction of electrostatic force acting on charge Q₂. 							[3 marks]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magnitude and direction of electric field strength at point 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[4 marks]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electric potential at point Q.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[3 marks</a:t>
            </a:r>
            <a:r>
              <a:rPr lang="ms-MY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MY" sz="1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C64FB-17C8-329B-7109-4314BF885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4" y="276727"/>
            <a:ext cx="4161000" cy="31522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959217-A3FD-984E-0CD6-1DE6ED0E1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917" y="5934361"/>
            <a:ext cx="3834083" cy="71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43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6ECE09-775C-A37D-C240-25BC44653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514030"/>
            <a:ext cx="2029108" cy="1295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2BBC16-E297-3AF6-DDF1-D8C193BCC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9" y="2690623"/>
            <a:ext cx="2114845" cy="15242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570AB0-1C2A-AF8C-9D5B-DE3FD9BCD483}"/>
              </a:ext>
            </a:extLst>
          </p:cNvPr>
          <p:cNvSpPr txBox="1"/>
          <p:nvPr/>
        </p:nvSpPr>
        <p:spPr>
          <a:xfrm>
            <a:off x="3045823" y="514030"/>
            <a:ext cx="87107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two parallel plates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separation distance of 20 cm. Potential difference between the plate is 20 V.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Calculate electric field strength between the plates.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If an electron held at midpoint between the plates is released, calculate the acceleration for it to reach plate X. 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</a:t>
            </a:r>
            <a:r>
              <a:rPr lang="en-US" dirty="0"/>
              <a:t>]</a:t>
            </a:r>
            <a:endParaRPr lang="en-M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67A30-AE72-3A06-22CB-4B8B60950CE6}"/>
              </a:ext>
            </a:extLst>
          </p:cNvPr>
          <p:cNvSpPr txBox="1"/>
          <p:nvPr/>
        </p:nvSpPr>
        <p:spPr>
          <a:xfrm>
            <a:off x="3050177" y="3217595"/>
            <a:ext cx="8706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points charges, Q₁ = -12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Q₂ = +8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arranged as shown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Calculate the magnitude and direction of the resultant electric field at the origin.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[5 marks</a:t>
            </a:r>
            <a:r>
              <a:rPr lang="en-US" dirty="0"/>
              <a:t>]</a:t>
            </a:r>
            <a:endParaRPr lang="en-MY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3FA26C-9C69-299E-06BF-DC7CD8F15FFF}"/>
              </a:ext>
            </a:extLst>
          </p:cNvPr>
          <p:cNvSpPr txBox="1"/>
          <p:nvPr/>
        </p:nvSpPr>
        <p:spPr>
          <a:xfrm>
            <a:off x="435429" y="2039917"/>
            <a:ext cx="2235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1a</a:t>
            </a:r>
            <a:endParaRPr lang="en-MY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F189A8-9722-E205-230F-38658415A012}"/>
              </a:ext>
            </a:extLst>
          </p:cNvPr>
          <p:cNvSpPr txBox="1"/>
          <p:nvPr/>
        </p:nvSpPr>
        <p:spPr>
          <a:xfrm>
            <a:off x="332020" y="4311544"/>
            <a:ext cx="2235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1b</a:t>
            </a:r>
            <a:endParaRPr lang="en-MY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A320E65-E9EE-4EE1-FF82-9FFEC8115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308" y="5981969"/>
            <a:ext cx="51346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834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52E4-8A51-DA94-FB9F-FC66D8D5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0F2AA-DFEA-5837-CA76-E46E458057A4}"/>
              </a:ext>
            </a:extLst>
          </p:cNvPr>
          <p:cNvSpPr txBox="1"/>
          <p:nvPr/>
        </p:nvSpPr>
        <p:spPr>
          <a:xfrm>
            <a:off x="3677193" y="766077"/>
            <a:ext cx="81055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FIGURE 1 shows two point charges Q₁ = +12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Q₂ = –10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placed 10 cm apart.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Coulomb force on charge Q₁.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work done to bring a positive test charge 2.0 × 10⁻⁷ C from infinity to point A.</a:t>
            </a:r>
          </a:p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potential energy of the system when the positive test charge 2.0 × 10⁻⁷ C is located at A.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 marks]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CA012-87EC-E9D6-800A-987945DB0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46" y="766077"/>
            <a:ext cx="3330480" cy="1778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B095F2-DF75-9512-BDBE-ECB137FBD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89" y="5701343"/>
            <a:ext cx="4887007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29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814</Words>
  <Application>Microsoft Office PowerPoint</Application>
  <PresentationFormat>Widescreen</PresentationFormat>
  <Paragraphs>38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 R</dc:creator>
  <cp:lastModifiedBy>SHAFIQ R</cp:lastModifiedBy>
  <cp:revision>1</cp:revision>
  <dcterms:created xsi:type="dcterms:W3CDTF">2026-04-16T14:46:05Z</dcterms:created>
  <dcterms:modified xsi:type="dcterms:W3CDTF">2026-04-16T14:47:37Z</dcterms:modified>
</cp:coreProperties>
</file>