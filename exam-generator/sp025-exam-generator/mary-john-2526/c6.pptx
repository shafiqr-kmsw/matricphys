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68" r:id="rId4"/>
    <p:sldId id="269" r:id="rId5"/>
    <p:sldId id="270" r:id="rId6"/>
    <p:sldId id="27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94660"/>
  </p:normalViewPr>
  <p:slideViewPr>
    <p:cSldViewPr snapToGrid="0">
      <p:cViewPr varScale="1">
        <p:scale>
          <a:sx n="40" d="100"/>
          <a:sy n="40" d="100"/>
        </p:scale>
        <p:origin x="72" y="7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835F8-4629-9B9E-034C-9CA3AAC1E9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27D0BB-B24A-7C9F-BF51-B160BBE4DC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B333AD-3B56-831C-2290-75D1593EDBE6}"/>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5" name="Footer Placeholder 4">
            <a:extLst>
              <a:ext uri="{FF2B5EF4-FFF2-40B4-BE49-F238E27FC236}">
                <a16:creationId xmlns:a16="http://schemas.microsoft.com/office/drawing/2014/main" id="{08A8EBEA-65E5-67F6-AA27-B8C59596F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8B03BA-FE38-B26B-D85A-8D9BE9C342EE}"/>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1297514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15C91-4F29-E279-628E-4C22F7145B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E5715-8B30-48B1-FA6A-59F04C194B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1F248B-8926-1D26-2CA1-2D66D05E61FA}"/>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5" name="Footer Placeholder 4">
            <a:extLst>
              <a:ext uri="{FF2B5EF4-FFF2-40B4-BE49-F238E27FC236}">
                <a16:creationId xmlns:a16="http://schemas.microsoft.com/office/drawing/2014/main" id="{F00348C7-A2AF-6A2C-89EF-717BE1FC3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2D2CA-D53C-5E8E-CF43-5E251293B3CC}"/>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112287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6385B-8F91-D8C5-2A90-E7C5659359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77BCE8-B877-F9AB-59D7-5805C55328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6F25C5-1143-48F2-F22E-BC49414CDE18}"/>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5" name="Footer Placeholder 4">
            <a:extLst>
              <a:ext uri="{FF2B5EF4-FFF2-40B4-BE49-F238E27FC236}">
                <a16:creationId xmlns:a16="http://schemas.microsoft.com/office/drawing/2014/main" id="{D525B5EB-7F9F-1ADB-4F53-22954A445C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E05283-24C0-17AC-1BF5-06BBB3E8DD87}"/>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706771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DA3A-9BC4-5E3A-F3A5-D455141A92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16BDF6-E4E1-E613-4B09-FE26866EA1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2D77F5-254D-A5BA-0D48-3DA6A33EB4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BBBDC-54A8-B3CC-EE39-185645D22998}"/>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6" name="Footer Placeholder 5">
            <a:extLst>
              <a:ext uri="{FF2B5EF4-FFF2-40B4-BE49-F238E27FC236}">
                <a16:creationId xmlns:a16="http://schemas.microsoft.com/office/drawing/2014/main" id="{2DC210EB-593F-00A5-9342-FDF545297B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A8B736-C7CD-FB0C-B1D3-EB15A2B419E9}"/>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1915374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A8CBF-4C6C-5943-2ADC-8619683608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1AEA78-062A-5EA1-DF1A-C33A88DA3D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D17882-77F2-07DC-EA9B-539F10BF03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C099B5-07D8-C391-FD2A-972317FF51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DADBA9-4E04-7B0D-5F4E-2BE47D680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8AC0F9-B760-04F9-AD52-750FB4BBBC05}"/>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8" name="Footer Placeholder 7">
            <a:extLst>
              <a:ext uri="{FF2B5EF4-FFF2-40B4-BE49-F238E27FC236}">
                <a16:creationId xmlns:a16="http://schemas.microsoft.com/office/drawing/2014/main" id="{94A03E7A-4282-0E48-DC41-13E2496F0D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13E552-89CE-2F5F-C950-3B00081108E9}"/>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3412933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6F1D-7011-865F-ED11-B37647DA0E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DED87A-A3AF-60C5-9A29-61AF7A45A8EA}"/>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4" name="Footer Placeholder 3">
            <a:extLst>
              <a:ext uri="{FF2B5EF4-FFF2-40B4-BE49-F238E27FC236}">
                <a16:creationId xmlns:a16="http://schemas.microsoft.com/office/drawing/2014/main" id="{ECFB7028-7508-74A5-D5D4-0D1B25D652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EAD079-949A-8A56-6343-1475270F9453}"/>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3043754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DE8098-0B40-287F-B6BE-DE233273A33D}"/>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3" name="Footer Placeholder 2">
            <a:extLst>
              <a:ext uri="{FF2B5EF4-FFF2-40B4-BE49-F238E27FC236}">
                <a16:creationId xmlns:a16="http://schemas.microsoft.com/office/drawing/2014/main" id="{2E8610D5-2F57-F048-D0A3-DB6000ECB3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571D23-6EB7-AD41-68D4-723015DF1F2E}"/>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230080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F1A81-525D-1277-5C40-54BC2D52DD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006103-44C7-A1E4-2839-F69ECE9256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C1B583-0B5B-66CA-80AF-ACD01F731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2B0B1-479D-EF6F-9EFA-42242407AF3B}"/>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6" name="Footer Placeholder 5">
            <a:extLst>
              <a:ext uri="{FF2B5EF4-FFF2-40B4-BE49-F238E27FC236}">
                <a16:creationId xmlns:a16="http://schemas.microsoft.com/office/drawing/2014/main" id="{444EE9BF-7CBE-0865-4DF0-8617B802B4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14A66C-8ECE-3582-71E5-240F11D491B6}"/>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1465926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CB66B-2F28-81F5-B3F1-C051402141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30F38D-B253-A4A1-931C-40CEBCA955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C30D22-513C-9F8F-AF0F-DD4519BFE0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E6D5F-A3B0-3D8B-99FE-5EF40E7E75FB}"/>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6" name="Footer Placeholder 5">
            <a:extLst>
              <a:ext uri="{FF2B5EF4-FFF2-40B4-BE49-F238E27FC236}">
                <a16:creationId xmlns:a16="http://schemas.microsoft.com/office/drawing/2014/main" id="{0AB5E551-CF14-25BB-D2FA-60A8D0AD93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487F9-D8A9-CDAE-1906-993FDC714565}"/>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2958880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DAB8F-58A6-F6A4-A9F1-FA5C5B1A90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B6C4AB-089B-C210-26FC-ABBE8BE380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D68FD-2A52-5F38-9B52-022AD3D1361C}"/>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5" name="Footer Placeholder 4">
            <a:extLst>
              <a:ext uri="{FF2B5EF4-FFF2-40B4-BE49-F238E27FC236}">
                <a16:creationId xmlns:a16="http://schemas.microsoft.com/office/drawing/2014/main" id="{C7A039F9-4922-FE93-4B99-F47CF0161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0D5A3E-97C4-B64D-A8FE-6ABB420F872B}"/>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3786288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682A5F-3902-C308-D7A9-D4564871A4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79269C-AB75-56E5-03D3-C246793039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0F302-F86C-41B7-EED4-0F2007B8BC6F}"/>
              </a:ext>
            </a:extLst>
          </p:cNvPr>
          <p:cNvSpPr>
            <a:spLocks noGrp="1"/>
          </p:cNvSpPr>
          <p:nvPr>
            <p:ph type="dt" sz="half" idx="10"/>
          </p:nvPr>
        </p:nvSpPr>
        <p:spPr/>
        <p:txBody>
          <a:bodyPr/>
          <a:lstStyle/>
          <a:p>
            <a:fld id="{AA2B8D2A-88BA-47D1-BEB6-0C4C09E6223D}" type="datetimeFigureOut">
              <a:rPr lang="en-US" smtClean="0"/>
              <a:t>4/16/2026</a:t>
            </a:fld>
            <a:endParaRPr lang="en-US"/>
          </a:p>
        </p:txBody>
      </p:sp>
      <p:sp>
        <p:nvSpPr>
          <p:cNvPr id="5" name="Footer Placeholder 4">
            <a:extLst>
              <a:ext uri="{FF2B5EF4-FFF2-40B4-BE49-F238E27FC236}">
                <a16:creationId xmlns:a16="http://schemas.microsoft.com/office/drawing/2014/main" id="{D56B67F3-5541-E57D-839D-E3CFC8C5C1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249310-A4B1-8F2F-5976-84DAAF4A139E}"/>
              </a:ext>
            </a:extLst>
          </p:cNvPr>
          <p:cNvSpPr>
            <a:spLocks noGrp="1"/>
          </p:cNvSpPr>
          <p:nvPr>
            <p:ph type="sldNum" sz="quarter" idx="12"/>
          </p:nvPr>
        </p:nvSpPr>
        <p:spPr/>
        <p:txBody>
          <a:bodyPr/>
          <a:lstStyle/>
          <a:p>
            <a:fld id="{492FB894-D01A-4DCB-8413-055B6F18AF63}" type="slidenum">
              <a:rPr lang="en-US" smtClean="0"/>
              <a:t>‹#›</a:t>
            </a:fld>
            <a:endParaRPr lang="en-US"/>
          </a:p>
        </p:txBody>
      </p:sp>
    </p:spTree>
    <p:extLst>
      <p:ext uri="{BB962C8B-B14F-4D97-AF65-F5344CB8AC3E}">
        <p14:creationId xmlns:p14="http://schemas.microsoft.com/office/powerpoint/2010/main" val="362613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F68138-9DBF-00FF-91CC-1CCB13FD63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5A53F4-B750-7EB9-957F-6B5597E280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160BDF-4421-EA51-03B2-54D7C64200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2B8D2A-88BA-47D1-BEB6-0C4C09E6223D}" type="datetimeFigureOut">
              <a:rPr lang="en-US" smtClean="0"/>
              <a:t>4/16/2026</a:t>
            </a:fld>
            <a:endParaRPr lang="en-US"/>
          </a:p>
        </p:txBody>
      </p:sp>
      <p:sp>
        <p:nvSpPr>
          <p:cNvPr id="5" name="Footer Placeholder 4">
            <a:extLst>
              <a:ext uri="{FF2B5EF4-FFF2-40B4-BE49-F238E27FC236}">
                <a16:creationId xmlns:a16="http://schemas.microsoft.com/office/drawing/2014/main" id="{2DCAF254-0591-A27A-E9F2-E0D71DD0CA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F7353A-65E3-BE5E-000E-F698BD5E64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2FB894-D01A-4DCB-8413-055B6F18AF63}" type="slidenum">
              <a:rPr lang="en-US" smtClean="0"/>
              <a:t>‹#›</a:t>
            </a:fld>
            <a:endParaRPr lang="en-US"/>
          </a:p>
        </p:txBody>
      </p:sp>
    </p:spTree>
    <p:extLst>
      <p:ext uri="{BB962C8B-B14F-4D97-AF65-F5344CB8AC3E}">
        <p14:creationId xmlns:p14="http://schemas.microsoft.com/office/powerpoint/2010/main" val="3195404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C76F1-9920-1795-3E8A-AC0E6933A6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9EBE02-FB40-DF9A-5BCE-1B1BEE9E5AA0}"/>
              </a:ext>
            </a:extLst>
          </p:cNvPr>
          <p:cNvSpPr txBox="1"/>
          <p:nvPr/>
        </p:nvSpPr>
        <p:spPr>
          <a:xfrm>
            <a:off x="544286" y="420976"/>
            <a:ext cx="11103428" cy="1754326"/>
          </a:xfrm>
          <a:prstGeom prst="rect">
            <a:avLst/>
          </a:prstGeom>
          <a:noFill/>
        </p:spPr>
        <p:txBody>
          <a:bodyPr wrap="square">
            <a:spAutoFit/>
          </a:bodyPr>
          <a:lstStyle/>
          <a:p>
            <a:pPr>
              <a:buNone/>
            </a:pPr>
            <a:r>
              <a:rPr lang="en-US" b="1" dirty="0"/>
              <a:t>6. a)</a:t>
            </a:r>
            <a:r>
              <a:rPr lang="en-US" dirty="0"/>
              <a:t> A concave mirror has a radius of curvature </a:t>
            </a:r>
            <a:r>
              <a:rPr lang="en-US" b="1" dirty="0"/>
              <a:t>30 cm</a:t>
            </a:r>
            <a:r>
              <a:rPr lang="en-US" dirty="0"/>
              <a:t>. An object of height </a:t>
            </a:r>
            <a:r>
              <a:rPr lang="en-US" b="1" dirty="0"/>
              <a:t>12 cm</a:t>
            </a:r>
            <a:r>
              <a:rPr lang="en-US" dirty="0"/>
              <a:t> forms an enlarged image </a:t>
            </a:r>
            <a:r>
              <a:rPr lang="en-US" b="1" dirty="0"/>
              <a:t>20 cm</a:t>
            </a:r>
            <a:r>
              <a:rPr lang="en-US" dirty="0"/>
              <a:t> behind the mirror.</a:t>
            </a:r>
          </a:p>
          <a:p>
            <a:pPr marL="400050" indent="-400050">
              <a:buAutoNum type="romanLcParenR"/>
            </a:pPr>
            <a:r>
              <a:rPr lang="en-US" dirty="0"/>
              <a:t>Calculate the object distance.</a:t>
            </a:r>
          </a:p>
          <a:p>
            <a:pPr marL="400050" indent="-400050">
              <a:buAutoNum type="romanLcParenR"/>
            </a:pPr>
            <a:r>
              <a:rPr lang="en-US" dirty="0"/>
              <a:t>Calculate the height of the image.</a:t>
            </a:r>
          </a:p>
          <a:p>
            <a:pPr marL="400050" indent="-400050">
              <a:buAutoNum type="romanLcParenR"/>
            </a:pPr>
            <a:r>
              <a:rPr lang="en-US" dirty="0"/>
              <a:t>State two characteristics of the image.</a:t>
            </a:r>
          </a:p>
          <a:p>
            <a:pPr algn="r">
              <a:buNone/>
            </a:pPr>
            <a:r>
              <a:rPr lang="en-US" b="1" dirty="0"/>
              <a:t>[5 marks]</a:t>
            </a:r>
            <a:endParaRPr lang="en-US" dirty="0"/>
          </a:p>
        </p:txBody>
      </p:sp>
      <p:sp>
        <p:nvSpPr>
          <p:cNvPr id="5" name="TextBox 4">
            <a:extLst>
              <a:ext uri="{FF2B5EF4-FFF2-40B4-BE49-F238E27FC236}">
                <a16:creationId xmlns:a16="http://schemas.microsoft.com/office/drawing/2014/main" id="{42CDBBDE-C8D2-1B40-5D4D-5B057A823F17}"/>
              </a:ext>
            </a:extLst>
          </p:cNvPr>
          <p:cNvSpPr txBox="1"/>
          <p:nvPr/>
        </p:nvSpPr>
        <p:spPr>
          <a:xfrm>
            <a:off x="2939144" y="2413337"/>
            <a:ext cx="8708570" cy="2031325"/>
          </a:xfrm>
          <a:prstGeom prst="rect">
            <a:avLst/>
          </a:prstGeom>
          <a:noFill/>
        </p:spPr>
        <p:txBody>
          <a:bodyPr wrap="square">
            <a:spAutoFit/>
          </a:bodyPr>
          <a:lstStyle/>
          <a:p>
            <a:pPr>
              <a:buNone/>
            </a:pPr>
            <a:r>
              <a:rPr lang="en-US" b="1" dirty="0"/>
              <a:t>b) FIGURE 6</a:t>
            </a:r>
            <a:r>
              <a:rPr lang="en-US" dirty="0"/>
              <a:t> shows a glass rod with a convex surface of radius of curvature </a:t>
            </a:r>
            <a:r>
              <a:rPr lang="en-US" b="1" dirty="0"/>
              <a:t>6 cm</a:t>
            </a:r>
            <a:r>
              <a:rPr lang="en-US" dirty="0"/>
              <a:t> at one end. The refractive index of the glass is </a:t>
            </a:r>
            <a:r>
              <a:rPr lang="en-US" b="1" dirty="0"/>
              <a:t>1.5</a:t>
            </a:r>
            <a:r>
              <a:rPr lang="en-US" dirty="0"/>
              <a:t>. A point object, </a:t>
            </a:r>
            <a:r>
              <a:rPr lang="en-US" b="1" dirty="0"/>
              <a:t>O</a:t>
            </a:r>
            <a:r>
              <a:rPr lang="en-US" dirty="0"/>
              <a:t> is located at </a:t>
            </a:r>
            <a:r>
              <a:rPr lang="en-US" b="1" dirty="0"/>
              <a:t>20 cm</a:t>
            </a:r>
            <a:r>
              <a:rPr lang="en-US" dirty="0"/>
              <a:t> from the curved end.</a:t>
            </a:r>
          </a:p>
          <a:p>
            <a:pPr marL="400050" indent="-400050">
              <a:buAutoNum type="romanLcParenR"/>
            </a:pPr>
            <a:r>
              <a:rPr lang="en-US" dirty="0"/>
              <a:t>Determine the location of the image. </a:t>
            </a:r>
          </a:p>
          <a:p>
            <a:pPr marL="400050" indent="-400050">
              <a:buAutoNum type="romanLcParenR"/>
            </a:pPr>
            <a:r>
              <a:rPr lang="en-US" dirty="0"/>
              <a:t>If the glass rod is immersed in water with a refractive index of </a:t>
            </a:r>
            <a:r>
              <a:rPr lang="en-US" b="1" dirty="0"/>
              <a:t>1.33</a:t>
            </a:r>
            <a:r>
              <a:rPr lang="en-US" dirty="0"/>
              <a:t>, determine the location of the image. State </a:t>
            </a:r>
            <a:r>
              <a:rPr lang="en-US" b="1" dirty="0"/>
              <a:t>ONE</a:t>
            </a:r>
            <a:r>
              <a:rPr lang="en-US" dirty="0"/>
              <a:t> characteristic of the image.</a:t>
            </a:r>
          </a:p>
          <a:p>
            <a:pPr algn="r">
              <a:buNone/>
            </a:pPr>
            <a:r>
              <a:rPr lang="en-US" b="1" dirty="0"/>
              <a:t>[5 marks]</a:t>
            </a:r>
            <a:endParaRPr lang="en-US" dirty="0"/>
          </a:p>
        </p:txBody>
      </p:sp>
      <p:pic>
        <p:nvPicPr>
          <p:cNvPr id="7" name="Picture 6">
            <a:extLst>
              <a:ext uri="{FF2B5EF4-FFF2-40B4-BE49-F238E27FC236}">
                <a16:creationId xmlns:a16="http://schemas.microsoft.com/office/drawing/2014/main" id="{04063F50-C762-CE0D-B72D-6F77F7170258}"/>
              </a:ext>
            </a:extLst>
          </p:cNvPr>
          <p:cNvPicPr>
            <a:picLocks noChangeAspect="1"/>
          </p:cNvPicPr>
          <p:nvPr/>
        </p:nvPicPr>
        <p:blipFill>
          <a:blip r:embed="rId2"/>
          <a:stretch>
            <a:fillRect/>
          </a:stretch>
        </p:blipFill>
        <p:spPr>
          <a:xfrm>
            <a:off x="243193" y="2847893"/>
            <a:ext cx="2695951" cy="581106"/>
          </a:xfrm>
          <a:prstGeom prst="rect">
            <a:avLst/>
          </a:prstGeom>
        </p:spPr>
      </p:pic>
      <p:pic>
        <p:nvPicPr>
          <p:cNvPr id="9" name="Picture 8">
            <a:extLst>
              <a:ext uri="{FF2B5EF4-FFF2-40B4-BE49-F238E27FC236}">
                <a16:creationId xmlns:a16="http://schemas.microsoft.com/office/drawing/2014/main" id="{6357F6AB-5566-6F45-0E84-C0013BEAB186}"/>
              </a:ext>
            </a:extLst>
          </p:cNvPr>
          <p:cNvPicPr>
            <a:picLocks noChangeAspect="1"/>
          </p:cNvPicPr>
          <p:nvPr/>
        </p:nvPicPr>
        <p:blipFill>
          <a:blip r:embed="rId3"/>
          <a:stretch>
            <a:fillRect/>
          </a:stretch>
        </p:blipFill>
        <p:spPr>
          <a:xfrm>
            <a:off x="7390730" y="5683638"/>
            <a:ext cx="4801270" cy="933580"/>
          </a:xfrm>
          <a:prstGeom prst="rect">
            <a:avLst/>
          </a:prstGeom>
        </p:spPr>
      </p:pic>
    </p:spTree>
    <p:extLst>
      <p:ext uri="{BB962C8B-B14F-4D97-AF65-F5344CB8AC3E}">
        <p14:creationId xmlns:p14="http://schemas.microsoft.com/office/powerpoint/2010/main" val="8343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B2017-1C5E-7A3E-DC5F-A0AE292ED5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7B9A26-7901-AC53-C02B-864E8B3ECE2F}"/>
              </a:ext>
            </a:extLst>
          </p:cNvPr>
          <p:cNvSpPr txBox="1"/>
          <p:nvPr/>
        </p:nvSpPr>
        <p:spPr>
          <a:xfrm>
            <a:off x="763732" y="466682"/>
            <a:ext cx="10874086"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6. a)</a:t>
            </a:r>
            <a:r>
              <a:rPr lang="en-US" dirty="0">
                <a:latin typeface="Times New Roman" panose="02020603050405020304" pitchFamily="18" charset="0"/>
                <a:cs typeface="Times New Roman" panose="02020603050405020304" pitchFamily="18" charset="0"/>
              </a:rPr>
              <a:t> An object 4.0 cm high is placed 15.0 cm from a concave mirror of focal length 5.0 cm. Determine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the position of the image from the mirror.</a:t>
            </a:r>
          </a:p>
          <a:p>
            <a:r>
              <a:rPr lang="en-US" dirty="0">
                <a:latin typeface="Times New Roman" panose="02020603050405020304" pitchFamily="18" charset="0"/>
                <a:cs typeface="Times New Roman" panose="02020603050405020304" pitchFamily="18" charset="0"/>
              </a:rPr>
              <a:t> ii) if the object is moved 10 cm towards the concave mirror, where is the position of the image formed?</a:t>
            </a:r>
          </a:p>
          <a:p>
            <a:pPr algn="r"/>
            <a:r>
              <a:rPr lang="en-US" dirty="0">
                <a:latin typeface="Times New Roman" panose="02020603050405020304" pitchFamily="18" charset="0"/>
                <a:cs typeface="Times New Roman" panose="02020603050405020304" pitchFamily="18" charset="0"/>
              </a:rPr>
              <a:t> [5 marks]</a:t>
            </a:r>
            <a:endParaRPr lang="en-MY"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946BC6F-1753-5A6E-E283-5DDE42063D2B}"/>
              </a:ext>
            </a:extLst>
          </p:cNvPr>
          <p:cNvSpPr txBox="1"/>
          <p:nvPr/>
        </p:nvSpPr>
        <p:spPr>
          <a:xfrm>
            <a:off x="763732" y="1951672"/>
            <a:ext cx="10874086" cy="147732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Focal length of a converging biconvex glass lens (n = 1.5) is 20 cm. </a:t>
            </a:r>
          </a:p>
          <a:p>
            <a:pPr marL="400050" indent="-400050">
              <a:buAutoNum type="romanLcParenR"/>
            </a:pPr>
            <a:r>
              <a:rPr lang="en-US" dirty="0">
                <a:latin typeface="Times New Roman" panose="02020603050405020304" pitchFamily="18" charset="0"/>
                <a:cs typeface="Times New Roman" panose="02020603050405020304" pitchFamily="18" charset="0"/>
              </a:rPr>
              <a:t>Calculate the radius of curvature of the lens.</a:t>
            </a:r>
          </a:p>
          <a:p>
            <a:pPr marL="400050" indent="-400050">
              <a:buAutoNum type="romanLcParenR"/>
            </a:pPr>
            <a:r>
              <a:rPr lang="en-US" dirty="0">
                <a:latin typeface="Times New Roman" panose="02020603050405020304" pitchFamily="18" charset="0"/>
                <a:cs typeface="Times New Roman" panose="02020603050405020304" pitchFamily="18" charset="0"/>
              </a:rPr>
              <a:t> When an object is placed in front of the lens, an image is formed on the same side as the object, at a distance 5 cm from the lens. Calculate the object distance. </a:t>
            </a:r>
          </a:p>
          <a:p>
            <a:pPr algn="r"/>
            <a:r>
              <a:rPr lang="en-US" dirty="0">
                <a:latin typeface="Times New Roman" panose="02020603050405020304" pitchFamily="18" charset="0"/>
                <a:cs typeface="Times New Roman" panose="02020603050405020304" pitchFamily="18" charset="0"/>
              </a:rPr>
              <a:t>[5 marks]</a:t>
            </a:r>
            <a:endParaRPr lang="en-MY"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ACB0958-813E-A75B-E2D0-4B6B2CB71372}"/>
              </a:ext>
            </a:extLst>
          </p:cNvPr>
          <p:cNvPicPr>
            <a:picLocks noChangeAspect="1"/>
          </p:cNvPicPr>
          <p:nvPr/>
        </p:nvPicPr>
        <p:blipFill>
          <a:blip r:embed="rId2"/>
          <a:stretch>
            <a:fillRect/>
          </a:stretch>
        </p:blipFill>
        <p:spPr>
          <a:xfrm>
            <a:off x="7390730" y="4793620"/>
            <a:ext cx="4801270" cy="762106"/>
          </a:xfrm>
          <a:prstGeom prst="rect">
            <a:avLst/>
          </a:prstGeom>
        </p:spPr>
      </p:pic>
    </p:spTree>
    <p:extLst>
      <p:ext uri="{BB962C8B-B14F-4D97-AF65-F5344CB8AC3E}">
        <p14:creationId xmlns:p14="http://schemas.microsoft.com/office/powerpoint/2010/main" val="1603113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6096D-7200-4BAF-0B4D-BDD530443EE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F85BCA5-7BFB-26DB-FD6C-7C93D2692F95}"/>
              </a:ext>
            </a:extLst>
          </p:cNvPr>
          <p:cNvPicPr>
            <a:picLocks noChangeAspect="1"/>
          </p:cNvPicPr>
          <p:nvPr/>
        </p:nvPicPr>
        <p:blipFill>
          <a:blip r:embed="rId2"/>
          <a:stretch>
            <a:fillRect/>
          </a:stretch>
        </p:blipFill>
        <p:spPr>
          <a:xfrm>
            <a:off x="4620127" y="1764903"/>
            <a:ext cx="2141621" cy="1664097"/>
          </a:xfrm>
          <a:prstGeom prst="rect">
            <a:avLst/>
          </a:prstGeom>
        </p:spPr>
      </p:pic>
      <p:sp>
        <p:nvSpPr>
          <p:cNvPr id="5" name="TextBox 4">
            <a:extLst>
              <a:ext uri="{FF2B5EF4-FFF2-40B4-BE49-F238E27FC236}">
                <a16:creationId xmlns:a16="http://schemas.microsoft.com/office/drawing/2014/main" id="{93B3FE75-ED25-3CE7-99F1-74831BE62101}"/>
              </a:ext>
            </a:extLst>
          </p:cNvPr>
          <p:cNvSpPr txBox="1"/>
          <p:nvPr/>
        </p:nvSpPr>
        <p:spPr>
          <a:xfrm>
            <a:off x="541421" y="235894"/>
            <a:ext cx="11321716" cy="1754326"/>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6. a)</a:t>
            </a:r>
            <a:r>
              <a:rPr lang="en-US" dirty="0">
                <a:latin typeface="Times New Roman" panose="02020603050405020304" pitchFamily="18" charset="0"/>
                <a:cs typeface="Times New Roman" panose="02020603050405020304" pitchFamily="18" charset="0"/>
              </a:rPr>
              <a:t> An object 3 cm high is placed 20 cm from a convex mirror which has a focal length of 8 cm. </a:t>
            </a:r>
          </a:p>
          <a:p>
            <a:pPr marL="400050" indent="-400050">
              <a:buAutoNum type="romanLcParenR"/>
            </a:pPr>
            <a:r>
              <a:rPr lang="en-US" dirty="0">
                <a:latin typeface="Times New Roman" panose="02020603050405020304" pitchFamily="18" charset="0"/>
                <a:cs typeface="Times New Roman" panose="02020603050405020304" pitchFamily="18" charset="0"/>
              </a:rPr>
              <a:t>Determine the position of the image.</a:t>
            </a:r>
          </a:p>
          <a:p>
            <a:pPr marL="400050" indent="-400050">
              <a:buAutoNum type="romanLcParenR"/>
            </a:pPr>
            <a:r>
              <a:rPr lang="en-US" dirty="0">
                <a:latin typeface="Times New Roman" panose="02020603050405020304" pitchFamily="18" charset="0"/>
                <a:cs typeface="Times New Roman" panose="02020603050405020304" pitchFamily="18" charset="0"/>
              </a:rPr>
              <a:t>Determine the magnification of the mirror. </a:t>
            </a:r>
          </a:p>
          <a:p>
            <a:pPr marL="400050" indent="-400050">
              <a:buAutoNum type="romanLcParenR"/>
            </a:pPr>
            <a:r>
              <a:rPr lang="en-US" dirty="0">
                <a:latin typeface="Times New Roman" panose="02020603050405020304" pitchFamily="18" charset="0"/>
                <a:cs typeface="Times New Roman" panose="02020603050405020304" pitchFamily="18" charset="0"/>
              </a:rPr>
              <a:t>Determine the height of the image. </a:t>
            </a:r>
          </a:p>
          <a:p>
            <a:pPr marL="400050" indent="-400050">
              <a:buAutoNum type="romanLcParenR"/>
            </a:pPr>
            <a:r>
              <a:rPr lang="en-US" dirty="0">
                <a:latin typeface="Times New Roman" panose="02020603050405020304" pitchFamily="18" charset="0"/>
                <a:cs typeface="Times New Roman" panose="02020603050405020304" pitchFamily="18" charset="0"/>
              </a:rPr>
              <a:t>State </a:t>
            </a:r>
            <a:r>
              <a:rPr lang="en-US" b="1" dirty="0">
                <a:latin typeface="Times New Roman" panose="02020603050405020304" pitchFamily="18" charset="0"/>
                <a:cs typeface="Times New Roman" panose="02020603050405020304" pitchFamily="18" charset="0"/>
              </a:rPr>
              <a:t>two</a:t>
            </a:r>
            <a:r>
              <a:rPr lang="en-US" dirty="0">
                <a:latin typeface="Times New Roman" panose="02020603050405020304" pitchFamily="18" charset="0"/>
                <a:cs typeface="Times New Roman" panose="02020603050405020304" pitchFamily="18" charset="0"/>
              </a:rPr>
              <a:t> characteristics of the image. </a:t>
            </a:r>
          </a:p>
          <a:p>
            <a:pPr algn="r"/>
            <a:r>
              <a:rPr lang="en-US" dirty="0">
                <a:latin typeface="Times New Roman" panose="02020603050405020304" pitchFamily="18" charset="0"/>
                <a:cs typeface="Times New Roman" panose="02020603050405020304" pitchFamily="18" charset="0"/>
              </a:rPr>
              <a:t>[6 marks</a:t>
            </a:r>
            <a:r>
              <a:rPr lang="en-US" dirty="0"/>
              <a:t>]</a:t>
            </a:r>
            <a:endParaRPr lang="en-MY" dirty="0"/>
          </a:p>
        </p:txBody>
      </p:sp>
      <p:sp>
        <p:nvSpPr>
          <p:cNvPr id="7" name="TextBox 6">
            <a:extLst>
              <a:ext uri="{FF2B5EF4-FFF2-40B4-BE49-F238E27FC236}">
                <a16:creationId xmlns:a16="http://schemas.microsoft.com/office/drawing/2014/main" id="{4744BC48-A43D-5348-379A-7B02827D949B}"/>
              </a:ext>
            </a:extLst>
          </p:cNvPr>
          <p:cNvSpPr txBox="1"/>
          <p:nvPr/>
        </p:nvSpPr>
        <p:spPr>
          <a:xfrm>
            <a:off x="541421" y="3519229"/>
            <a:ext cx="11321715" cy="147732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FIGURE 5</a:t>
            </a:r>
            <a:r>
              <a:rPr lang="en-US" dirty="0">
                <a:latin typeface="Times New Roman" panose="02020603050405020304" pitchFamily="18" charset="0"/>
                <a:cs typeface="Times New Roman" panose="02020603050405020304" pitchFamily="18" charset="0"/>
              </a:rPr>
              <a:t> shows a lens made from glass with refractive index of 1.57. The radius of curvature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₁ and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₂ are 15.0 cm and 13.0 cm respectively.</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Calculate the focal length. </a:t>
            </a:r>
          </a:p>
          <a:p>
            <a:r>
              <a:rPr lang="en-US" dirty="0">
                <a:latin typeface="Times New Roman" panose="02020603050405020304" pitchFamily="18" charset="0"/>
                <a:cs typeface="Times New Roman" panose="02020603050405020304" pitchFamily="18" charset="0"/>
              </a:rPr>
              <a:t>ii) If the lens immersed in water with refractive index of 1.33, calculate its new focal length. </a:t>
            </a:r>
          </a:p>
          <a:p>
            <a:pPr algn="r"/>
            <a:r>
              <a:rPr lang="en-US" dirty="0">
                <a:latin typeface="Times New Roman" panose="02020603050405020304" pitchFamily="18" charset="0"/>
                <a:cs typeface="Times New Roman" panose="02020603050405020304" pitchFamily="18" charset="0"/>
              </a:rPr>
              <a:t>[4 marks]</a:t>
            </a:r>
            <a:endParaRPr lang="en-MY"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F3AD129-D9C8-CC32-9C1E-E874E52F732F}"/>
              </a:ext>
            </a:extLst>
          </p:cNvPr>
          <p:cNvPicPr>
            <a:picLocks noChangeAspect="1"/>
          </p:cNvPicPr>
          <p:nvPr/>
        </p:nvPicPr>
        <p:blipFill>
          <a:blip r:embed="rId3"/>
          <a:stretch>
            <a:fillRect/>
          </a:stretch>
        </p:blipFill>
        <p:spPr>
          <a:xfrm>
            <a:off x="9038785" y="5573509"/>
            <a:ext cx="3153215" cy="1095528"/>
          </a:xfrm>
          <a:prstGeom prst="rect">
            <a:avLst/>
          </a:prstGeom>
        </p:spPr>
      </p:pic>
    </p:spTree>
    <p:extLst>
      <p:ext uri="{BB962C8B-B14F-4D97-AF65-F5344CB8AC3E}">
        <p14:creationId xmlns:p14="http://schemas.microsoft.com/office/powerpoint/2010/main" val="2341565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4AFDBF-6C9E-AC09-B8BC-3F229FFDD179}"/>
              </a:ext>
            </a:extLst>
          </p:cNvPr>
          <p:cNvSpPr txBox="1"/>
          <p:nvPr/>
        </p:nvSpPr>
        <p:spPr>
          <a:xfrm>
            <a:off x="412954" y="412955"/>
            <a:ext cx="11253019" cy="3644587"/>
          </a:xfrm>
          <a:prstGeom prst="rect">
            <a:avLst/>
          </a:prstGeom>
          <a:noFill/>
        </p:spPr>
        <p:txBody>
          <a:bodyPr wrap="square">
            <a:spAutoFit/>
          </a:bodyPr>
          <a:lstStyle/>
          <a:p>
            <a:pPr marL="342900" marR="24765" lvl="0" indent="-342900">
              <a:lnSpc>
                <a:spcPct val="150000"/>
              </a:lnSpc>
              <a:buFont typeface="+mj-lt"/>
              <a:buAutoNum type="arabicPeriod" startAt="6"/>
              <a:tabLst>
                <a:tab pos="561975" algn="l"/>
                <a:tab pos="1003935" algn="l"/>
              </a:tabLst>
            </a:pPr>
            <a:r>
              <a:rPr lang="en-US" spc="-20" dirty="0">
                <a:effectLst/>
                <a:latin typeface="Times New Roman" panose="02020603050405020304" pitchFamily="18" charset="0"/>
                <a:ea typeface="Times New Roman" panose="02020603050405020304" pitchFamily="18" charset="0"/>
              </a:rPr>
              <a:t>(a)</a:t>
            </a:r>
            <a:r>
              <a:rPr lang="en-US" spc="0" dirty="0">
                <a:effectLst/>
                <a:latin typeface="Times New Roman" panose="02020603050405020304" pitchFamily="18" charset="0"/>
                <a:ea typeface="Times New Roman" panose="02020603050405020304" pitchFamily="18" charset="0"/>
              </a:rPr>
              <a:t>	A</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makeup artist uses a</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spherical mirror to apply makeup. Initially, when she</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is 20 cm in front of the mirror, it produces an inverted image 60 cm from the mirror.</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Determine</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the</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new</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position</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she</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should</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be</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to</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obtain</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an</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upright</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image that is three times of her actual size.</a:t>
            </a:r>
            <a:endParaRPr lang="en-MY" spc="0" dirty="0">
              <a:effectLst/>
              <a:latin typeface="Times New Roman" panose="02020603050405020304" pitchFamily="18" charset="0"/>
              <a:ea typeface="Times New Roman" panose="02020603050405020304" pitchFamily="18" charset="0"/>
            </a:endParaRPr>
          </a:p>
          <a:p>
            <a:pPr marR="12700" algn="r">
              <a:spcBef>
                <a:spcPts val="5"/>
              </a:spcBef>
              <a:buNone/>
            </a:pPr>
            <a:r>
              <a:rPr lang="en-US" dirty="0">
                <a:effectLst/>
                <a:latin typeface="Times New Roman" panose="02020603050405020304" pitchFamily="18" charset="0"/>
                <a:ea typeface="Times New Roman" panose="02020603050405020304" pitchFamily="18" charset="0"/>
              </a:rPr>
              <a:t>[5</a:t>
            </a:r>
            <a:r>
              <a:rPr lang="en-US" spc="-5" dirty="0">
                <a:effectLst/>
                <a:latin typeface="Times New Roman" panose="02020603050405020304" pitchFamily="18" charset="0"/>
                <a:ea typeface="Times New Roman" panose="02020603050405020304" pitchFamily="18" charset="0"/>
              </a:rPr>
              <a:t> </a:t>
            </a:r>
            <a:r>
              <a:rPr lang="en-US" i="1" spc="-10" dirty="0">
                <a:effectLst/>
                <a:latin typeface="Times New Roman" panose="02020603050405020304" pitchFamily="18" charset="0"/>
                <a:ea typeface="Times New Roman" panose="02020603050405020304" pitchFamily="18" charset="0"/>
              </a:rPr>
              <a:t>marks</a:t>
            </a:r>
            <a:r>
              <a:rPr lang="en-US"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a:p>
            <a:pPr marR="45085" lvl="0">
              <a:lnSpc>
                <a:spcPct val="150000"/>
              </a:lnSpc>
              <a:buSzPts val="1200"/>
              <a:tabLst>
                <a:tab pos="1003935" algn="l"/>
              </a:tabLst>
            </a:pPr>
            <a:r>
              <a:rPr lang="en-US" spc="0" dirty="0">
                <a:effectLst/>
                <a:latin typeface="Times New Roman" panose="02020603050405020304" pitchFamily="18" charset="0"/>
                <a:ea typeface="Times New Roman" panose="02020603050405020304" pitchFamily="18" charset="0"/>
              </a:rPr>
              <a:t>(b)             A</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convex</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meniscus</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lens</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is</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made</a:t>
            </a:r>
            <a:r>
              <a:rPr lang="en-US" spc="-2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from</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glass</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with</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a:t>
            </a:r>
            <a:r>
              <a:rPr lang="en-US" spc="-1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refractive</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index</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of</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1.50</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and has radii of curvature of 20 cm and 40 cm.</a:t>
            </a:r>
            <a:endParaRPr lang="en-MY" spc="0" dirty="0">
              <a:effectLst/>
              <a:latin typeface="Times New Roman" panose="02020603050405020304" pitchFamily="18" charset="0"/>
              <a:ea typeface="Times New Roman" panose="02020603050405020304" pitchFamily="18" charset="0"/>
            </a:endParaRPr>
          </a:p>
          <a:p>
            <a:pPr marL="742950" lvl="1" indent="-285750">
              <a:buSzPts val="1200"/>
              <a:buFont typeface="Times New Roman" panose="02020603050405020304" pitchFamily="18" charset="0"/>
              <a:buAutoNum type="romanLcParenBoth"/>
              <a:tabLst>
                <a:tab pos="1453515" algn="l"/>
              </a:tabLst>
            </a:pPr>
            <a:r>
              <a:rPr lang="en-US" spc="0" dirty="0">
                <a:effectLst/>
                <a:latin typeface="Times New Roman" panose="02020603050405020304" pitchFamily="18" charset="0"/>
                <a:ea typeface="Times New Roman" panose="02020603050405020304" pitchFamily="18" charset="0"/>
              </a:rPr>
              <a:t>Determine</a:t>
            </a:r>
            <a:r>
              <a:rPr lang="en-US" spc="-1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the focal</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length</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of the</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lens</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 </a:t>
            </a:r>
            <a:r>
              <a:rPr lang="en-US" spc="-20" dirty="0">
                <a:effectLst/>
                <a:latin typeface="Times New Roman" panose="02020603050405020304" pitchFamily="18" charset="0"/>
                <a:ea typeface="Times New Roman" panose="02020603050405020304" pitchFamily="18" charset="0"/>
              </a:rPr>
              <a:t>air.</a:t>
            </a:r>
            <a:endParaRPr lang="en-MY" spc="0" dirty="0">
              <a:effectLst/>
              <a:latin typeface="Times New Roman" panose="02020603050405020304" pitchFamily="18" charset="0"/>
              <a:ea typeface="Times New Roman" panose="02020603050405020304" pitchFamily="18" charset="0"/>
            </a:endParaRPr>
          </a:p>
          <a:p>
            <a:pPr marL="742950" lvl="1" indent="-285750">
              <a:spcBef>
                <a:spcPts val="685"/>
              </a:spcBef>
              <a:buSzPts val="1200"/>
              <a:buFont typeface="Times New Roman" panose="02020603050405020304" pitchFamily="18" charset="0"/>
              <a:buAutoNum type="romanLcParenBoth"/>
              <a:tabLst>
                <a:tab pos="1449070" algn="l"/>
              </a:tabLst>
            </a:pPr>
            <a:r>
              <a:rPr lang="en-US" spc="0" dirty="0">
                <a:effectLst/>
                <a:latin typeface="Times New Roman" panose="02020603050405020304" pitchFamily="18" charset="0"/>
                <a:ea typeface="Times New Roman" panose="02020603050405020304" pitchFamily="18" charset="0"/>
              </a:rPr>
              <a:t>The</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same</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lens is</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now immersed</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 a</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liquid with</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refractive</a:t>
            </a:r>
            <a:r>
              <a:rPr lang="en-US" spc="-1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index </a:t>
            </a:r>
            <a:r>
              <a:rPr lang="en-US" spc="-25" dirty="0">
                <a:effectLst/>
                <a:latin typeface="Times New Roman" panose="02020603050405020304" pitchFamily="18" charset="0"/>
                <a:ea typeface="Times New Roman" panose="02020603050405020304" pitchFamily="18" charset="0"/>
              </a:rPr>
              <a:t>of </a:t>
            </a:r>
            <a:r>
              <a:rPr lang="en-US" dirty="0">
                <a:effectLst/>
                <a:latin typeface="Times New Roman" panose="02020603050405020304" pitchFamily="18" charset="0"/>
                <a:ea typeface="Times New Roman" panose="02020603050405020304" pitchFamily="18" charset="0"/>
              </a:rPr>
              <a:t>1.80.</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Determine</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whether</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lens</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behaves</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as</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converging</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or</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diverging lens in the liquid.</a:t>
            </a:r>
            <a:endParaRPr lang="en-MY" dirty="0">
              <a:effectLst/>
              <a:latin typeface="Times New Roman" panose="02020603050405020304" pitchFamily="18" charset="0"/>
              <a:ea typeface="Times New Roman" panose="02020603050405020304" pitchFamily="18" charset="0"/>
            </a:endParaRPr>
          </a:p>
          <a:p>
            <a:pPr marR="12700" algn="r">
              <a:buNone/>
            </a:pPr>
            <a:r>
              <a:rPr lang="en-US" dirty="0">
                <a:effectLst/>
                <a:latin typeface="Times New Roman" panose="02020603050405020304" pitchFamily="18" charset="0"/>
                <a:ea typeface="Times New Roman" panose="02020603050405020304" pitchFamily="18" charset="0"/>
              </a:rPr>
              <a:t>[5</a:t>
            </a:r>
            <a:r>
              <a:rPr lang="en-US" spc="-5" dirty="0">
                <a:effectLst/>
                <a:latin typeface="Times New Roman" panose="02020603050405020304" pitchFamily="18" charset="0"/>
                <a:ea typeface="Times New Roman" panose="02020603050405020304" pitchFamily="18" charset="0"/>
              </a:rPr>
              <a:t> </a:t>
            </a:r>
            <a:r>
              <a:rPr lang="en-US" i="1" spc="-10" dirty="0">
                <a:effectLst/>
                <a:latin typeface="Times New Roman" panose="02020603050405020304" pitchFamily="18" charset="0"/>
                <a:ea typeface="Times New Roman" panose="02020603050405020304" pitchFamily="18" charset="0"/>
              </a:rPr>
              <a:t>marks</a:t>
            </a:r>
            <a:r>
              <a:rPr lang="en-US"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B52FCB84-1724-2B12-BCB0-40AD4CEBF593}"/>
              </a:ext>
            </a:extLst>
          </p:cNvPr>
          <p:cNvPicPr>
            <a:picLocks noChangeAspect="1"/>
          </p:cNvPicPr>
          <p:nvPr/>
        </p:nvPicPr>
        <p:blipFill>
          <a:blip r:embed="rId2"/>
          <a:stretch>
            <a:fillRect/>
          </a:stretch>
        </p:blipFill>
        <p:spPr>
          <a:xfrm>
            <a:off x="412954" y="4630881"/>
            <a:ext cx="3534268" cy="924054"/>
          </a:xfrm>
          <a:prstGeom prst="rect">
            <a:avLst/>
          </a:prstGeom>
        </p:spPr>
      </p:pic>
    </p:spTree>
    <p:extLst>
      <p:ext uri="{BB962C8B-B14F-4D97-AF65-F5344CB8AC3E}">
        <p14:creationId xmlns:p14="http://schemas.microsoft.com/office/powerpoint/2010/main" val="1199304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3D8D41-2372-1947-E5BA-A3C5A33745B0}"/>
              </a:ext>
            </a:extLst>
          </p:cNvPr>
          <p:cNvSpPr txBox="1"/>
          <p:nvPr/>
        </p:nvSpPr>
        <p:spPr>
          <a:xfrm>
            <a:off x="855260" y="246266"/>
            <a:ext cx="10481480" cy="4637808"/>
          </a:xfrm>
          <a:prstGeom prst="rect">
            <a:avLst/>
          </a:prstGeom>
          <a:noFill/>
        </p:spPr>
        <p:txBody>
          <a:bodyPr wrap="square">
            <a:spAutoFit/>
          </a:bodyPr>
          <a:lstStyle/>
          <a:p>
            <a:pPr>
              <a:buNone/>
            </a:pPr>
            <a:r>
              <a:rPr lang="en-MY" sz="1800" dirty="0">
                <a:solidFill>
                  <a:srgbClr val="000000"/>
                </a:solidFill>
                <a:effectLst/>
                <a:latin typeface="Times New Roman" panose="02020603050405020304" pitchFamily="18" charset="0"/>
                <a:ea typeface="Aptos" panose="020B0004020202020204" pitchFamily="34" charset="0"/>
              </a:rPr>
              <a:t>6 (a) A makeup mirror has a focal length of </a:t>
            </a:r>
            <a:r>
              <a:rPr lang="en-MY" sz="1800" i="1" dirty="0">
                <a:solidFill>
                  <a:srgbClr val="000000"/>
                </a:solidFill>
                <a:effectLst/>
                <a:latin typeface="Times New Roman" panose="02020603050405020304" pitchFamily="18" charset="0"/>
                <a:ea typeface="Aptos" panose="020B0004020202020204" pitchFamily="34" charset="0"/>
              </a:rPr>
              <a:t>f. </a:t>
            </a:r>
            <a:r>
              <a:rPr lang="en-MY" sz="1800" dirty="0">
                <a:solidFill>
                  <a:srgbClr val="000000"/>
                </a:solidFill>
                <a:effectLst/>
                <a:latin typeface="Times New Roman" panose="02020603050405020304" pitchFamily="18" charset="0"/>
                <a:ea typeface="Aptos" panose="020B0004020202020204" pitchFamily="34" charset="0"/>
              </a:rPr>
              <a:t>If the mirror produces a magnification of 2.5 when someone looking at the mirror from 10 cm away, </a:t>
            </a:r>
            <a:endParaRPr lang="en-MY" sz="2000" dirty="0">
              <a:solidFill>
                <a:srgbClr val="000000"/>
              </a:solidFill>
              <a:effectLst/>
              <a:latin typeface="Times New Roman" panose="02020603050405020304" pitchFamily="18" charset="0"/>
              <a:ea typeface="Aptos" panose="020B0004020202020204" pitchFamily="34" charset="0"/>
            </a:endParaRPr>
          </a:p>
          <a:p>
            <a:pPr marL="342900" lvl="0" indent="-342900">
              <a:lnSpc>
                <a:spcPct val="115000"/>
              </a:lnSpc>
              <a:buFont typeface="+mj-lt"/>
              <a:buAutoNum type="romanLcParenBoth"/>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Determine the type of the mirror.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romanLcParenBoth"/>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Sketch a ray diagram to show the formation of the image. 	</a:t>
            </a:r>
          </a:p>
          <a:p>
            <a:pPr lvl="0">
              <a:lnSpc>
                <a:spcPct val="115000"/>
              </a:lnSpc>
              <a:spcAft>
                <a:spcPts val="800"/>
              </a:spcAft>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										[5 marks]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 (b) An object is placed 20 cm in front of a converging lens with a focal length of 15 cm.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MY" sz="1800" kern="100" dirty="0" err="1">
                <a:effectLst/>
                <a:latin typeface="Times New Roman" panose="02020603050405020304" pitchFamily="18" charset="0"/>
                <a:ea typeface="Aptos" panose="020B0004020202020204" pitchFamily="34" charset="0"/>
                <a:cs typeface="Times New Roman" panose="02020603050405020304" pitchFamily="18" charset="0"/>
              </a:rPr>
              <a:t>i</a:t>
            </a: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  Determine the image distance.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ii. Determine the magnification of the image. 																	[3 marks]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 (c) In a Young's double slit experiment, an interference pattern is formed 1.00 m away from the double slits. The double slits are separated by 0.25 mm and the wavelength of light used is 550 nm. Determine the distance between the central bright to the</a:t>
            </a:r>
            <a:r>
              <a:rPr lang="en-MY" kern="100" dirty="0">
                <a:latin typeface="Times New Roman" panose="02020603050405020304" pitchFamily="18" charset="0"/>
                <a:ea typeface="Aptos" panose="020B0004020202020204" pitchFamily="34" charset="0"/>
                <a:cs typeface="Times New Roman" panose="02020603050405020304" pitchFamily="18" charset="0"/>
              </a:rPr>
              <a:t> </a:t>
            </a:r>
            <a:r>
              <a:rPr lang="en-MY" sz="1800" dirty="0">
                <a:solidFill>
                  <a:srgbClr val="000000"/>
                </a:solidFill>
                <a:effectLst/>
                <a:latin typeface="Times New Roman" panose="02020603050405020304" pitchFamily="18" charset="0"/>
                <a:ea typeface="Aptos" panose="020B0004020202020204" pitchFamily="34" charset="0"/>
              </a:rPr>
              <a:t>5th bright fringe, 																[2 </a:t>
            </a:r>
            <a:r>
              <a:rPr lang="en-MY" sz="1800" i="1" dirty="0">
                <a:solidFill>
                  <a:srgbClr val="000000"/>
                </a:solidFill>
                <a:effectLst/>
                <a:latin typeface="Times New Roman" panose="02020603050405020304" pitchFamily="18" charset="0"/>
                <a:ea typeface="Aptos" panose="020B0004020202020204" pitchFamily="34" charset="0"/>
              </a:rPr>
              <a:t>marks</a:t>
            </a:r>
            <a:r>
              <a:rPr lang="en-MY" sz="1800" dirty="0">
                <a:solidFill>
                  <a:srgbClr val="000000"/>
                </a:solidFill>
                <a:effectLst/>
                <a:latin typeface="Times New Roman" panose="02020603050405020304" pitchFamily="18" charset="0"/>
                <a:ea typeface="Aptos" panose="020B0004020202020204" pitchFamily="34" charset="0"/>
              </a:rPr>
              <a:t>] </a:t>
            </a:r>
            <a:endParaRPr lang="en-MY" sz="2000" dirty="0">
              <a:solidFill>
                <a:srgbClr val="000000"/>
              </a:solidFill>
              <a:effectLst/>
              <a:latin typeface="Times New Roman" panose="02020603050405020304" pitchFamily="18" charset="0"/>
              <a:ea typeface="Aptos" panose="020B0004020202020204" pitchFamily="34" charset="0"/>
            </a:endParaRPr>
          </a:p>
        </p:txBody>
      </p:sp>
      <p:pic>
        <p:nvPicPr>
          <p:cNvPr id="7" name="Picture 6">
            <a:extLst>
              <a:ext uri="{FF2B5EF4-FFF2-40B4-BE49-F238E27FC236}">
                <a16:creationId xmlns:a16="http://schemas.microsoft.com/office/drawing/2014/main" id="{55450A05-3D87-F747-A72A-596593E64766}"/>
              </a:ext>
            </a:extLst>
          </p:cNvPr>
          <p:cNvPicPr>
            <a:picLocks noChangeAspect="1"/>
          </p:cNvPicPr>
          <p:nvPr/>
        </p:nvPicPr>
        <p:blipFill>
          <a:blip r:embed="rId2"/>
          <a:stretch>
            <a:fillRect/>
          </a:stretch>
        </p:blipFill>
        <p:spPr>
          <a:xfrm>
            <a:off x="1073055" y="4611205"/>
            <a:ext cx="3210373" cy="2000529"/>
          </a:xfrm>
          <a:prstGeom prst="rect">
            <a:avLst/>
          </a:prstGeom>
        </p:spPr>
      </p:pic>
      <p:pic>
        <p:nvPicPr>
          <p:cNvPr id="9" name="Picture 8">
            <a:extLst>
              <a:ext uri="{FF2B5EF4-FFF2-40B4-BE49-F238E27FC236}">
                <a16:creationId xmlns:a16="http://schemas.microsoft.com/office/drawing/2014/main" id="{E70C9EF4-36F9-6AF7-2120-1AF9FB62B160}"/>
              </a:ext>
            </a:extLst>
          </p:cNvPr>
          <p:cNvPicPr>
            <a:picLocks noChangeAspect="1"/>
          </p:cNvPicPr>
          <p:nvPr/>
        </p:nvPicPr>
        <p:blipFill>
          <a:blip r:embed="rId3"/>
          <a:stretch>
            <a:fillRect/>
          </a:stretch>
        </p:blipFill>
        <p:spPr>
          <a:xfrm>
            <a:off x="5113394" y="5281114"/>
            <a:ext cx="2924583" cy="933580"/>
          </a:xfrm>
          <a:prstGeom prst="rect">
            <a:avLst/>
          </a:prstGeom>
        </p:spPr>
      </p:pic>
    </p:spTree>
    <p:extLst>
      <p:ext uri="{BB962C8B-B14F-4D97-AF65-F5344CB8AC3E}">
        <p14:creationId xmlns:p14="http://schemas.microsoft.com/office/powerpoint/2010/main" val="1079973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14B1DA-FA6D-3B07-2BEC-F335547A5C81}"/>
              </a:ext>
            </a:extLst>
          </p:cNvPr>
          <p:cNvSpPr txBox="1"/>
          <p:nvPr/>
        </p:nvSpPr>
        <p:spPr>
          <a:xfrm>
            <a:off x="425245" y="464614"/>
            <a:ext cx="11341510" cy="703911"/>
          </a:xfrm>
          <a:prstGeom prst="rect">
            <a:avLst/>
          </a:prstGeom>
          <a:noFill/>
        </p:spPr>
        <p:txBody>
          <a:bodyPr wrap="square">
            <a:spAutoFit/>
          </a:bodyPr>
          <a:lstStyle/>
          <a:p>
            <a:pPr marR="626745" lvl="0">
              <a:lnSpc>
                <a:spcPct val="115000"/>
              </a:lnSpc>
              <a:spcBef>
                <a:spcPts val="5"/>
              </a:spcBef>
              <a:tabLst>
                <a:tab pos="650240" algn="l"/>
                <a:tab pos="950595" algn="l"/>
              </a:tabLst>
            </a:pPr>
            <a:r>
              <a:rPr lang="ms-MY" spc="-20" dirty="0">
                <a:effectLst/>
                <a:latin typeface="Times New Roman" panose="02020603050405020304" pitchFamily="18" charset="0"/>
                <a:ea typeface="Times New Roman" panose="02020603050405020304" pitchFamily="18" charset="0"/>
              </a:rPr>
              <a:t>6(a)</a:t>
            </a:r>
            <a:r>
              <a:rPr lang="ms-MY" spc="0" dirty="0">
                <a:effectLst/>
                <a:latin typeface="Times New Roman" panose="02020603050405020304" pitchFamily="18" charset="0"/>
                <a:ea typeface="Times New Roman" panose="02020603050405020304" pitchFamily="18" charset="0"/>
              </a:rPr>
              <a:t>	A concave mirror has a radius curvature of 40.5 cm and is positioned at a</a:t>
            </a:r>
            <a:r>
              <a:rPr lang="ms-MY" spc="20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distance such that the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upright image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of</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person’s</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face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is 1.5 times</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size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of</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his face. How </a:t>
            </a:r>
            <a:r>
              <a:rPr lang="ms-MY" dirty="0">
                <a:effectLst/>
                <a:latin typeface="Times New Roman" panose="02020603050405020304" pitchFamily="18" charset="0"/>
                <a:ea typeface="Times New Roman" panose="02020603050405020304" pitchFamily="18" charset="0"/>
              </a:rPr>
              <a:t>far</a:t>
            </a:r>
            <a:r>
              <a:rPr lang="ms-MY" spc="-2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is</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mirror</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from</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 person’s</a:t>
            </a:r>
            <a:r>
              <a:rPr lang="ms-MY" spc="-10" dirty="0">
                <a:effectLst/>
                <a:latin typeface="Times New Roman" panose="02020603050405020304" pitchFamily="18" charset="0"/>
                <a:ea typeface="Times New Roman" panose="02020603050405020304" pitchFamily="18" charset="0"/>
              </a:rPr>
              <a:t> </a:t>
            </a:r>
            <a:r>
              <a:rPr lang="ms-MY" spc="-20" dirty="0">
                <a:effectLst/>
                <a:latin typeface="Times New Roman" panose="02020603050405020304" pitchFamily="18" charset="0"/>
                <a:ea typeface="Times New Roman" panose="02020603050405020304" pitchFamily="18" charset="0"/>
              </a:rPr>
              <a:t>face?</a:t>
            </a:r>
            <a:r>
              <a:rPr lang="ms-MY" spc="-20" dirty="0">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[4 </a:t>
            </a:r>
            <a:r>
              <a:rPr lang="ms-MY" i="1" spc="-10" dirty="0">
                <a:effectLst/>
                <a:latin typeface="Times New Roman" panose="02020603050405020304" pitchFamily="18" charset="0"/>
                <a:ea typeface="Times New Roman" panose="02020603050405020304" pitchFamily="18" charset="0"/>
              </a:rPr>
              <a:t>marks</a:t>
            </a:r>
            <a:r>
              <a:rPr lang="ms-MY"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2A3D221C-2BCD-9A03-CD2D-F329853ED8A1}"/>
              </a:ext>
            </a:extLst>
          </p:cNvPr>
          <p:cNvPicPr>
            <a:picLocks noChangeAspect="1"/>
          </p:cNvPicPr>
          <p:nvPr/>
        </p:nvPicPr>
        <p:blipFill>
          <a:blip r:embed="rId2"/>
          <a:stretch>
            <a:fillRect/>
          </a:stretch>
        </p:blipFill>
        <p:spPr>
          <a:xfrm>
            <a:off x="247520" y="1373874"/>
            <a:ext cx="2521490" cy="2984620"/>
          </a:xfrm>
          <a:prstGeom prst="rect">
            <a:avLst/>
          </a:prstGeom>
        </p:spPr>
      </p:pic>
      <p:sp>
        <p:nvSpPr>
          <p:cNvPr id="7" name="TextBox 6">
            <a:extLst>
              <a:ext uri="{FF2B5EF4-FFF2-40B4-BE49-F238E27FC236}">
                <a16:creationId xmlns:a16="http://schemas.microsoft.com/office/drawing/2014/main" id="{D14A0C6F-3BA2-63CB-90F4-91BDE826D980}"/>
              </a:ext>
            </a:extLst>
          </p:cNvPr>
          <p:cNvSpPr txBox="1"/>
          <p:nvPr/>
        </p:nvSpPr>
        <p:spPr>
          <a:xfrm>
            <a:off x="2123768" y="1764954"/>
            <a:ext cx="9244781" cy="1477328"/>
          </a:xfrm>
          <a:prstGeom prst="rect">
            <a:avLst/>
          </a:prstGeom>
          <a:noFill/>
        </p:spPr>
        <p:txBody>
          <a:bodyPr wrap="square">
            <a:spAutoFit/>
          </a:bodyPr>
          <a:lstStyle/>
          <a:p>
            <a:pPr marL="950595" marR="628650" algn="just">
              <a:spcBef>
                <a:spcPts val="545"/>
              </a:spcBef>
              <a:buNone/>
            </a:pPr>
            <a:r>
              <a:rPr lang="ms-MY" dirty="0">
                <a:effectLst/>
                <a:latin typeface="Times New Roman" panose="02020603050405020304" pitchFamily="18" charset="0"/>
                <a:ea typeface="Times New Roman" panose="02020603050405020304" pitchFamily="18" charset="0"/>
              </a:rPr>
              <a:t>(b)  A</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rubber</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ball is submerged in a</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round</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bottom flask containing water (</a:t>
            </a:r>
            <a:r>
              <a:rPr lang="ms-MY" dirty="0">
                <a:effectLst/>
                <a:latin typeface="Cambria Math" panose="02040503050406030204" pitchFamily="18" charset="0"/>
                <a:ea typeface="Cambria Math" panose="02040503050406030204" pitchFamily="18" charset="0"/>
              </a:rPr>
              <a:t>𝑛 </a:t>
            </a:r>
            <a:r>
              <a:rPr lang="ms-MY" dirty="0">
                <a:effectLst/>
                <a:latin typeface="Times New Roman" panose="02020603050405020304" pitchFamily="18" charset="0"/>
                <a:ea typeface="Times New Roman" panose="02020603050405020304" pitchFamily="18" charset="0"/>
              </a:rPr>
              <a:t>=</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1.33 cm) and</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is</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15</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cm</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from</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wall</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of</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flask</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as</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shown</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in</a:t>
            </a:r>
            <a:r>
              <a:rPr lang="ms-MY" spc="-75" dirty="0">
                <a:effectLst/>
                <a:latin typeface="Times New Roman" panose="02020603050405020304" pitchFamily="18" charset="0"/>
                <a:ea typeface="Times New Roman" panose="02020603050405020304" pitchFamily="18" charset="0"/>
              </a:rPr>
              <a:t> </a:t>
            </a:r>
            <a:r>
              <a:rPr lang="ms-MY" b="1" dirty="0">
                <a:effectLst/>
                <a:latin typeface="Times New Roman" panose="02020603050405020304" pitchFamily="18" charset="0"/>
                <a:ea typeface="Times New Roman" panose="02020603050405020304" pitchFamily="18" charset="0"/>
              </a:rPr>
              <a:t>FIGURE</a:t>
            </a:r>
            <a:r>
              <a:rPr lang="ms-MY" b="1" spc="-75" dirty="0">
                <a:effectLst/>
                <a:latin typeface="Times New Roman" panose="02020603050405020304" pitchFamily="18" charset="0"/>
                <a:ea typeface="Times New Roman" panose="02020603050405020304" pitchFamily="18" charset="0"/>
              </a:rPr>
              <a:t> </a:t>
            </a:r>
            <a:r>
              <a:rPr lang="ms-MY" b="1" dirty="0">
                <a:effectLst/>
                <a:latin typeface="Times New Roman" panose="02020603050405020304" pitchFamily="18" charset="0"/>
                <a:ea typeface="Times New Roman" panose="02020603050405020304" pitchFamily="18" charset="0"/>
              </a:rPr>
              <a:t>6</a:t>
            </a:r>
            <a:r>
              <a:rPr lang="ms-MY" dirty="0">
                <a:effectLst/>
                <a:latin typeface="Times New Roman" panose="02020603050405020304" pitchFamily="18" charset="0"/>
                <a:ea typeface="Times New Roman" panose="02020603050405020304" pitchFamily="18" charset="0"/>
              </a:rPr>
              <a:t>.</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spherical</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section of the flask has a 44 cm diameter. What should the image distance of the ball be if the</a:t>
            </a:r>
            <a:r>
              <a:rPr lang="ms-MY" spc="2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person</a:t>
            </a:r>
            <a:r>
              <a:rPr lang="ms-MY" spc="3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is</a:t>
            </a:r>
            <a:r>
              <a:rPr lang="ms-MY" spc="4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standing</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right</a:t>
            </a:r>
            <a:r>
              <a:rPr lang="ms-MY" spc="4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next</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to</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3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flask?</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3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walls</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of</a:t>
            </a:r>
            <a:r>
              <a:rPr lang="ms-MY" spc="3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flask</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are</a:t>
            </a:r>
            <a:r>
              <a:rPr lang="ms-MY" spc="3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very</a:t>
            </a:r>
            <a:r>
              <a:rPr lang="ms-MY" spc="40" dirty="0">
                <a:effectLst/>
                <a:latin typeface="Times New Roman" panose="02020603050405020304" pitchFamily="18" charset="0"/>
                <a:ea typeface="Times New Roman" panose="02020603050405020304" pitchFamily="18" charset="0"/>
              </a:rPr>
              <a:t> </a:t>
            </a:r>
            <a:r>
              <a:rPr lang="ms-MY" spc="-10" dirty="0">
                <a:effectLst/>
                <a:latin typeface="Times New Roman" panose="02020603050405020304" pitchFamily="18" charset="0"/>
                <a:ea typeface="Times New Roman" panose="02020603050405020304" pitchFamily="18" charset="0"/>
              </a:rPr>
              <a:t>thin,  </a:t>
            </a:r>
            <a:r>
              <a:rPr lang="ms-MY" dirty="0">
                <a:effectLst/>
                <a:latin typeface="Times New Roman" panose="02020603050405020304" pitchFamily="18" charset="0"/>
                <a:ea typeface="Times New Roman" panose="02020603050405020304" pitchFamily="18" charset="0"/>
              </a:rPr>
              <a:t>so</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ignore</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refraction caused</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by </a:t>
            </a:r>
            <a:r>
              <a:rPr lang="ms-MY" spc="-10" dirty="0">
                <a:effectLst/>
                <a:latin typeface="Times New Roman" panose="02020603050405020304" pitchFamily="18" charset="0"/>
                <a:ea typeface="Times New Roman" panose="02020603050405020304" pitchFamily="18" charset="0"/>
              </a:rPr>
              <a:t>them.)	</a:t>
            </a:r>
            <a:r>
              <a:rPr lang="ms-MY" dirty="0">
                <a:effectLst/>
                <a:latin typeface="Times New Roman" panose="02020603050405020304" pitchFamily="18" charset="0"/>
                <a:ea typeface="Times New Roman" panose="02020603050405020304" pitchFamily="18" charset="0"/>
              </a:rPr>
              <a:t>[3 </a:t>
            </a:r>
            <a:r>
              <a:rPr lang="ms-MY" i="1" spc="-10" dirty="0">
                <a:effectLst/>
                <a:latin typeface="Times New Roman" panose="02020603050405020304" pitchFamily="18" charset="0"/>
                <a:ea typeface="Times New Roman" panose="02020603050405020304" pitchFamily="18" charset="0"/>
              </a:rPr>
              <a:t>marks</a:t>
            </a:r>
            <a:r>
              <a:rPr lang="ms-MY"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DBB80841-59F4-769F-4B60-D16E83F79FEB}"/>
              </a:ext>
            </a:extLst>
          </p:cNvPr>
          <p:cNvSpPr txBox="1"/>
          <p:nvPr/>
        </p:nvSpPr>
        <p:spPr>
          <a:xfrm>
            <a:off x="2521974" y="4240677"/>
            <a:ext cx="8719984" cy="646331"/>
          </a:xfrm>
          <a:prstGeom prst="rect">
            <a:avLst/>
          </a:prstGeom>
          <a:noFill/>
        </p:spPr>
        <p:txBody>
          <a:bodyPr wrap="square">
            <a:spAutoFit/>
          </a:bodyPr>
          <a:lstStyle/>
          <a:p>
            <a:pPr lvl="0">
              <a:spcBef>
                <a:spcPts val="915"/>
              </a:spcBef>
              <a:buSzPts val="1100"/>
              <a:tabLst>
                <a:tab pos="950595" algn="l"/>
              </a:tabLst>
            </a:pPr>
            <a:r>
              <a:rPr lang="ms-MY" dirty="0">
                <a:latin typeface="Times New Roman" panose="02020603050405020304" pitchFamily="18" charset="0"/>
                <a:ea typeface="Times New Roman" panose="02020603050405020304" pitchFamily="18" charset="0"/>
              </a:rPr>
              <a:t>(c)  </a:t>
            </a:r>
            <a:r>
              <a:rPr lang="ms-MY" spc="0" dirty="0">
                <a:effectLst/>
                <a:latin typeface="Times New Roman" panose="02020603050405020304" pitchFamily="18" charset="0"/>
                <a:ea typeface="Times New Roman" panose="02020603050405020304" pitchFamily="18" charset="0"/>
              </a:rPr>
              <a:t>An</a:t>
            </a:r>
            <a:r>
              <a:rPr lang="ms-MY" spc="10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object</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of</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height</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2.5</a:t>
            </a:r>
            <a:r>
              <a:rPr lang="ms-MY" spc="11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cm</a:t>
            </a:r>
            <a:r>
              <a:rPr lang="ms-MY" spc="12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is</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placed</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15.0</a:t>
            </a:r>
            <a:r>
              <a:rPr lang="ms-MY" spc="11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cm</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from</a:t>
            </a:r>
            <a:r>
              <a:rPr lang="ms-MY" spc="12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a:t>
            </a:r>
            <a:r>
              <a:rPr lang="ms-MY" spc="10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diverging</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lens</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with</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a:t>
            </a:r>
            <a:r>
              <a:rPr lang="ms-MY" spc="110" dirty="0">
                <a:effectLst/>
                <a:latin typeface="Times New Roman" panose="02020603050405020304" pitchFamily="18" charset="0"/>
                <a:ea typeface="Times New Roman" panose="02020603050405020304" pitchFamily="18" charset="0"/>
              </a:rPr>
              <a:t> </a:t>
            </a:r>
            <a:r>
              <a:rPr lang="ms-MY" spc="-10" dirty="0">
                <a:effectLst/>
                <a:latin typeface="Times New Roman" panose="02020603050405020304" pitchFamily="18" charset="0"/>
                <a:ea typeface="Times New Roman" panose="02020603050405020304" pitchFamily="18" charset="0"/>
              </a:rPr>
              <a:t>focal </a:t>
            </a:r>
            <a:r>
              <a:rPr lang="ms-MY" dirty="0">
                <a:effectLst/>
                <a:latin typeface="Times New Roman" panose="02020603050405020304" pitchFamily="18" charset="0"/>
                <a:ea typeface="Times New Roman" panose="02020603050405020304" pitchFamily="18" charset="0"/>
              </a:rPr>
              <a:t>length,</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10.0 cm. Determine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height for</a:t>
            </a:r>
            <a:r>
              <a:rPr lang="ms-MY" spc="-1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 image</a:t>
            </a:r>
            <a:r>
              <a:rPr lang="ms-MY" spc="-5" dirty="0">
                <a:effectLst/>
                <a:latin typeface="Times New Roman" panose="02020603050405020304" pitchFamily="18" charset="0"/>
                <a:ea typeface="Times New Roman" panose="02020603050405020304" pitchFamily="18" charset="0"/>
              </a:rPr>
              <a:t> </a:t>
            </a:r>
            <a:r>
              <a:rPr lang="ms-MY" spc="-10" dirty="0">
                <a:effectLst/>
                <a:latin typeface="Times New Roman" panose="02020603050405020304" pitchFamily="18" charset="0"/>
                <a:ea typeface="Times New Roman" panose="02020603050405020304" pitchFamily="18" charset="0"/>
              </a:rPr>
              <a:t>formed. 			</a:t>
            </a:r>
            <a:r>
              <a:rPr lang="ms-MY" dirty="0">
                <a:effectLst/>
                <a:latin typeface="Times New Roman" panose="02020603050405020304" pitchFamily="18" charset="0"/>
                <a:ea typeface="Times New Roman" panose="02020603050405020304" pitchFamily="18" charset="0"/>
              </a:rPr>
              <a:t>[3 </a:t>
            </a:r>
            <a:r>
              <a:rPr lang="ms-MY" i="1" spc="-10" dirty="0">
                <a:effectLst/>
                <a:latin typeface="Times New Roman" panose="02020603050405020304" pitchFamily="18" charset="0"/>
                <a:ea typeface="Times New Roman" panose="02020603050405020304" pitchFamily="18" charset="0"/>
              </a:rPr>
              <a:t>marks</a:t>
            </a:r>
            <a:r>
              <a:rPr lang="ms-MY"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pic>
        <p:nvPicPr>
          <p:cNvPr id="11" name="Picture 10">
            <a:extLst>
              <a:ext uri="{FF2B5EF4-FFF2-40B4-BE49-F238E27FC236}">
                <a16:creationId xmlns:a16="http://schemas.microsoft.com/office/drawing/2014/main" id="{D06AC5B7-052E-3627-32B8-33965F3A207B}"/>
              </a:ext>
            </a:extLst>
          </p:cNvPr>
          <p:cNvPicPr>
            <a:picLocks noChangeAspect="1"/>
          </p:cNvPicPr>
          <p:nvPr/>
        </p:nvPicPr>
        <p:blipFill>
          <a:blip r:embed="rId3"/>
          <a:stretch>
            <a:fillRect/>
          </a:stretch>
        </p:blipFill>
        <p:spPr>
          <a:xfrm>
            <a:off x="8680224" y="5556744"/>
            <a:ext cx="3086531" cy="657317"/>
          </a:xfrm>
          <a:prstGeom prst="rect">
            <a:avLst/>
          </a:prstGeom>
        </p:spPr>
      </p:pic>
    </p:spTree>
    <p:extLst>
      <p:ext uri="{BB962C8B-B14F-4D97-AF65-F5344CB8AC3E}">
        <p14:creationId xmlns:p14="http://schemas.microsoft.com/office/powerpoint/2010/main" val="3598222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923</Words>
  <Application>Microsoft Office PowerPoint</Application>
  <PresentationFormat>Widescreen</PresentationFormat>
  <Paragraphs>44</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SHAFIQ R</dc:creator>
  <cp:lastModifiedBy>SHAFIQ R</cp:lastModifiedBy>
  <cp:revision>1</cp:revision>
  <dcterms:created xsi:type="dcterms:W3CDTF">2026-04-16T14:52:36Z</dcterms:created>
  <dcterms:modified xsi:type="dcterms:W3CDTF">2026-04-16T14:52:42Z</dcterms:modified>
</cp:coreProperties>
</file>