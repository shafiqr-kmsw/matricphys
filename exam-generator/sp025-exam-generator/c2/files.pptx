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0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30CEF5-4124-458A-8583-FB2A0D68282E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3B765-2686-4739-8603-5834023752E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906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MY" dirty="0"/>
              <a:t>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3B765-2686-4739-8603-5834023752E4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1974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940CB-83AA-FEED-6D38-FC36FE39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1382B3-F7E2-5A8F-E2BE-4719F475E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6721-3C08-F3F7-DCE1-9351FC1C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01A84-4386-F919-3545-F441461C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326D1-54C0-6645-11B9-C995CA547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4071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72CD-2146-A154-CB60-45C2AE3B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4CFBA-CC5B-FD7D-D602-95D158FE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F5399-CF13-1A74-3193-FB091646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F2552-908B-26F0-683B-6CA8592B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2340E-1E35-1792-237B-E1E419D1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5110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9A0E-42E0-28EE-A652-E3B48B04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53DC9-E969-6C3A-A673-075A8607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93A57-068D-0431-657D-841E745B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23DA3-1F90-5953-EE0A-00B4D56FC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073B0-0893-FEEE-5D0A-31C8A8A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941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BFDA9-AFF2-2193-8F0F-FEE06737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D64B-B17A-756A-873D-D580991F2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BDFAC-E7C7-9EA5-1225-34435CB30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67A79-CC94-AA11-7A35-762654D8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652DF-803F-1BCD-40FE-BA513CFD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C13ED-563C-395B-B1D8-92C7A0EE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70031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38F2-59AD-91D5-831E-F539FE69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1DE0C-B675-0DDB-F4A3-1D6950E1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E4A2-6689-557D-7517-4E25FC33A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28DF93-BA40-2821-7EF0-9BD0D0A20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EAE9F4-45C3-8A9B-02B1-644E6979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5D81FC-1D00-EFA1-3DDB-C4634FB38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851B1-80B1-D619-7F06-0F8E89C8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C0266-1D1D-F642-3E67-D9255178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1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7CD1-7190-1DED-9F40-7DCA9C67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54E00-4BD4-2900-B7EC-530770CF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D50B4-6816-6438-6383-1167B81C0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8A394-E2E6-EFB4-BCD3-45EF27F5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426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D5E243-5463-7691-A214-28343B5D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AB2A8-BB1A-B244-E84C-2BD2B469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629AF-CD06-ED3A-7AC2-F26C10D9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02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308A-6A8A-BCCB-F6F9-CB915B900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F399-8DC7-F7B9-9B1C-D6F0C3AE9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A30F3-8CEB-A7F2-82C0-255700ECF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95D97-FFBA-67D7-860A-AAFB9000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18DEB-F09B-799A-4B47-24536127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DC1FC-1BD9-1043-38E7-480220A2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349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92CA-AF88-D64A-2D0A-8B2F9FE5D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9B5D9-87CB-DE19-AC1A-230BF51E6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1227-2884-8153-D35A-B4F45C2B4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531CE-C6E7-A01F-E604-3F4B61872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9F5A-5453-F268-0F10-3FB21E28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2E33-F8D9-37A7-D117-830612FC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942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0ED1-526A-2729-4ACC-A8C245D6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AE80B4-FBD1-4A7B-9CC6-20BF9F741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A7411-E7D8-A6C9-9056-F59B95605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80FC-282A-7E6F-EE62-CBCE4978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7EEB0-DB70-2C66-81A4-A309224AC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176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D3C9F-AF0C-BBE6-0F98-6C25C7C90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6AB9E-C065-27C1-DB2C-ACA843A3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19D27-5EC9-8652-91EB-6A78D89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5C3E-F9BC-9DB4-04C4-1ADC3814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8F4AB-406B-715D-6FCC-D99A2EB4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14362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D0A0E-460E-E9FA-E9E4-87AE7EE35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5FA3C-465B-83E9-D0E7-54669221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CB74-1911-22F8-3203-FBFEBF84F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36931-D21D-4CEE-8596-8652B0B9C773}" type="datetimeFigureOut">
              <a:rPr lang="en-MY" smtClean="0"/>
              <a:t>16/4/2026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6523D-066E-1413-0583-CBB11B742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E1E20-D761-F365-AE58-8616DCE38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A0F0D-ECA7-4992-9E43-97B5575AE35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7415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0741DD-78BE-4633-E2D6-6EDD6DD1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4" t="21276" r="11814" b="35047"/>
          <a:stretch>
            <a:fillRect/>
          </a:stretch>
        </p:blipFill>
        <p:spPr>
          <a:xfrm>
            <a:off x="393097" y="737419"/>
            <a:ext cx="11405807" cy="3288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663031-8CF2-DA6A-99FA-64EDF0D50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2970" y="5477579"/>
            <a:ext cx="2005934" cy="825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474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5ABB2-F144-6A17-A3F1-3C721D26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43DB89-62B6-78E1-6FDF-C4FC981F0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02" y="837257"/>
            <a:ext cx="11159922" cy="28532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FD1269-874D-85EE-51B5-1EAD38E1A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160" y="4430333"/>
            <a:ext cx="3816427" cy="19204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9763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C02B0-642A-CFF8-052D-CD7E45CCF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A8C45-8DDC-55AD-7EC0-CBB91EC3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15" t="21492" r="17016" b="15036"/>
          <a:stretch>
            <a:fillRect/>
          </a:stretch>
        </p:blipFill>
        <p:spPr>
          <a:xfrm>
            <a:off x="285141" y="280217"/>
            <a:ext cx="11157583" cy="6017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F95A85-75EA-ECB9-C2CF-21178B5CD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059" y="5777683"/>
            <a:ext cx="1447800" cy="800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665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FB63BB-3483-D7A5-5325-F8F5DBFE4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155" y="471415"/>
            <a:ext cx="3867690" cy="10383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404303-2F0C-A262-871B-D8D03F4E8910}"/>
              </a:ext>
            </a:extLst>
          </p:cNvPr>
          <p:cNvSpPr txBox="1"/>
          <p:nvPr/>
        </p:nvSpPr>
        <p:spPr>
          <a:xfrm>
            <a:off x="1126570" y="2015840"/>
            <a:ext cx="103274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FIGURE 2 shows three capacitors C₁, C₂, and C₃, each 12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connected between points A and B.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Calculate the effective capacitance.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If the potential difference across AB is 9 V, calculate: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charge on C₂ 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total energy stored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 marks]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852D9-78EB-EE4F-2693-B886A9B81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14" y="5880883"/>
            <a:ext cx="4915586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014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FA5BC-B3B1-66F2-5E2E-2A4D3777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251881-0673-F343-7F01-A1C14926C790}"/>
              </a:ext>
            </a:extLst>
          </p:cNvPr>
          <p:cNvSpPr txBox="1"/>
          <p:nvPr/>
        </p:nvSpPr>
        <p:spPr>
          <a:xfrm>
            <a:off x="819150" y="597809"/>
            <a:ext cx="105537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20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capacitor has a charge of 240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connected to a 50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resistor. Calculate the: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 constant.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initial current.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iii) charge stored in the capacitor after 5 s.</a:t>
            </a:r>
            <a:endParaRPr lang="en-MY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D106A-E250-B11D-0AFC-626582FA74CF}"/>
              </a:ext>
            </a:extLst>
          </p:cNvPr>
          <p:cNvSpPr txBox="1"/>
          <p:nvPr/>
        </p:nvSpPr>
        <p:spPr>
          <a:xfrm>
            <a:off x="819149" y="2690336"/>
            <a:ext cx="10553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parallel plate capacitor has plates of area 6 m² separated by a piece of paper. The dielectric constant and thickness of the paper are 3.7 and 1 mm respectively. Calculate the capacitance of the capacitor.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 marks]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ED838E-E55C-3A96-AD3D-F9F4F46B7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7782" y="5812453"/>
            <a:ext cx="5144218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4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67A598-CB6D-361A-69DA-0552F8D16042}"/>
              </a:ext>
            </a:extLst>
          </p:cNvPr>
          <p:cNvSpPr txBox="1"/>
          <p:nvPr/>
        </p:nvSpPr>
        <p:spPr>
          <a:xfrm>
            <a:off x="4084320" y="332939"/>
            <a:ext cx="8855920" cy="64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0595" marR="631190">
              <a:lnSpc>
                <a:spcPct val="101000"/>
              </a:lnSpc>
              <a:spcBef>
                <a:spcPts val="380"/>
              </a:spcBef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a). FIGURE 2a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an arrangement of three capacitors, C₁, C₂ and C₃. Calculate: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446E1-9C19-47BE-8EDB-88CB0637B87B}"/>
              </a:ext>
            </a:extLst>
          </p:cNvPr>
          <p:cNvSpPr txBox="1"/>
          <p:nvPr/>
        </p:nvSpPr>
        <p:spPr>
          <a:xfrm>
            <a:off x="5090160" y="1123428"/>
            <a:ext cx="68442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AutoNum type="romanLcParenR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 of these capacitors.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  potential difference across capacitor C₂.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 marks]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DA4F1-E653-BC77-6A0B-99B904724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08" y="269988"/>
            <a:ext cx="4511816" cy="1706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4288EB-43DB-AECC-D3A4-FD885D203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03" y="2582631"/>
            <a:ext cx="3195217" cy="20749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A1C7E8-B6EA-0010-1453-1D93A9C63560}"/>
              </a:ext>
            </a:extLst>
          </p:cNvPr>
          <p:cNvSpPr txBox="1"/>
          <p:nvPr/>
        </p:nvSpPr>
        <p:spPr>
          <a:xfrm>
            <a:off x="5090160" y="2767322"/>
            <a:ext cx="68442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b) FIGURE 2b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a charging capacitor circuit where a capacitor charges through a resistor when the switch is closed. If the capacitance and resistance is 0.2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15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respectively, calculate the time taken for the charge to reach 60% of its maximum value.</a:t>
            </a:r>
          </a:p>
          <a:p>
            <a:pPr algn="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marks]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C7BCE-0486-CDDE-396D-1DF480CEA454}"/>
              </a:ext>
            </a:extLst>
          </p:cNvPr>
          <p:cNvSpPr txBox="1"/>
          <p:nvPr/>
        </p:nvSpPr>
        <p:spPr>
          <a:xfrm>
            <a:off x="1458097" y="2224216"/>
            <a:ext cx="239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2a</a:t>
            </a:r>
            <a:endParaRPr lang="en-M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4C90B-99AE-8A84-8B1D-1D920AA7E1E8}"/>
              </a:ext>
            </a:extLst>
          </p:cNvPr>
          <p:cNvSpPr txBox="1"/>
          <p:nvPr/>
        </p:nvSpPr>
        <p:spPr>
          <a:xfrm>
            <a:off x="1288105" y="4831362"/>
            <a:ext cx="239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2b</a:t>
            </a:r>
            <a:endParaRPr lang="en-MY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F2F7-DDED-47FF-A8B4-884E1C56E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498" y="3076526"/>
            <a:ext cx="3077004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909E4A-8FB0-8FE8-9EAA-20A47AB66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96" y="6033086"/>
            <a:ext cx="3077004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35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F03D6E-18CE-281E-AC48-456016C66453}"/>
              </a:ext>
            </a:extLst>
          </p:cNvPr>
          <p:cNvSpPr txBox="1"/>
          <p:nvPr/>
        </p:nvSpPr>
        <p:spPr>
          <a:xfrm>
            <a:off x="4395018" y="449520"/>
            <a:ext cx="6268065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03935">
              <a:spcBef>
                <a:spcPts val="160"/>
              </a:spcBef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(a) FIGURE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2.1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shows a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configuration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identical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capacitors</a:t>
            </a:r>
            <a:r>
              <a:rPr lang="en-US" spc="3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pc="75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connected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difference,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.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capacitance of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50 𝜇F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Calculate the charge on capacitor </a:t>
            </a:r>
            <a:r>
              <a:rPr lang="en-US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𝐶</a:t>
            </a:r>
            <a:r>
              <a:rPr lang="en-US" baseline="-250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4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2700" algn="r">
              <a:spcBef>
                <a:spcPts val="10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960FB-79F3-38E3-EEA9-58855874D5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10" y="136422"/>
            <a:ext cx="4931251" cy="23966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FB871B-F59E-00D1-F246-5B0AE81473F2}"/>
              </a:ext>
            </a:extLst>
          </p:cNvPr>
          <p:cNvSpPr txBox="1"/>
          <p:nvPr/>
        </p:nvSpPr>
        <p:spPr>
          <a:xfrm>
            <a:off x="5299961" y="2586002"/>
            <a:ext cx="57998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 FIGURE 2.2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shows an RC circuit where the battery is fully charged the capacitor. At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 0 s, switch S is thrown from position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The battery voltage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20.0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resistance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resistor,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i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60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60 </a:t>
            </a:r>
            <a:r>
              <a:rPr lang="en-US" dirty="0" err="1">
                <a:effectLst/>
                <a:latin typeface="Symbol" panose="05050102010706020507" pitchFamily="18" charset="2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</a:t>
            </a:r>
            <a:endParaRPr lang="en-MY" dirty="0"/>
          </a:p>
        </p:txBody>
      </p:sp>
      <p:pic>
        <p:nvPicPr>
          <p:cNvPr id="9" name="Image 138">
            <a:extLst>
              <a:ext uri="{FF2B5EF4-FFF2-40B4-BE49-F238E27FC236}">
                <a16:creationId xmlns:a16="http://schemas.microsoft.com/office/drawing/2014/main" id="{B8915721-8C2A-CF78-66C2-EF2A7D5F89F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4133" y="3181844"/>
            <a:ext cx="4503174" cy="22862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4C5F7A-986C-EA80-0A4C-C955A3BB39B7}"/>
              </a:ext>
            </a:extLst>
          </p:cNvPr>
          <p:cNvSpPr txBox="1"/>
          <p:nvPr/>
        </p:nvSpPr>
        <p:spPr>
          <a:xfrm>
            <a:off x="5299961" y="3839298"/>
            <a:ext cx="6098458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2700">
              <a:spcBef>
                <a:spcPts val="100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Determine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375"/>
              </a:lnSpc>
              <a:buSzPts val="1200"/>
              <a:buFont typeface="Times New Roman" panose="02020603050405020304" pitchFamily="18" charset="0"/>
              <a:buAutoNum type="romanLcParenBoth"/>
              <a:tabLst>
                <a:tab pos="145859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95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45859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 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charge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 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 at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 =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</a:t>
            </a:r>
            <a:r>
              <a:rPr lang="en-US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685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458595" algn="l"/>
              </a:tabLst>
            </a:pP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value of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charge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i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 </a:t>
            </a:r>
            <a:r>
              <a:rPr lang="en-US" spc="-25" dirty="0" err="1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m</a:t>
            </a:r>
            <a:r>
              <a:rPr lang="en-US" spc="-2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12700" algn="r"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en-MY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49F183-C7F7-BA21-0A76-18060E46C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267" y="5468087"/>
            <a:ext cx="3019846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9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944466-7474-A80E-DFD0-5903CD65ECDC}"/>
              </a:ext>
            </a:extLst>
          </p:cNvPr>
          <p:cNvSpPr txBox="1"/>
          <p:nvPr/>
        </p:nvSpPr>
        <p:spPr>
          <a:xfrm>
            <a:off x="682387" y="455010"/>
            <a:ext cx="106043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2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(a) A parallel plate air-filled capacitor whose capacitance, C is 250 x 10</a:t>
            </a:r>
            <a:r>
              <a:rPr lang="en-MY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-12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F is charged by a battery to a potential difference of 12 V between the two plates. Then the fully charged capacitor is disconnected and a porcelain slab with dielectric constant 3.2 is inserted between the plates. Calculate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capacitance of the capacitor after the slab is inserted.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the energy stored in the capacitor after the slab is inserted. 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>
              <a:buFont typeface="+mj-lt"/>
              <a:buAutoNum type="romanLcPeriod"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Calculate the new potential difference if after the dielectric is inserted between the plates 												[5 marks] </a:t>
            </a: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06126-206C-72A5-D035-ED55932E4289}"/>
              </a:ext>
            </a:extLst>
          </p:cNvPr>
          <p:cNvSpPr txBox="1"/>
          <p:nvPr/>
        </p:nvSpPr>
        <p:spPr>
          <a:xfrm>
            <a:off x="682386" y="2536448"/>
            <a:ext cx="103859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(b) A </a:t>
            </a:r>
            <a:r>
              <a:rPr lang="en-MY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12 V battery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is connected to a 4 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μF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capacitor and a 20 Ω resistor. Calculate the charge in the capacitor at        time t = 90 </a:t>
            </a:r>
            <a:r>
              <a:rPr lang="en-MY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μs</a:t>
            </a:r>
            <a: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. 									[2 marks]</a:t>
            </a:r>
            <a:br>
              <a:rPr lang="en-MY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</a:br>
            <a:endParaRPr lang="en-MY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5C23E5-7534-29C6-4A0E-23AEC4BAE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447" y="5431619"/>
            <a:ext cx="2705478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44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480DB-88A4-06F0-FB34-DDE703E1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1" y="316614"/>
            <a:ext cx="4467849" cy="2419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67A598-CB6D-361A-69DA-0552F8D16042}"/>
              </a:ext>
            </a:extLst>
          </p:cNvPr>
          <p:cNvSpPr txBox="1"/>
          <p:nvPr/>
        </p:nvSpPr>
        <p:spPr>
          <a:xfrm>
            <a:off x="3565423" y="330874"/>
            <a:ext cx="8041558" cy="915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0595" marR="631190">
              <a:lnSpc>
                <a:spcPct val="101000"/>
              </a:lnSpc>
              <a:spcBef>
                <a:spcPts val="380"/>
              </a:spcBef>
              <a:buNone/>
            </a:pPr>
            <a:r>
              <a:rPr lang="ms-MY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2(a) FIGURE</a:t>
            </a:r>
            <a:r>
              <a:rPr lang="ms-MY" sz="18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ms-MY" sz="18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shows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variation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charge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during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discharging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 of a capacitor through a resistor of 10 MΩ. Calculate the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B446E1-9C19-47BE-8EDB-88CB0637B87B}"/>
              </a:ext>
            </a:extLst>
          </p:cNvPr>
          <p:cNvSpPr txBox="1"/>
          <p:nvPr/>
        </p:nvSpPr>
        <p:spPr>
          <a:xfrm>
            <a:off x="4052118" y="1268226"/>
            <a:ext cx="7908824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550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31635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 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constant.				</a:t>
            </a:r>
            <a:r>
              <a:rPr lang="ms-MY" dirty="0"/>
              <a:t>[3 </a:t>
            </a:r>
            <a:r>
              <a:rPr lang="ms-MY" i="1" dirty="0"/>
              <a:t>marks</a:t>
            </a:r>
            <a:r>
              <a:rPr lang="ms-MY" dirty="0"/>
              <a:t>]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>
              <a:spcBef>
                <a:spcPts val="600"/>
              </a:spcBef>
              <a:buSzPts val="1200"/>
              <a:buFont typeface="Times New Roman" panose="02020603050405020304" pitchFamily="18" charset="0"/>
              <a:buAutoNum type="romanLcParenBoth"/>
              <a:tabLst>
                <a:tab pos="1316355" algn="l"/>
              </a:tabLst>
            </a:pP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ms-MY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capacitor.			</a:t>
            </a:r>
            <a:r>
              <a:rPr lang="ms-MY" dirty="0"/>
              <a:t>[2 </a:t>
            </a:r>
            <a:r>
              <a:rPr lang="ms-MY" i="1" dirty="0"/>
              <a:t>marks</a:t>
            </a:r>
            <a:r>
              <a:rPr lang="ms-MY" dirty="0"/>
              <a:t>]</a:t>
            </a:r>
            <a:endParaRPr lang="en-MY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CBA0F9-AF34-CAFB-4D86-D99F8C53105D}"/>
              </a:ext>
            </a:extLst>
          </p:cNvPr>
          <p:cNvSpPr txBox="1"/>
          <p:nvPr/>
        </p:nvSpPr>
        <p:spPr>
          <a:xfrm>
            <a:off x="3550673" y="2551837"/>
            <a:ext cx="8911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0595" marR="631190" indent="-300355">
              <a:spcBef>
                <a:spcPts val="1040"/>
              </a:spcBef>
              <a:buNone/>
              <a:tabLst>
                <a:tab pos="950595" algn="l"/>
              </a:tabLst>
            </a:pPr>
            <a:r>
              <a:rPr lang="ms-MY" sz="16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</a:t>
            </a:r>
            <a:r>
              <a:rPr lang="ms-MY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air-filled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parallel</a:t>
            </a:r>
            <a:r>
              <a:rPr lang="ms-MY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plate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capacitor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has</a:t>
            </a:r>
            <a:r>
              <a:rPr lang="ms-MY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capacitance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5.5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μF.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</a:t>
            </a:r>
            <a:r>
              <a:rPr lang="ms-MY" sz="1800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capacitance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</a:t>
            </a:r>
            <a:r>
              <a:rPr lang="ms-MY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dielectric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material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dielectric</a:t>
            </a:r>
            <a:r>
              <a:rPr lang="ms-MY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ms-MY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inserted</a:t>
            </a:r>
            <a:r>
              <a:rPr lang="ms-MY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between </a:t>
            </a:r>
            <a:r>
              <a:rPr lang="ms-M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ms-MY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plates.					</a:t>
            </a:r>
            <a:r>
              <a:rPr lang="ms-MY" dirty="0"/>
              <a:t> [2 </a:t>
            </a:r>
            <a:r>
              <a:rPr lang="ms-MY" i="1" dirty="0"/>
              <a:t>marks</a:t>
            </a:r>
            <a:r>
              <a:rPr lang="ms-MY" dirty="0"/>
              <a:t>]</a:t>
            </a:r>
            <a:endParaRPr lang="en-MY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5D8C94-94CF-19EB-E7B3-DAC3970E1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101" y="5589774"/>
            <a:ext cx="3038899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40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664</Words>
  <Application>Microsoft Office PowerPoint</Application>
  <PresentationFormat>Widescreen</PresentationFormat>
  <Paragraphs>43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Shafiq</dc:creator>
  <cp:lastModifiedBy>SHAFIQ R</cp:lastModifiedBy>
  <cp:revision>2</cp:revision>
  <dcterms:created xsi:type="dcterms:W3CDTF">2026-03-16T04:40:40Z</dcterms:created>
  <dcterms:modified xsi:type="dcterms:W3CDTF">2026-04-16T15:02:35Z</dcterms:modified>
</cp:coreProperties>
</file>