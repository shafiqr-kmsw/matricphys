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8445-1434-A6C5-DD3D-393248473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4B00D-312B-B559-3C5E-31DB4BE9C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CA29B-829D-7A3E-2072-AB92EB0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4FCE3-8BD4-1305-E035-7B9237F58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526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9CA240-E03C-3319-1734-A815F5CF09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8" t="26010" r="20282" b="9012"/>
          <a:stretch>
            <a:fillRect/>
          </a:stretch>
        </p:blipFill>
        <p:spPr>
          <a:xfrm>
            <a:off x="147483" y="523568"/>
            <a:ext cx="9736085" cy="5810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B5427F-B6BC-A7ED-24A9-C81D98E2F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661" y="4673600"/>
            <a:ext cx="2136321" cy="1850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D75E78A-4D18-6A7C-60AD-BCB3C5A9DBDB}"/>
              </a:ext>
            </a:extLst>
          </p:cNvPr>
          <p:cNvGrpSpPr>
            <a:grpSpLocks noChangeAspect="1"/>
          </p:cNvGrpSpPr>
          <p:nvPr/>
        </p:nvGrpSpPr>
        <p:grpSpPr>
          <a:xfrm>
            <a:off x="406399" y="464457"/>
            <a:ext cx="11385499" cy="4688114"/>
            <a:chOff x="1611086" y="1117600"/>
            <a:chExt cx="8969828" cy="369343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E84584A-D713-C2A0-81FC-7E2AF2D12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214" t="16280" r="13214" b="36501"/>
            <a:stretch>
              <a:fillRect/>
            </a:stretch>
          </p:blipFill>
          <p:spPr>
            <a:xfrm>
              <a:off x="1611086" y="1117600"/>
              <a:ext cx="8969828" cy="323668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700A390-C03D-546E-2100-F6B1FAE62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rcRect l="13214" t="71968" r="13214" b="21792"/>
            <a:stretch>
              <a:fillRect/>
            </a:stretch>
          </p:blipFill>
          <p:spPr>
            <a:xfrm>
              <a:off x="1611086" y="4383315"/>
              <a:ext cx="8969828" cy="427718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71904-585E-672C-D216-C2BF7E87A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971" y="5423817"/>
            <a:ext cx="2670629" cy="12722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8168-E4E2-C7C6-44AF-21E379AF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DD61F2B-7BD9-2CEE-C718-3C6C8A74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620" y="5080000"/>
            <a:ext cx="1208580" cy="153919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7B701E-40C7-CC87-E94C-E8BB241A8627}"/>
                  </a:ext>
                </a:extLst>
              </p:cNvPr>
              <p:cNvSpPr txBox="1"/>
              <p:nvPr/>
            </p:nvSpPr>
            <p:spPr>
              <a:xfrm>
                <a:off x="449941" y="428178"/>
                <a:ext cx="6096000" cy="6001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 (a) A 6.0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resistor is placed across the terminal of a 12.0 V battery. Calculate the</a:t>
                </a:r>
              </a:p>
              <a:p>
                <a:pPr marL="270510"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MY" sz="1800" kern="100" dirty="0" err="1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Current flows through the resistor.</a:t>
                </a:r>
              </a:p>
              <a:p>
                <a:pPr marL="270510"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(ii) Magnitude of charge passing through the resistor in 2 minutes.</a:t>
                </a:r>
              </a:p>
              <a:p>
                <a:pPr marL="270510" algn="just">
                  <a:spcAft>
                    <a:spcPts val="800"/>
                  </a:spcAft>
                  <a:buNone/>
                </a:pPr>
                <a:endParaRPr lang="en-MY" sz="1800" kern="100" dirty="0">
                  <a:effectLst/>
                  <a:latin typeface="Liberation Serif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(b) Two wires are identical in length and resistance. The first wire is made of aluminium, but the second wire is made of copper. Calculate the ratio of cross-sectional area of copper wire to that of aluminium wire. Given that the resistivity of copper is </a:t>
                </a:r>
                <a14:m>
                  <m:oMath xmlns:m="http://schemas.openxmlformats.org/officeDocument/2006/math">
                    <m:r>
                      <a:rPr lang="en-MY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1.72</m:t>
                    </m:r>
                    <m: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  <m:r>
                      <a:rPr lang="en-MY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 </m:t>
                    </m:r>
                    <m:r>
                      <m:rPr>
                        <m:sty m:val="p"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resistivity of aluminium is </a:t>
                </a:r>
                <a14:m>
                  <m:oMath xmlns:m="http://schemas.openxmlformats.org/officeDocument/2006/math">
                    <m:r>
                      <a:rPr lang="en-MY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2.83</m:t>
                    </m:r>
                    <m: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−8</m:t>
                        </m:r>
                      </m:sup>
                    </m:sSup>
                    <m:r>
                      <a:rPr lang="en-MY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 </m:t>
                    </m:r>
                    <m:r>
                      <m:rPr>
                        <m:sty m:val="p"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Aft>
                    <a:spcPts val="800"/>
                  </a:spcAft>
                  <a:buNone/>
                </a:pPr>
                <a:endParaRPr lang="en-MY" sz="1800" kern="100" dirty="0">
                  <a:effectLst/>
                  <a:latin typeface="Liberation Serif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(c) FIGURE 4 shows a circuit consists of resistors connected to a 12 V battery. Calculate the</a:t>
                </a:r>
              </a:p>
              <a:p>
                <a:pPr marL="270510"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MY" sz="1800" kern="100" dirty="0" err="1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Effective resistance of the circuit.</a:t>
                </a:r>
              </a:p>
              <a:p>
                <a:pPr marL="270510"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(ii) Power dissipated by 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1800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resistor.</a:t>
                </a:r>
              </a:p>
              <a:p>
                <a:pPr algn="just">
                  <a:spcAft>
                    <a:spcPts val="800"/>
                  </a:spcAft>
                  <a:buNone/>
                </a:pPr>
                <a:r>
                  <a:rPr lang="en-MY" sz="1800" kern="100" dirty="0">
                    <a:effectLst/>
                    <a:latin typeface="Liberation Serif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(d) For the circuit in FIGURE 5, calculate the magnitude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18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ε</m:t>
                        </m:r>
                      </m:e>
                      <m:sub>
                        <m:r>
                          <a:rPr lang="en-MY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MY" sz="1800" kern="100" dirty="0">
                  <a:effectLst/>
                  <a:latin typeface="Liberation Serif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7B701E-40C7-CC87-E94C-E8BB241A8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41" y="428178"/>
                <a:ext cx="6096000" cy="6001643"/>
              </a:xfrm>
              <a:prstGeom prst="rect">
                <a:avLst/>
              </a:prstGeom>
              <a:blipFill>
                <a:blip r:embed="rId4"/>
                <a:stretch>
                  <a:fillRect l="-900" t="-508" r="-800" b="-60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D460E97-6152-6414-93A7-C04E5E468C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495" t="21429" r="17318" b="28518"/>
          <a:stretch>
            <a:fillRect/>
          </a:stretch>
        </p:blipFill>
        <p:spPr>
          <a:xfrm rot="5400000">
            <a:off x="8127066" y="-195688"/>
            <a:ext cx="3180498" cy="4049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458A6-2EBA-9C90-5BF2-BB15A800C7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301" t="27503" r="24762" b="22889"/>
          <a:stretch>
            <a:fillRect/>
          </a:stretch>
        </p:blipFill>
        <p:spPr>
          <a:xfrm>
            <a:off x="6805252" y="3958431"/>
            <a:ext cx="3614057" cy="22431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79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167</Words>
  <Application>Microsoft Office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Liberation Serif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3</cp:revision>
  <dcterms:created xsi:type="dcterms:W3CDTF">2026-03-16T04:40:40Z</dcterms:created>
  <dcterms:modified xsi:type="dcterms:W3CDTF">2026-03-16T05:05:39Z</dcterms:modified>
</cp:coreProperties>
</file>