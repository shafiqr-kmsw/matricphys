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8" r:id="rId2"/>
    <p:sldId id="259" r:id="rId3"/>
    <p:sldId id="260" r:id="rId4"/>
    <p:sldId id="264" r:id="rId5"/>
    <p:sldId id="265" r:id="rId6"/>
    <p:sldId id="271" r:id="rId7"/>
    <p:sldId id="272" r:id="rId8"/>
    <p:sldId id="273" r:id="rId9"/>
    <p:sldId id="27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87" autoAdjust="0"/>
    <p:restoredTop sz="94660"/>
  </p:normalViewPr>
  <p:slideViewPr>
    <p:cSldViewPr snapToGrid="0">
      <p:cViewPr varScale="1">
        <p:scale>
          <a:sx n="35" d="100"/>
          <a:sy n="35" d="100"/>
        </p:scale>
        <p:origin x="10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0CEF5-4124-458A-8583-FB2A0D68282E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3B765-2686-4739-8603-5834023752E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89067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09DFA-F781-71DC-9D3A-ECC464C66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79AD58-081B-C7CD-9101-33B3A98B9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B56AC6-6E78-3A66-B47E-E960E449DB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dirty="0"/>
              <a:t>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F68E9-4CFC-EA7F-61B8-D93F53CEC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06574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3EC12-14DF-95EB-1DBD-D5D11912F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693B8-7684-63D3-D681-B8E7C852A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7DD65105-DFE3-DD09-9426-6A2F0401A77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0.6</m:t>
                      </m:r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en-MY" b="0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7DD65105-DFE3-DD09-9426-6A2F0401A77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MY" b="0" i="0">
                    <a:latin typeface="Cambria Math" panose="02040503050406030204" pitchFamily="18" charset="0"/>
                  </a:rPr>
                  <a:t>0.6𝜇𝐽</a:t>
                </a:r>
                <a:endParaRPr lang="en-MY" b="0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DD768-5EDD-7E64-79B3-53BF710AF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236995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AF8BE-2529-BBB6-C00B-E9DFC3CE5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1D2B0F-AC4A-AF6A-0C58-D1C46DA26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FE1BE40-AFFF-0EFD-588A-3F3ED15933B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0.6</m:t>
                      </m:r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en-MY" b="0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FE1BE40-AFFF-0EFD-588A-3F3ED15933B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MY" b="0" i="0">
                    <a:latin typeface="Cambria Math" panose="02040503050406030204" pitchFamily="18" charset="0"/>
                  </a:rPr>
                  <a:t>0.6𝜇𝐽</a:t>
                </a:r>
                <a:endParaRPr lang="en-MY" b="0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9005E-87C8-7A74-E933-A9F0DBA992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41196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940CB-83AA-FEED-6D38-FC36FE3944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1382B3-F7E2-5A8F-E2BE-4719F475E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D6721-3C08-F3F7-DCE1-9351FC1CD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01A84-4386-F919-3545-F441461C7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326D1-54C0-6645-11B9-C995CA547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04071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672CD-2146-A154-CB60-45C2AE3B0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4CFBA-CC5B-FD7D-D602-95D158FE0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F5399-CF13-1A74-3193-FB091646A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F2552-908B-26F0-683B-6CA8592B3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2340E-1E35-1792-237B-E1E419D1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35110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39A0E-42E0-28EE-A652-E3B48B044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53DC9-E969-6C3A-A673-075A8607C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593A57-068D-0431-657D-841E745BC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3DA3-1F90-5953-EE0A-00B4D56FC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073B0-0893-FEEE-5D0A-31C8A8AF5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4185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BFDA9-AFF2-2193-8F0F-FEE067377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2D64B-B17A-756A-873D-D580991F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9BDFAC-E7C7-9EA5-1225-34435CB30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C67A79-CC94-AA11-7A35-762654D8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3652DF-803F-1BCD-40FE-BA513CFD7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8C13ED-563C-395B-B1D8-92C7A0EED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70031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38F2-59AD-91D5-831E-F539FE69A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81DE0C-B675-0DDB-F4A3-1D6950E1B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4E4A2-6689-557D-7517-4E25FC33AB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28DF93-BA40-2821-7EF0-9BD0D0A2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EAE9F4-45C3-8A9B-02B1-644E6979C8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5D81FC-1D00-EFA1-3DDB-C4634FB38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1851B1-80B1-D619-7F06-0F8E89C8A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4C0266-1D1D-F642-3E67-D9255178A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18140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57CD1-7190-1DED-9F40-7DCA9C672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854E00-4BD4-2900-B7EC-530770CF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4D50B4-6816-6438-6383-1167B81C0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08A394-E2E6-EFB4-BCD3-45EF27F52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24269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D5E243-5463-7691-A214-28343B5DB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5AB2A8-BB1A-B244-E84C-2BD2B469C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629AF-CD06-ED3A-7AC2-F26C10D9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0022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B308A-6A8A-BCCB-F6F9-CB915B900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6F399-8DC7-F7B9-9B1C-D6F0C3AE9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3A30F3-8CEB-A7F2-82C0-255700ECF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95D97-FFBA-67D7-860A-AAFB90009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318DEB-F09B-799A-4B47-245361271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DC1FC-1BD9-1043-38E7-480220A24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53493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292CA-AF88-D64A-2D0A-8B2F9FE5D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39B5D9-87CB-DE19-AC1A-230BF51E6D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C1227-2884-8153-D35A-B4F45C2B4A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4531CE-C6E7-A01F-E604-3F4B61872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099F5A-5453-F268-0F10-3FB21E28C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C12E33-F8D9-37A7-D117-830612FC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29421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80ED1-526A-2729-4ACC-A8C245D67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AE80B4-FBD1-4A7B-9CC6-20BF9F741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A7411-E7D8-A6C9-9056-F59B95605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A80FC-282A-7E6F-EE62-CBCE49782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7EEB0-DB70-2C66-81A4-A309224AC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1769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BD3C9F-AF0C-BBE6-0F98-6C25C7C901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26AB9E-C065-27C1-DB2C-ACA843A38E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9D27-5EC9-8652-91EB-6A78D89E6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45C3E-F9BC-9DB4-04C4-1ADC3814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88F4AB-406B-715D-6FCC-D99A2EB4A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14362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FD0A0E-460E-E9FA-E9E4-87AE7EE35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5FA3C-465B-83E9-D0E7-54669221B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DCB74-1911-22F8-3203-FBFEBF84F8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736931-D21D-4CEE-8596-8652B0B9C773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6523D-066E-1413-0583-CBB11B742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E1E20-D761-F365-AE58-8616DCE384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7415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9E101-8B62-ECAE-2C79-C28FEC5E5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CEE763-2408-ABB4-6E77-1C46EE15E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2" y="842194"/>
            <a:ext cx="11382375" cy="20764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5FA42B-2A54-2F17-B033-CBADE70F53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897" y="5639568"/>
            <a:ext cx="2338387" cy="7524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72192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3604-BE57-F536-D9AB-F9C47FE87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396E6FF-9C48-43D3-4965-C21B6C6F1A24}"/>
                  </a:ext>
                </a:extLst>
              </p:cNvPr>
              <p:cNvSpPr txBox="1"/>
              <p:nvPr/>
            </p:nvSpPr>
            <p:spPr>
              <a:xfrm>
                <a:off x="910712" y="811528"/>
                <a:ext cx="10327559" cy="34386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MY" sz="3600" dirty="0"/>
                  <a:t>8 (a) The binding energy per nucleon iron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MY" sz="3600" b="0" i="1" smtClean="0">
                            <a:latin typeface="Cambria Math" panose="02040503050406030204" pitchFamily="18" charset="0"/>
                          </a:rPr>
                        </m:ctrlPr>
                      </m:sPrePr>
                      <m:sub>
                        <m:r>
                          <a:rPr lang="en-MY" sz="3600" b="0" i="1" smtClean="0">
                            <a:latin typeface="Cambria Math" panose="02040503050406030204" pitchFamily="18" charset="0"/>
                          </a:rPr>
                          <m:t>26</m:t>
                        </m:r>
                      </m:sub>
                      <m:sup>
                        <m:r>
                          <a:rPr lang="en-MY" sz="3600" b="0" i="1" smtClean="0">
                            <a:latin typeface="Cambria Math" panose="02040503050406030204" pitchFamily="18" charset="0"/>
                          </a:rPr>
                          <m:t>56</m:t>
                        </m:r>
                      </m:sup>
                      <m:e>
                        <m:r>
                          <a:rPr lang="en-MY" sz="3600" b="0" i="1" smtClean="0">
                            <a:latin typeface="Cambria Math" panose="02040503050406030204" pitchFamily="18" charset="0"/>
                          </a:rPr>
                          <m:t>𝐹𝑒</m:t>
                        </m:r>
                      </m:e>
                    </m:sPre>
                  </m:oMath>
                </a14:m>
                <a:r>
                  <a:rPr lang="en-MY" sz="3600" dirty="0"/>
                  <a:t> is 8.46 MeV per nucleon. Calculate the nuclide mass for iron.</a:t>
                </a:r>
              </a:p>
              <a:p>
                <a:r>
                  <a:rPr lang="en-MY" sz="3600" dirty="0"/>
                  <a:t>[3 marks]</a:t>
                </a:r>
              </a:p>
              <a:p>
                <a:r>
                  <a:rPr lang="en-MY" sz="3600" dirty="0"/>
                  <a:t>(b) The half life of tritium is 12.33 years. If the initial activity of a tritium sample is 1.48 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MY" sz="36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MY" sz="360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MY" sz="360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MY" sz="3600" dirty="0"/>
                  <a:t> Bq calculate the number of nuclei after 10 years. [4 marks]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396E6FF-9C48-43D3-4965-C21B6C6F1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712" y="811528"/>
                <a:ext cx="10327559" cy="3438634"/>
              </a:xfrm>
              <a:prstGeom prst="rect">
                <a:avLst/>
              </a:prstGeom>
              <a:blipFill>
                <a:blip r:embed="rId3"/>
                <a:stretch>
                  <a:fillRect l="-1770" t="-1950" r="-1062" b="-5851"/>
                </a:stretch>
              </a:blipFill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9A31D0B-E9AD-E477-2140-B080E4F90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367" y="5583114"/>
            <a:ext cx="3170903" cy="8232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99225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68B1-3EA9-889A-58E0-B1368A768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D485C3-3562-B75D-FA43-CF2966F6B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62" y="816077"/>
            <a:ext cx="11420475" cy="1981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5B6746-9028-AFA0-DE7C-303BBC1287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8309" y="5382637"/>
            <a:ext cx="3207927" cy="11767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14564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9DA1-22BA-058C-D422-F0D09CDE1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2C7331-4758-F743-79D6-A9A74BB770AB}"/>
              </a:ext>
            </a:extLst>
          </p:cNvPr>
          <p:cNvSpPr txBox="1"/>
          <p:nvPr/>
        </p:nvSpPr>
        <p:spPr>
          <a:xfrm>
            <a:off x="849086" y="637792"/>
            <a:ext cx="10972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9. a) The nuclear mass of Radon, ²²⁶₈₈Rn is 226.02544 u. Determine the mass defect in atomic mass units (u) and kilograms for Radon.</a:t>
            </a:r>
          </a:p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 marks]</a:t>
            </a:r>
            <a:endParaRPr lang="en-MY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05AB1B-D9EE-A70D-09BF-80C1689CB0BE}"/>
              </a:ext>
            </a:extLst>
          </p:cNvPr>
          <p:cNvSpPr txBox="1"/>
          <p:nvPr/>
        </p:nvSpPr>
        <p:spPr>
          <a:xfrm>
            <a:off x="849086" y="2094637"/>
            <a:ext cx="10972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 A sample of uranium-238 contains 2.5 × 10²³ atoms. Given that the half-life of uranium-238 is 1.42 × 10¹⁷ s, calculate:</a:t>
            </a:r>
          </a:p>
          <a:p>
            <a:pPr marL="400050" indent="-400050">
              <a:buAutoNum type="roman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initial activity of the sample in Becquerel. </a:t>
            </a:r>
          </a:p>
          <a:p>
            <a:pPr marL="400050" indent="-400050">
              <a:buAutoNum type="roman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number of uranium-238 atoms remaining after 3 × 10¹⁸ s.</a:t>
            </a:r>
          </a:p>
          <a:p>
            <a:pPr algn="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 marks]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CEECA-C0F3-5744-C08A-041901759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969" y="5853444"/>
            <a:ext cx="4839375" cy="73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412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80A6F-2486-61B2-9031-8D4F6934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9CB63D-8299-565F-535A-91F5E2CB979B}"/>
                  </a:ext>
                </a:extLst>
              </p:cNvPr>
              <p:cNvSpPr txBox="1"/>
              <p:nvPr/>
            </p:nvSpPr>
            <p:spPr>
              <a:xfrm>
                <a:off x="963827" y="1013254"/>
                <a:ext cx="10478530" cy="9301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9. 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  <m:sPre>
                      <m:sPrePr>
                        <m:ctrlPr>
                          <a:rPr lang="en-MY" i="1" smtClean="0">
                            <a:latin typeface="Cambria Math" panose="02040503050406030204" pitchFamily="18" charset="0"/>
                          </a:rPr>
                        </m:ctrlPr>
                      </m:sPre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234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𝑇h</m:t>
                        </m:r>
                      </m:e>
                    </m:sPre>
                  </m:oMath>
                </a14:m>
                <a:r>
                  <a:rPr lang="en-MY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element decays by emitting beta particle negative producing a new element K. Write an equation for this reaction.</a:t>
                </a:r>
              </a:p>
              <a:p>
                <a:pPr algn="r"/>
                <a:r>
                  <a:rPr lang="en-MY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[2 mark]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9CB63D-8299-565F-535A-91F5E2CB97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827" y="1013254"/>
                <a:ext cx="10478530" cy="930191"/>
              </a:xfrm>
              <a:prstGeom prst="rect">
                <a:avLst/>
              </a:prstGeom>
              <a:blipFill>
                <a:blip r:embed="rId2"/>
                <a:stretch>
                  <a:fillRect l="-465" t="-2614" r="-989" b="-9150"/>
                </a:stretch>
              </a:blipFill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E7E5F04-4427-F6E7-0204-24564AB26D28}"/>
              </a:ext>
            </a:extLst>
          </p:cNvPr>
          <p:cNvSpPr txBox="1"/>
          <p:nvPr/>
        </p:nvSpPr>
        <p:spPr>
          <a:xfrm>
            <a:off x="963827" y="2147595"/>
            <a:ext cx="104785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 After a plant or animal dies, its Carbon-14 content decreases with a half-life of 5730 year. If an archaeologist finds an ancient fire pit containing partially consumed firewood and the Carbon-14 content of the wood is only 12.5% that of an equal carbon sample from a present-day tree, calculate the age of the ancient site.</a:t>
            </a:r>
          </a:p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 marks]</a:t>
            </a:r>
            <a:endParaRPr lang="en-MY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8DE4E2-523F-6C1E-C3E3-60FF11102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462" y="6072155"/>
            <a:ext cx="4477375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120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701B4-1E77-0370-A7D2-D5861F20E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81B890-F142-818B-4EF5-51063E6B7B83}"/>
              </a:ext>
            </a:extLst>
          </p:cNvPr>
          <p:cNvSpPr txBox="1"/>
          <p:nvPr/>
        </p:nvSpPr>
        <p:spPr>
          <a:xfrm>
            <a:off x="788068" y="651393"/>
            <a:ext cx="109788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9. a)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mass of ⁶³₂₉Cu nucleus is 62.5219u. Calculate the binding energy per nucleon of ⁶³₂₉Cu nucleus. </a:t>
            </a:r>
          </a:p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 marks]</a:t>
            </a:r>
            <a:endParaRPr lang="en-MY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B2CBE-95A3-F35A-1187-BED3DC27D16E}"/>
              </a:ext>
            </a:extLst>
          </p:cNvPr>
          <p:cNvSpPr txBox="1"/>
          <p:nvPr/>
        </p:nvSpPr>
        <p:spPr>
          <a:xfrm>
            <a:off x="788068" y="1521650"/>
            <a:ext cx="109788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radioactive source contains 1 × 10⁻⁶ g  ²³⁹Pu. If this source contains 2300 alpha particles per second, calculate: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its decay constant.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ii) the time required for the source so that its activity decreases to one decay per second.</a:t>
            </a:r>
          </a:p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[3 marks]</a:t>
            </a:r>
            <a:endParaRPr lang="en-MY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B46B7F-98DD-7C5F-26C5-355FEE666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8364" y="6206607"/>
            <a:ext cx="2943636" cy="53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228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479A75-1FF9-D232-013E-A3013F892F56}"/>
                  </a:ext>
                </a:extLst>
              </p:cNvPr>
              <p:cNvSpPr txBox="1"/>
              <p:nvPr/>
            </p:nvSpPr>
            <p:spPr>
              <a:xfrm>
                <a:off x="589937" y="408483"/>
                <a:ext cx="10692580" cy="25887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tabLst>
                    <a:tab pos="561975" algn="l"/>
                    <a:tab pos="1003935" algn="l"/>
                  </a:tabLst>
                </a:pPr>
                <a:r>
                  <a:rPr lang="en-US" spc="-25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9</a:t>
                </a:r>
                <a:r>
                  <a:rPr lang="en-US" spc="-2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</a:t>
                </a: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	An isotope of</a:t>
                </a:r>
                <a:r>
                  <a:rPr lang="en-US" spc="4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MY" i="1" spc="4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PrePr>
                      <m:sub>
                        <m:r>
                          <a:rPr lang="en-US" i="1" spc="4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64</m:t>
                        </m:r>
                      </m:sub>
                      <m:sup>
                        <m:r>
                          <a:rPr lang="en-US" i="1" spc="4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151</m:t>
                        </m:r>
                      </m:sup>
                      <m:e>
                        <m:r>
                          <a:rPr lang="en-US" i="1" spc="4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𝐺𝑑</m:t>
                        </m:r>
                      </m:e>
                    </m:sPre>
                  </m:oMath>
                </a14:m>
                <a:r>
                  <a:rPr lang="en-US" spc="80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(Gadolinium)</a:t>
                </a:r>
                <a:r>
                  <a:rPr lang="en-US" spc="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has</a:t>
                </a:r>
                <a:r>
                  <a:rPr lang="en-US" spc="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 nucleus mass</a:t>
                </a:r>
                <a:r>
                  <a:rPr lang="en-US" spc="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151.919803</a:t>
                </a:r>
                <a:r>
                  <a:rPr lang="en-US" spc="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u.</a:t>
                </a:r>
                <a:r>
                  <a:rPr lang="en-US" spc="1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spc="-1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Calculate </a:t>
                </a:r>
                <a:r>
                  <a:rPr lang="en-US" spc="-2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the</a:t>
                </a:r>
                <a:endParaRPr lang="en-MY" spc="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>
                  <a:spcBef>
                    <a:spcPts val="685"/>
                  </a:spcBef>
                  <a:buSzPts val="1100"/>
                  <a:buFont typeface="Times New Roman" panose="02020603050405020304" pitchFamily="18" charset="0"/>
                  <a:buAutoNum type="romanLcParenBoth"/>
                  <a:tabLst>
                    <a:tab pos="1476375" algn="l"/>
                  </a:tabLst>
                </a:pP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mass</a:t>
                </a:r>
                <a:r>
                  <a:rPr lang="en-US" spc="-3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spc="-1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defect.</a:t>
                </a:r>
                <a:endParaRPr lang="en-MY" spc="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>
                  <a:spcBef>
                    <a:spcPts val="695"/>
                  </a:spcBef>
                  <a:buSzPts val="1100"/>
                  <a:buFont typeface="Times New Roman" panose="02020603050405020304" pitchFamily="18" charset="0"/>
                  <a:buAutoNum type="romanLcParenBoth"/>
                  <a:tabLst>
                    <a:tab pos="1476375" algn="l"/>
                  </a:tabLst>
                </a:pP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binding</a:t>
                </a:r>
                <a:r>
                  <a:rPr lang="en-US" spc="-1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energy</a:t>
                </a:r>
                <a:r>
                  <a:rPr lang="en-US" spc="-1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spc="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in</a:t>
                </a:r>
                <a:r>
                  <a:rPr lang="en-US" spc="-1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Joule.</a:t>
                </a:r>
                <a:endParaRPr lang="en-MY" spc="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5250815" algn="r">
                  <a:spcBef>
                    <a:spcPts val="685"/>
                  </a:spcBef>
                  <a:buNone/>
                </a:pP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[3</a:t>
                </a:r>
                <a:r>
                  <a:rPr lang="en-US" spc="-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i="1" spc="-1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marks</a:t>
                </a:r>
                <a:r>
                  <a:rPr lang="en-US" spc="-1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]</a:t>
                </a:r>
                <a:endParaRPr lang="en-MY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buNone/>
                </a:pP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 </a:t>
                </a:r>
                <a:r>
                  <a:rPr lang="en-MY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(b)  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</a:t>
                </a:r>
                <a:r>
                  <a:rPr lang="en-US" spc="12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sample</a:t>
                </a:r>
                <a:r>
                  <a:rPr lang="en-US" spc="12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of</a:t>
                </a:r>
                <a:r>
                  <a:rPr lang="en-US" spc="12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an</a:t>
                </a:r>
                <a:r>
                  <a:rPr lang="en-US" spc="12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isotope</a:t>
                </a:r>
                <a:r>
                  <a:rPr lang="en-US" spc="12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with</a:t>
                </a:r>
                <a:r>
                  <a:rPr lang="en-US" spc="13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mass</a:t>
                </a:r>
                <a:r>
                  <a:rPr lang="en-US" spc="12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number</a:t>
                </a:r>
                <a:r>
                  <a:rPr lang="en-US" spc="14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114</a:t>
                </a:r>
                <a:r>
                  <a:rPr lang="en-US" spc="11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decays</a:t>
                </a:r>
                <a:r>
                  <a:rPr lang="en-US" spc="12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at</a:t>
                </a:r>
                <a:r>
                  <a:rPr lang="en-US" spc="13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</a:t>
                </a:r>
                <a:r>
                  <a:rPr lang="en-US" spc="12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rate</a:t>
                </a:r>
                <a:r>
                  <a:rPr lang="en-US" spc="12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of</a:t>
                </a:r>
                <a:r>
                  <a:rPr lang="en-US" spc="12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0.550</a:t>
                </a:r>
                <a:r>
                  <a:rPr lang="en-US" spc="12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Ci. Calculate the half-life of the isotope if 5.75 g of the sample is used.</a:t>
                </a:r>
                <a:r>
                  <a:rPr lang="en-MY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(1 Ci =</a:t>
                </a:r>
                <a:r>
                  <a:rPr lang="en-US" spc="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3.7 ×</a:t>
                </a:r>
                <a:r>
                  <a:rPr lang="en-US" spc="-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10</a:t>
                </a:r>
                <a:r>
                  <a:rPr lang="en-US" baseline="30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10</a:t>
                </a:r>
                <a:r>
                  <a:rPr lang="en-US" spc="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spc="-2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Bq)						</a:t>
                </a:r>
                <a:endParaRPr lang="en-MY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1003935" algn="r">
                  <a:buNone/>
                </a:pPr>
                <a:r>
                  <a:rPr lang="en-US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[4</a:t>
                </a:r>
                <a:r>
                  <a:rPr lang="en-US" spc="-5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en-US" i="1" spc="-1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marks</a:t>
                </a:r>
                <a:r>
                  <a:rPr lang="en-US" spc="-1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]</a:t>
                </a:r>
                <a:endParaRPr lang="en-MY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479A75-1FF9-D232-013E-A3013F892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937" y="408483"/>
                <a:ext cx="10692580" cy="2588722"/>
              </a:xfrm>
              <a:prstGeom prst="rect">
                <a:avLst/>
              </a:prstGeom>
              <a:blipFill>
                <a:blip r:embed="rId2"/>
                <a:stretch>
                  <a:fillRect l="-513" t="-706" r="-456" b="-2824"/>
                </a:stretch>
              </a:blipFill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4661572-E2F5-B00B-B0B2-31DC29D31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9" y="5477831"/>
            <a:ext cx="3096057" cy="97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255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0D9B1A-9101-3622-B20F-C4C4A979EAA5}"/>
                  </a:ext>
                </a:extLst>
              </p:cNvPr>
              <p:cNvSpPr txBox="1"/>
              <p:nvPr/>
            </p:nvSpPr>
            <p:spPr>
              <a:xfrm>
                <a:off x="582304" y="399011"/>
                <a:ext cx="11027391" cy="25921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MY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Aptos" panose="020B0004020202020204" pitchFamily="34" charset="0"/>
                  </a:rPr>
                  <a:t>9</a:t>
                </a: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  (a) Calculate the binding energy per nucleon for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MY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</a:rPr>
                        </m:ctrlPr>
                      </m:sPrePr>
                      <m:sub>
                        <m:r>
                          <a:rPr lang="en-MY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</a:rPr>
                          <m:t>3</m:t>
                        </m:r>
                      </m:sub>
                      <m:sup>
                        <m:r>
                          <a:rPr lang="en-MY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</a:rPr>
                          <m:t>6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MY" sz="180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</a:rPr>
                          <m:t>Li</m:t>
                        </m:r>
                      </m:e>
                    </m:sPre>
                  </m:oMath>
                </a14:m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. </a:t>
                </a:r>
                <a:endParaRPr lang="en-MY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Aptos" panose="020B0004020202020204" pitchFamily="34" charset="0"/>
                </a:endParaRPr>
              </a:p>
              <a:p>
                <a:pPr>
                  <a:buNone/>
                </a:pP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(Given mass of nucleus Li = 6.015123 u and mass of H = 1.007825u) 														[3 </a:t>
                </a:r>
                <a:r>
                  <a:rPr lang="en-MY" sz="1800" i="1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marks </a:t>
                </a: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] </a:t>
                </a:r>
                <a:endParaRPr lang="en-MY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Aptos" panose="020B0004020202020204" pitchFamily="34" charset="0"/>
                </a:endParaRPr>
              </a:p>
              <a:p>
                <a:pPr>
                  <a:buNone/>
                </a:pP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 </a:t>
                </a:r>
                <a:endParaRPr lang="en-MY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Aptos" panose="020B0004020202020204" pitchFamily="34" charset="0"/>
                </a:endParaRPr>
              </a:p>
              <a:p>
                <a:pPr>
                  <a:buNone/>
                </a:pP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(b) A radioactive sample has an initial activity 9 </a:t>
                </a:r>
                <a:r>
                  <a:rPr lang="en-MY" sz="1800" dirty="0" err="1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mCi</a:t>
                </a: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. After 16 hours, its activity reduces to 7 </a:t>
                </a:r>
                <a:r>
                  <a:rPr lang="en-MY" sz="1800" dirty="0" err="1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mCi</a:t>
                </a: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. Calculate </a:t>
                </a:r>
                <a:endParaRPr lang="en-MY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Aptos" panose="020B0004020202020204" pitchFamily="34" charset="0"/>
                </a:endParaRPr>
              </a:p>
              <a:p>
                <a:pPr>
                  <a:buNone/>
                </a:pP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(</a:t>
                </a:r>
                <a:r>
                  <a:rPr lang="en-MY" sz="1800" dirty="0" err="1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i</a:t>
                </a: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) the half life. </a:t>
                </a:r>
                <a:endParaRPr lang="en-MY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Aptos" panose="020B0004020202020204" pitchFamily="34" charset="0"/>
                </a:endParaRPr>
              </a:p>
              <a:p>
                <a:pPr>
                  <a:buNone/>
                </a:pP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(ii) </a:t>
                </a:r>
                <a:r>
                  <a:rPr lang="en-MY" sz="1800" dirty="0" err="1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intial</a:t>
                </a:r>
                <a:r>
                  <a:rPr lang="en-MY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</a:rPr>
                  <a:t> number of nuclei. </a:t>
                </a:r>
                <a:endParaRPr lang="en-MY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Aptos" panose="020B0004020202020204" pitchFamily="34" charset="0"/>
                </a:endParaRPr>
              </a:p>
              <a:p>
                <a:pPr>
                  <a:buNone/>
                </a:pPr>
                <a:r>
                  <a:rPr lang="en-MY" sz="18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(1 Ci = 3.7 × 10</a:t>
                </a:r>
                <a:r>
                  <a:rPr lang="en-MY" sz="1800" baseline="30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10</a:t>
                </a:r>
                <a:r>
                  <a:rPr lang="en-MY" sz="18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Bq) 								</a:t>
                </a:r>
                <a:r>
                  <a:rPr lang="en-MY" dirty="0"/>
                  <a:t> [ 4 </a:t>
                </a:r>
                <a:r>
                  <a:rPr lang="en-MY" i="1" dirty="0"/>
                  <a:t>marks </a:t>
                </a:r>
                <a:r>
                  <a:rPr lang="en-MY" dirty="0"/>
                  <a:t>] </a:t>
                </a:r>
                <a:r>
                  <a:rPr lang="en-MY" sz="18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					</a:t>
                </a:r>
                <a:endParaRPr lang="en-MY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0D9B1A-9101-3622-B20F-C4C4A979E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304" y="399011"/>
                <a:ext cx="11027391" cy="2592184"/>
              </a:xfrm>
              <a:prstGeom prst="rect">
                <a:avLst/>
              </a:prstGeom>
              <a:blipFill>
                <a:blip r:embed="rId2"/>
                <a:stretch>
                  <a:fillRect l="-498" t="-939"/>
                </a:stretch>
              </a:blipFill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E0C34437-388C-C61A-5213-073D542684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671" y="5855871"/>
            <a:ext cx="3238952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119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2DDC07E-A21D-B650-1139-102FA223A2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35685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9E855D1-5027-E12C-ADD5-BC004238E2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9716" y="516350"/>
                <a:ext cx="11297265" cy="85664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ms-MY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endParaRPr>
              </a:p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ms-MY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9(a)</a:t>
                </a:r>
                <a:r>
                  <a:rPr kumimoji="0" lang="ms-MY" alt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  </a:t>
                </a:r>
                <a:r>
                  <a:rPr kumimoji="0" lang="ms-MY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Calculate the binding energy per nucleon for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MY" i="1">
                            <a:latin typeface="Cambria Math" panose="02040503050406030204" pitchFamily="18" charset="0"/>
                          </a:rPr>
                        </m:ctrlPr>
                      </m:sPrePr>
                      <m:sub>
                        <m:r>
                          <a:rPr lang="en-MY" i="1">
                            <a:latin typeface="Cambria Math" panose="02040503050406030204" pitchFamily="18" charset="0"/>
                          </a:rPr>
                          <m:t>116</m:t>
                        </m:r>
                      </m:sub>
                      <m:sup>
                        <m:r>
                          <a:rPr lang="en-MY" i="1">
                            <a:latin typeface="Cambria Math" panose="02040503050406030204" pitchFamily="18" charset="0"/>
                          </a:rPr>
                          <m:t>293</m:t>
                        </m:r>
                      </m:sup>
                      <m:e>
                        <m:r>
                          <a:rPr lang="en-MY" i="1">
                            <a:latin typeface="Cambria Math" panose="02040503050406030204" pitchFamily="18" charset="0"/>
                          </a:rPr>
                          <m:t>𝐿𝑣</m:t>
                        </m:r>
                      </m:e>
                    </m:sPre>
                  </m:oMath>
                </a14:m>
                <a:r>
                  <a:rPr lang="en-MY" dirty="0"/>
                  <a:t> </a:t>
                </a:r>
                <a:r>
                  <a:rPr kumimoji="0" lang="ms-MY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kumimoji="0" lang="ms-MY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in </a:t>
                </a:r>
                <a:r>
                  <a:rPr kumimoji="0" lang="ms-MY" altLang="en-US" sz="18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MeV per nucleon</a:t>
                </a:r>
                <a:r>
                  <a:rPr kumimoji="0" lang="ms-MY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. </a:t>
                </a:r>
                <a:br>
                  <a:rPr kumimoji="0" lang="ms-MY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</a:br>
                <a:r>
                  <a:rPr kumimoji="0" lang="ms-MY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(Given atomic mass of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MY" i="1">
                            <a:latin typeface="Cambria Math" panose="02040503050406030204" pitchFamily="18" charset="0"/>
                          </a:rPr>
                        </m:ctrlPr>
                      </m:sPrePr>
                      <m:sub>
                        <m:r>
                          <a:rPr lang="en-MY" i="1">
                            <a:latin typeface="Cambria Math" panose="02040503050406030204" pitchFamily="18" charset="0"/>
                          </a:rPr>
                          <m:t>116</m:t>
                        </m:r>
                      </m:sub>
                      <m:sup>
                        <m:r>
                          <a:rPr lang="en-MY" i="1">
                            <a:latin typeface="Cambria Math" panose="02040503050406030204" pitchFamily="18" charset="0"/>
                          </a:rPr>
                          <m:t>293</m:t>
                        </m:r>
                      </m:sup>
                      <m:e>
                        <m:r>
                          <a:rPr lang="en-MY" i="1">
                            <a:latin typeface="Cambria Math" panose="02040503050406030204" pitchFamily="18" charset="0"/>
                          </a:rPr>
                          <m:t>𝐿𝑣</m:t>
                        </m:r>
                      </m:e>
                    </m:sPre>
                  </m:oMath>
                </a14:m>
                <a:r>
                  <a:rPr lang="en-MY" dirty="0"/>
                  <a:t> </a:t>
                </a:r>
                <a:r>
                  <a:rPr kumimoji="0" lang="ms-MY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kumimoji="0" lang="ms-MY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is 293.205 u)							[3</a:t>
                </a:r>
                <a:r>
                  <a:rPr kumimoji="0" lang="ms-MY" alt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marks]</a:t>
                </a:r>
                <a:endParaRPr kumimoji="0" lang="ms-MY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9E855D1-5027-E12C-ADD5-BC004238E2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716" y="516350"/>
                <a:ext cx="11297265" cy="856645"/>
              </a:xfrm>
              <a:prstGeom prst="rect">
                <a:avLst/>
              </a:prstGeom>
              <a:blipFill>
                <a:blip r:embed="rId2"/>
                <a:stretch>
                  <a:fillRect l="-486" b="-10000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3AB7031-FBF1-E02D-58EE-63A0255D21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9716" y="1384296"/>
                <a:ext cx="11405420" cy="165840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316038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316038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316038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316038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316038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316038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316038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316038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316038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1316038" algn="l"/>
                  </a:tabLst>
                </a:pPr>
                <a:endParaRPr kumimoji="0" lang="ms-MY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endParaRPr>
              </a:p>
              <a:p>
                <a:r>
                  <a:rPr lang="ms-MY" altLang="en-US" dirty="0"/>
                  <a:t>(b)   The half-life of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MY" i="1" smtClean="0">
                            <a:latin typeface="Cambria Math" panose="02040503050406030204" pitchFamily="18" charset="0"/>
                          </a:rPr>
                        </m:ctrlPr>
                      </m:sPre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27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𝐶𝑜</m:t>
                        </m:r>
                      </m:e>
                    </m:sPre>
                  </m:oMath>
                </a14:m>
                <a:r>
                  <a:rPr lang="en-MY" dirty="0"/>
                  <a:t> </a:t>
                </a:r>
                <a:r>
                  <a:rPr lang="ms-MY" altLang="en-US" dirty="0"/>
                  <a:t> is 5.26 years. Calculate the</a:t>
                </a:r>
              </a:p>
              <a:p>
                <a:pPr marL="857250" marR="0" lvl="1" indent="-4000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Pct val="100000"/>
                  <a:buAutoNum type="romanLcParenBoth"/>
                  <a:tabLst>
                    <a:tab pos="1316038" algn="l"/>
                  </a:tabLst>
                </a:pPr>
                <a:r>
                  <a:rPr lang="ms-MY" altLang="en-US" dirty="0"/>
                  <a:t>decay constant of this atom								[2 marks]							</a:t>
                </a:r>
              </a:p>
              <a:p>
                <a:pPr marL="857250" lvl="1" indent="-400050">
                  <a:buSzPct val="100000"/>
                  <a:buAutoNum type="romanLcParenBoth"/>
                </a:pPr>
                <a:r>
                  <a:rPr lang="ms-MY" altLang="en-US" dirty="0"/>
                  <a:t>Activity of 1.00 g of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MY" i="1" smtClean="0">
                            <a:latin typeface="Cambria Math" panose="02040503050406030204" pitchFamily="18" charset="0"/>
                          </a:rPr>
                        </m:ctrlPr>
                      </m:sPre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27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𝐶𝑜</m:t>
                        </m:r>
                      </m:e>
                    </m:sPre>
                  </m:oMath>
                </a14:m>
                <a:r>
                  <a:rPr lang="en-MY" dirty="0"/>
                  <a:t> 								[2 marks]</a:t>
                </a:r>
                <a:endParaRPr lang="ms-MY" altLang="en-US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1316038" algn="l"/>
                  </a:tabLst>
                </a:pPr>
                <a:endParaRPr kumimoji="0" lang="ms-MY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3AB7031-FBF1-E02D-58EE-63A0255D21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716" y="1384296"/>
                <a:ext cx="11405420" cy="1658403"/>
              </a:xfrm>
              <a:prstGeom prst="rect">
                <a:avLst/>
              </a:prstGeom>
              <a:blipFill>
                <a:blip r:embed="rId3"/>
                <a:stretch>
                  <a:fillRect l="-481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Picture 27">
            <a:extLst>
              <a:ext uri="{FF2B5EF4-FFF2-40B4-BE49-F238E27FC236}">
                <a16:creationId xmlns:a16="http://schemas.microsoft.com/office/drawing/2014/main" id="{C65C4184-8470-0CD6-8A2F-07EAF8F5A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6711" y="5266491"/>
            <a:ext cx="3048425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428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646</Words>
  <Application>Microsoft Office PowerPoint</Application>
  <PresentationFormat>Widescreen</PresentationFormat>
  <Paragraphs>44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Shafiq</dc:creator>
  <cp:lastModifiedBy>SHAFIQ R</cp:lastModifiedBy>
  <cp:revision>10</cp:revision>
  <dcterms:created xsi:type="dcterms:W3CDTF">2026-03-16T04:40:40Z</dcterms:created>
  <dcterms:modified xsi:type="dcterms:W3CDTF">2026-04-16T15:07:58Z</dcterms:modified>
</cp:coreProperties>
</file>