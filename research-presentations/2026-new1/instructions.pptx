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64" r:id="rId3"/>
    <p:sldId id="262" r:id="rId4"/>
    <p:sldId id="261" r:id="rId5"/>
    <p:sldId id="263" r:id="rId6"/>
    <p:sldId id="258" r:id="rId7"/>
    <p:sldId id="259" r:id="rId8"/>
    <p:sldId id="260" r:id="rId9"/>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6" d="100"/>
          <a:sy n="66" d="100"/>
        </p:scale>
        <p:origin x="136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C94172-CC36-4FFF-AF51-5044CDF1AC42}" type="datetimeFigureOut">
              <a:rPr lang="en-MY" smtClean="0"/>
              <a:t>11/2/2026</a:t>
            </a:fld>
            <a:endParaRPr lang="en-MY"/>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61619-46F7-41DC-B34E-B921BE4FDD5D}" type="slidenum">
              <a:rPr lang="en-MY" smtClean="0"/>
              <a:t>‹#›</a:t>
            </a:fld>
            <a:endParaRPr lang="en-MY"/>
          </a:p>
        </p:txBody>
      </p:sp>
    </p:spTree>
    <p:extLst>
      <p:ext uri="{BB962C8B-B14F-4D97-AF65-F5344CB8AC3E}">
        <p14:creationId xmlns:p14="http://schemas.microsoft.com/office/powerpoint/2010/main" val="4011207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a:t>
            </a:r>
            <a:endParaRPr lang="en-MY" dirty="0"/>
          </a:p>
        </p:txBody>
      </p:sp>
      <p:sp>
        <p:nvSpPr>
          <p:cNvPr id="4" name="Slide Number Placeholder 3"/>
          <p:cNvSpPr>
            <a:spLocks noGrp="1"/>
          </p:cNvSpPr>
          <p:nvPr>
            <p:ph type="sldNum" sz="quarter" idx="5"/>
          </p:nvPr>
        </p:nvSpPr>
        <p:spPr/>
        <p:txBody>
          <a:bodyPr/>
          <a:lstStyle/>
          <a:p>
            <a:fld id="{C5A61619-46F7-41DC-B34E-B921BE4FDD5D}" type="slidenum">
              <a:rPr lang="en-MY" smtClean="0"/>
              <a:t>1</a:t>
            </a:fld>
            <a:endParaRPr lang="en-MY"/>
          </a:p>
        </p:txBody>
      </p:sp>
    </p:spTree>
    <p:extLst>
      <p:ext uri="{BB962C8B-B14F-4D97-AF65-F5344CB8AC3E}">
        <p14:creationId xmlns:p14="http://schemas.microsoft.com/office/powerpoint/2010/main" val="2279761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ACD18-7553-3A14-F0F5-EB1F32982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5CCF3-912C-5DAF-9BD1-7CEB348CEB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592BA1-E9A6-7EC8-5696-71BB38C878EA}"/>
              </a:ext>
            </a:extLst>
          </p:cNvPr>
          <p:cNvSpPr>
            <a:spLocks noGrp="1"/>
          </p:cNvSpPr>
          <p:nvPr>
            <p:ph type="body" idx="1"/>
          </p:nvPr>
        </p:nvSpPr>
        <p:spPr/>
        <p:txBody>
          <a:bodyPr/>
          <a:lstStyle/>
          <a:p>
            <a:r>
              <a:rPr lang="en-US" dirty="0"/>
              <a:t>Step 1</a:t>
            </a:r>
            <a:endParaRPr lang="en-MY" dirty="0"/>
          </a:p>
        </p:txBody>
      </p:sp>
      <p:sp>
        <p:nvSpPr>
          <p:cNvPr id="4" name="Slide Number Placeholder 3">
            <a:extLst>
              <a:ext uri="{FF2B5EF4-FFF2-40B4-BE49-F238E27FC236}">
                <a16:creationId xmlns:a16="http://schemas.microsoft.com/office/drawing/2014/main" id="{1DE43984-2074-34BB-86D7-7508F8A769A7}"/>
              </a:ext>
            </a:extLst>
          </p:cNvPr>
          <p:cNvSpPr>
            <a:spLocks noGrp="1"/>
          </p:cNvSpPr>
          <p:nvPr>
            <p:ph type="sldNum" sz="quarter" idx="5"/>
          </p:nvPr>
        </p:nvSpPr>
        <p:spPr/>
        <p:txBody>
          <a:bodyPr/>
          <a:lstStyle/>
          <a:p>
            <a:fld id="{C5A61619-46F7-41DC-B34E-B921BE4FDD5D}" type="slidenum">
              <a:rPr lang="en-MY" smtClean="0"/>
              <a:t>2</a:t>
            </a:fld>
            <a:endParaRPr lang="en-MY"/>
          </a:p>
        </p:txBody>
      </p:sp>
    </p:spTree>
    <p:extLst>
      <p:ext uri="{BB962C8B-B14F-4D97-AF65-F5344CB8AC3E}">
        <p14:creationId xmlns:p14="http://schemas.microsoft.com/office/powerpoint/2010/main" val="1771169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43838-D366-CB8F-8C1B-2A8027B30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C9028-4C1E-1101-3B9E-8FAA338ED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3D4D4-4EFE-1D3B-E46A-DDE65460CBFB}"/>
              </a:ext>
            </a:extLst>
          </p:cNvPr>
          <p:cNvSpPr>
            <a:spLocks noGrp="1"/>
          </p:cNvSpPr>
          <p:nvPr>
            <p:ph type="body" idx="1"/>
          </p:nvPr>
        </p:nvSpPr>
        <p:spPr/>
        <p:txBody>
          <a:bodyPr/>
          <a:lstStyle/>
          <a:p>
            <a:r>
              <a:rPr lang="en-US" dirty="0"/>
              <a:t>Step 1</a:t>
            </a:r>
            <a:endParaRPr lang="en-MY" dirty="0"/>
          </a:p>
        </p:txBody>
      </p:sp>
      <p:sp>
        <p:nvSpPr>
          <p:cNvPr id="4" name="Slide Number Placeholder 3">
            <a:extLst>
              <a:ext uri="{FF2B5EF4-FFF2-40B4-BE49-F238E27FC236}">
                <a16:creationId xmlns:a16="http://schemas.microsoft.com/office/drawing/2014/main" id="{B271EED1-2C21-BE4F-CF0E-A099AF7CF373}"/>
              </a:ext>
            </a:extLst>
          </p:cNvPr>
          <p:cNvSpPr>
            <a:spLocks noGrp="1"/>
          </p:cNvSpPr>
          <p:nvPr>
            <p:ph type="sldNum" sz="quarter" idx="5"/>
          </p:nvPr>
        </p:nvSpPr>
        <p:spPr/>
        <p:txBody>
          <a:bodyPr/>
          <a:lstStyle/>
          <a:p>
            <a:fld id="{C5A61619-46F7-41DC-B34E-B921BE4FDD5D}" type="slidenum">
              <a:rPr lang="en-MY" smtClean="0"/>
              <a:t>3</a:t>
            </a:fld>
            <a:endParaRPr lang="en-MY"/>
          </a:p>
        </p:txBody>
      </p:sp>
    </p:spTree>
    <p:extLst>
      <p:ext uri="{BB962C8B-B14F-4D97-AF65-F5344CB8AC3E}">
        <p14:creationId xmlns:p14="http://schemas.microsoft.com/office/powerpoint/2010/main" val="4177912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D7C5-CA09-8D36-6F0F-AF422FD7B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C063C-D5A6-FFC6-6E8E-4F9FB0C2F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5464C-D7AC-FB2E-E187-16B2B09CEF48}"/>
              </a:ext>
            </a:extLst>
          </p:cNvPr>
          <p:cNvSpPr>
            <a:spLocks noGrp="1"/>
          </p:cNvSpPr>
          <p:nvPr>
            <p:ph type="body" idx="1"/>
          </p:nvPr>
        </p:nvSpPr>
        <p:spPr/>
        <p:txBody>
          <a:bodyPr/>
          <a:lstStyle/>
          <a:p>
            <a:r>
              <a:rPr lang="en-US" dirty="0"/>
              <a:t>Step 1</a:t>
            </a:r>
            <a:endParaRPr lang="en-MY" dirty="0"/>
          </a:p>
        </p:txBody>
      </p:sp>
      <p:sp>
        <p:nvSpPr>
          <p:cNvPr id="4" name="Slide Number Placeholder 3">
            <a:extLst>
              <a:ext uri="{FF2B5EF4-FFF2-40B4-BE49-F238E27FC236}">
                <a16:creationId xmlns:a16="http://schemas.microsoft.com/office/drawing/2014/main" id="{4E79D628-D37E-9F52-6CDB-C651C61F0298}"/>
              </a:ext>
            </a:extLst>
          </p:cNvPr>
          <p:cNvSpPr>
            <a:spLocks noGrp="1"/>
          </p:cNvSpPr>
          <p:nvPr>
            <p:ph type="sldNum" sz="quarter" idx="5"/>
          </p:nvPr>
        </p:nvSpPr>
        <p:spPr/>
        <p:txBody>
          <a:bodyPr/>
          <a:lstStyle/>
          <a:p>
            <a:fld id="{C5A61619-46F7-41DC-B34E-B921BE4FDD5D}" type="slidenum">
              <a:rPr lang="en-MY" smtClean="0"/>
              <a:t>4</a:t>
            </a:fld>
            <a:endParaRPr lang="en-MY"/>
          </a:p>
        </p:txBody>
      </p:sp>
    </p:spTree>
    <p:extLst>
      <p:ext uri="{BB962C8B-B14F-4D97-AF65-F5344CB8AC3E}">
        <p14:creationId xmlns:p14="http://schemas.microsoft.com/office/powerpoint/2010/main" val="1062081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AE447-6982-6373-F21B-4F9DAA433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94923-ABDF-34C8-D1AB-6140737EC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2841B-CFF1-A8D7-A87E-4409255452D1}"/>
              </a:ext>
            </a:extLst>
          </p:cNvPr>
          <p:cNvSpPr>
            <a:spLocks noGrp="1"/>
          </p:cNvSpPr>
          <p:nvPr>
            <p:ph type="body" idx="1"/>
          </p:nvPr>
        </p:nvSpPr>
        <p:spPr/>
        <p:txBody>
          <a:bodyPr/>
          <a:lstStyle/>
          <a:p>
            <a:r>
              <a:rPr lang="en-US" dirty="0"/>
              <a:t>Step 1</a:t>
            </a:r>
            <a:endParaRPr lang="en-MY" dirty="0"/>
          </a:p>
        </p:txBody>
      </p:sp>
      <p:sp>
        <p:nvSpPr>
          <p:cNvPr id="4" name="Slide Number Placeholder 3">
            <a:extLst>
              <a:ext uri="{FF2B5EF4-FFF2-40B4-BE49-F238E27FC236}">
                <a16:creationId xmlns:a16="http://schemas.microsoft.com/office/drawing/2014/main" id="{28B15E09-E818-27DF-98E6-0D72843A929E}"/>
              </a:ext>
            </a:extLst>
          </p:cNvPr>
          <p:cNvSpPr>
            <a:spLocks noGrp="1"/>
          </p:cNvSpPr>
          <p:nvPr>
            <p:ph type="sldNum" sz="quarter" idx="5"/>
          </p:nvPr>
        </p:nvSpPr>
        <p:spPr/>
        <p:txBody>
          <a:bodyPr/>
          <a:lstStyle/>
          <a:p>
            <a:fld id="{C5A61619-46F7-41DC-B34E-B921BE4FDD5D}" type="slidenum">
              <a:rPr lang="en-MY" smtClean="0"/>
              <a:t>5</a:t>
            </a:fld>
            <a:endParaRPr lang="en-MY"/>
          </a:p>
        </p:txBody>
      </p:sp>
    </p:spTree>
    <p:extLst>
      <p:ext uri="{BB962C8B-B14F-4D97-AF65-F5344CB8AC3E}">
        <p14:creationId xmlns:p14="http://schemas.microsoft.com/office/powerpoint/2010/main" val="4065784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your file “yourname_partA.pdf”</a:t>
            </a:r>
            <a:endParaRPr lang="en-MY" dirty="0"/>
          </a:p>
        </p:txBody>
      </p:sp>
      <p:sp>
        <p:nvSpPr>
          <p:cNvPr id="4" name="Slide Number Placeholder 3"/>
          <p:cNvSpPr>
            <a:spLocks noGrp="1"/>
          </p:cNvSpPr>
          <p:nvPr>
            <p:ph type="sldNum" sz="quarter" idx="5"/>
          </p:nvPr>
        </p:nvSpPr>
        <p:spPr/>
        <p:txBody>
          <a:bodyPr/>
          <a:lstStyle/>
          <a:p>
            <a:fld id="{C5A61619-46F7-41DC-B34E-B921BE4FDD5D}" type="slidenum">
              <a:rPr lang="en-MY" smtClean="0"/>
              <a:t>7</a:t>
            </a:fld>
            <a:endParaRPr lang="en-MY"/>
          </a:p>
        </p:txBody>
      </p:sp>
    </p:spTree>
    <p:extLst>
      <p:ext uri="{BB962C8B-B14F-4D97-AF65-F5344CB8AC3E}">
        <p14:creationId xmlns:p14="http://schemas.microsoft.com/office/powerpoint/2010/main" val="2098995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5ECF53-067A-4DFD-8E3F-03149C652B40}" type="datetimeFigureOut">
              <a:rPr lang="en-MY" smtClean="0"/>
              <a:t>11/2/2026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2199689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ECF53-067A-4DFD-8E3F-03149C652B40}" type="datetimeFigureOut">
              <a:rPr lang="en-MY" smtClean="0"/>
              <a:t>11/2/2026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3717940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5ECF53-067A-4DFD-8E3F-03149C652B40}" type="datetimeFigureOut">
              <a:rPr lang="en-MY" smtClean="0"/>
              <a:t>11/2/2026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4152717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5ECF53-067A-4DFD-8E3F-03149C652B40}" type="datetimeFigureOut">
              <a:rPr lang="en-MY" smtClean="0"/>
              <a:t>11/2/2026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2031647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5ECF53-067A-4DFD-8E3F-03149C652B40}" type="datetimeFigureOut">
              <a:rPr lang="en-MY" smtClean="0"/>
              <a:t>11/2/2026</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1150479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5ECF53-067A-4DFD-8E3F-03149C652B40}" type="datetimeFigureOut">
              <a:rPr lang="en-MY" smtClean="0"/>
              <a:t>11/2/2026</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39561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5ECF53-067A-4DFD-8E3F-03149C652B40}" type="datetimeFigureOut">
              <a:rPr lang="en-MY" smtClean="0"/>
              <a:t>11/2/2026</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1604035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ECF53-067A-4DFD-8E3F-03149C652B40}" type="datetimeFigureOut">
              <a:rPr lang="en-MY" smtClean="0"/>
              <a:t>11/2/2026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4058021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ECF53-067A-4DFD-8E3F-03149C652B40}" type="datetimeFigureOut">
              <a:rPr lang="en-MY" smtClean="0"/>
              <a:t>11/2/2026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1419969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ECF53-067A-4DFD-8E3F-03149C652B40}" type="datetimeFigureOut">
              <a:rPr lang="en-MY" smtClean="0"/>
              <a:t>11/2/2026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1560600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ECF53-067A-4DFD-8E3F-03149C652B40}" type="datetimeFigureOut">
              <a:rPr lang="en-MY" smtClean="0"/>
              <a:t>11/2/2026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22E70E4C-53AD-48BF-A434-1DDE9A7D43B7}" type="slidenum">
              <a:rPr lang="en-MY" smtClean="0"/>
              <a:t>‹#›</a:t>
            </a:fld>
            <a:endParaRPr lang="en-MY"/>
          </a:p>
        </p:txBody>
      </p:sp>
    </p:spTree>
    <p:extLst>
      <p:ext uri="{BB962C8B-B14F-4D97-AF65-F5344CB8AC3E}">
        <p14:creationId xmlns:p14="http://schemas.microsoft.com/office/powerpoint/2010/main" val="3241497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5ECF53-067A-4DFD-8E3F-03149C652B40}" type="datetimeFigureOut">
              <a:rPr lang="en-MY" smtClean="0"/>
              <a:t>11/2/2026</a:t>
            </a:fld>
            <a:endParaRPr lang="en-MY"/>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E70E4C-53AD-48BF-A434-1DDE9A7D43B7}" type="slidenum">
              <a:rPr lang="en-MY" smtClean="0"/>
              <a:t>‹#›</a:t>
            </a:fld>
            <a:endParaRPr lang="en-MY"/>
          </a:p>
        </p:txBody>
      </p:sp>
    </p:spTree>
    <p:extLst>
      <p:ext uri="{BB962C8B-B14F-4D97-AF65-F5344CB8AC3E}">
        <p14:creationId xmlns:p14="http://schemas.microsoft.com/office/powerpoint/2010/main" val="11141943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45B04A00-4568-B75B-990D-D00D281DDE53}"/>
              </a:ext>
            </a:extLst>
          </p:cNvPr>
          <p:cNvSpPr txBox="1"/>
          <p:nvPr/>
        </p:nvSpPr>
        <p:spPr>
          <a:xfrm>
            <a:off x="1465567" y="2367171"/>
            <a:ext cx="6974865" cy="2123658"/>
          </a:xfrm>
          <a:prstGeom prst="rect">
            <a:avLst/>
          </a:prstGeom>
          <a:noFill/>
        </p:spPr>
        <p:txBody>
          <a:bodyPr wrap="square">
            <a:spAutoFit/>
          </a:bodyPr>
          <a:lstStyle/>
          <a:p>
            <a:pPr algn="ctr"/>
            <a:r>
              <a:rPr lang="en-US" sz="4400" b="1" dirty="0"/>
              <a:t>Read this document completely before doing anything!</a:t>
            </a:r>
          </a:p>
        </p:txBody>
      </p:sp>
    </p:spTree>
    <p:extLst>
      <p:ext uri="{BB962C8B-B14F-4D97-AF65-F5344CB8AC3E}">
        <p14:creationId xmlns:p14="http://schemas.microsoft.com/office/powerpoint/2010/main" val="2397250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A6D40-9FCF-05E5-2668-39AC4EBAF88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4419CBB8-69EF-9816-E2A1-D9A424FB9D25}"/>
              </a:ext>
            </a:extLst>
          </p:cNvPr>
          <p:cNvSpPr txBox="1"/>
          <p:nvPr/>
        </p:nvSpPr>
        <p:spPr>
          <a:xfrm>
            <a:off x="296792" y="164813"/>
            <a:ext cx="3026979" cy="584775"/>
          </a:xfrm>
          <a:prstGeom prst="rect">
            <a:avLst/>
          </a:prstGeom>
          <a:noFill/>
        </p:spPr>
        <p:txBody>
          <a:bodyPr wrap="square">
            <a:spAutoFit/>
          </a:bodyPr>
          <a:lstStyle/>
          <a:p>
            <a:r>
              <a:rPr lang="en-US" sz="3200" b="1" dirty="0"/>
              <a:t>Part A Questions</a:t>
            </a:r>
          </a:p>
        </p:txBody>
      </p:sp>
      <p:sp>
        <p:nvSpPr>
          <p:cNvPr id="17" name="TextBox 16">
            <a:extLst>
              <a:ext uri="{FF2B5EF4-FFF2-40B4-BE49-F238E27FC236}">
                <a16:creationId xmlns:a16="http://schemas.microsoft.com/office/drawing/2014/main" id="{C81010BE-0955-7B06-42FB-EF653187B1F0}"/>
              </a:ext>
            </a:extLst>
          </p:cNvPr>
          <p:cNvSpPr txBox="1"/>
          <p:nvPr/>
        </p:nvSpPr>
        <p:spPr>
          <a:xfrm>
            <a:off x="296791" y="749588"/>
            <a:ext cx="9050409" cy="5355312"/>
          </a:xfrm>
          <a:prstGeom prst="rect">
            <a:avLst/>
          </a:prstGeom>
          <a:noFill/>
        </p:spPr>
        <p:txBody>
          <a:bodyPr wrap="square">
            <a:spAutoFit/>
          </a:bodyPr>
          <a:lstStyle/>
          <a:p>
            <a:pPr marL="342900" indent="-342900" algn="just">
              <a:buFont typeface="+mj-lt"/>
              <a:buAutoNum type="arabicPeriod"/>
            </a:pPr>
            <a:r>
              <a:rPr lang="en-MY" dirty="0">
                <a:latin typeface="Arial" panose="020B0604020202020204" pitchFamily="34" charset="0"/>
                <a:cs typeface="Arial" panose="020B0604020202020204" pitchFamily="34" charset="0"/>
              </a:rPr>
              <a:t>Discuss, and make a comparison of, pollution by conventional fossil-fuel power plants and nuclear-fission power plants. Consider thermal pollution, chemical pollution, and radioactive pollution.</a:t>
            </a:r>
          </a:p>
          <a:p>
            <a:pPr marL="342900" indent="-342900" algn="just">
              <a:buFont typeface="+mj-lt"/>
              <a:buAutoNum type="arabicPeriod"/>
            </a:pPr>
            <a:endParaRPr lang="en-US" dirty="0">
              <a:latin typeface="Arial" panose="020B0604020202020204" pitchFamily="34" charset="0"/>
              <a:cs typeface="Arial" panose="020B0604020202020204" pitchFamily="34" charset="0"/>
            </a:endParaRPr>
          </a:p>
          <a:p>
            <a:pPr marL="342900" indent="-342900" algn="just">
              <a:buFont typeface="+mj-lt"/>
              <a:buAutoNum type="arabicPeriod"/>
            </a:pPr>
            <a:r>
              <a:rPr lang="en-US" dirty="0">
                <a:latin typeface="Arial" panose="020B0604020202020204" pitchFamily="34" charset="0"/>
                <a:cs typeface="Arial" panose="020B0604020202020204" pitchFamily="34" charset="0"/>
              </a:rPr>
              <a:t>A sample has an activity of 0.0061 Bq per gram of carbon.</a:t>
            </a:r>
          </a:p>
          <a:p>
            <a:pPr marL="800100" lvl="1" indent="-342900" algn="just">
              <a:buFont typeface="+mj-lt"/>
              <a:buAutoNum type="alphaLcPeriod"/>
            </a:pPr>
            <a:r>
              <a:rPr lang="en-US" dirty="0">
                <a:latin typeface="Arial" panose="020B0604020202020204" pitchFamily="34" charset="0"/>
                <a:cs typeface="Arial" panose="020B0604020202020204" pitchFamily="34" charset="0"/>
              </a:rPr>
              <a:t>Find the age of the sample, assuming that the activity per gram of carbon in a living organism has been constant at a value of 0.23 Bq.</a:t>
            </a:r>
          </a:p>
          <a:p>
            <a:pPr marL="800100" lvl="1" indent="-342900" algn="just">
              <a:buFont typeface="+mj-lt"/>
              <a:buAutoNum type="alphaLcPeriod"/>
            </a:pPr>
            <a:r>
              <a:rPr lang="en-US" dirty="0">
                <a:latin typeface="Arial" panose="020B0604020202020204" pitchFamily="34" charset="0"/>
                <a:cs typeface="Arial" panose="020B0604020202020204" pitchFamily="34" charset="0"/>
              </a:rPr>
              <a:t>Evidence suggests that the value of 0.23 Bq might have been as much as 40% larger. Repeat part (a), taking into account this 40% increase.</a:t>
            </a:r>
          </a:p>
          <a:p>
            <a:pPr lvl="1" algn="just"/>
            <a:endParaRPr lang="en-US" dirty="0">
              <a:latin typeface="Arial" panose="020B0604020202020204" pitchFamily="34" charset="0"/>
              <a:cs typeface="Arial" panose="020B0604020202020204" pitchFamily="34" charset="0"/>
            </a:endParaRPr>
          </a:p>
          <a:p>
            <a:pPr marL="342900" indent="-342900" algn="just">
              <a:buFont typeface="+mj-lt"/>
              <a:buAutoNum type="arabicPeriod"/>
            </a:pPr>
            <a:r>
              <a:rPr lang="en-US" dirty="0">
                <a:latin typeface="Arial" panose="020B0604020202020204" pitchFamily="34" charset="0"/>
                <a:cs typeface="Arial" panose="020B0604020202020204" pitchFamily="34" charset="0"/>
              </a:rPr>
              <a:t> </a:t>
            </a:r>
          </a:p>
          <a:p>
            <a:pPr marL="800100" lvl="1" indent="-342900" algn="just">
              <a:buFont typeface="+mj-lt"/>
              <a:buAutoNum type="alphaLcPeriod"/>
            </a:pPr>
            <a:r>
              <a:rPr lang="en-US" dirty="0">
                <a:latin typeface="Arial" panose="020B0604020202020204" pitchFamily="34" charset="0"/>
                <a:cs typeface="Arial" panose="020B0604020202020204" pitchFamily="34" charset="0"/>
              </a:rPr>
              <a:t>A sample is being dated by the radiocarbon technique. If the sample were uncontaminated, its activity would be 0.011 Bq per gram of carbon. Find the true age (in years) of the sample. </a:t>
            </a:r>
          </a:p>
          <a:p>
            <a:pPr marL="800100" lvl="1" indent="-342900" algn="just">
              <a:buFont typeface="+mj-lt"/>
              <a:buAutoNum type="alphaLcPeriod"/>
            </a:pPr>
            <a:r>
              <a:rPr lang="en-US" dirty="0">
                <a:latin typeface="Arial" panose="020B0604020202020204" pitchFamily="34" charset="0"/>
                <a:cs typeface="Arial" panose="020B0604020202020204" pitchFamily="34" charset="0"/>
              </a:rPr>
              <a:t>Suppose the sample is contaminated, so that only 98.0% of its carbon is ancient carbon. The remaining 2.0% is fresh carbon, in the sense that the it contains has not had any time to decay. Assuming that the lab technician is unaware of the contamination, what apparent age (in years) would be determined for the sample?</a:t>
            </a:r>
            <a:endParaRPr lang="en-MY"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765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41C87-61FF-DA13-E34C-6E550F8A2922}"/>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53863D02-F4FA-8364-BD77-425C4A809B6B}"/>
              </a:ext>
            </a:extLst>
          </p:cNvPr>
          <p:cNvSpPr txBox="1"/>
          <p:nvPr/>
        </p:nvSpPr>
        <p:spPr>
          <a:xfrm>
            <a:off x="296792" y="164813"/>
            <a:ext cx="3026979" cy="584775"/>
          </a:xfrm>
          <a:prstGeom prst="rect">
            <a:avLst/>
          </a:prstGeom>
          <a:noFill/>
        </p:spPr>
        <p:txBody>
          <a:bodyPr wrap="square">
            <a:spAutoFit/>
          </a:bodyPr>
          <a:lstStyle/>
          <a:p>
            <a:r>
              <a:rPr lang="en-US" sz="3200" b="1" dirty="0"/>
              <a:t>Part B Questions</a:t>
            </a:r>
          </a:p>
        </p:txBody>
      </p:sp>
      <p:sp>
        <p:nvSpPr>
          <p:cNvPr id="2" name="TextBox 1">
            <a:extLst>
              <a:ext uri="{FF2B5EF4-FFF2-40B4-BE49-F238E27FC236}">
                <a16:creationId xmlns:a16="http://schemas.microsoft.com/office/drawing/2014/main" id="{B72F90E9-6F20-8521-05A2-E3CBBE39E662}"/>
              </a:ext>
            </a:extLst>
          </p:cNvPr>
          <p:cNvSpPr txBox="1"/>
          <p:nvPr/>
        </p:nvSpPr>
        <p:spPr>
          <a:xfrm>
            <a:off x="7184571" y="464457"/>
            <a:ext cx="2424639" cy="1631216"/>
          </a:xfrm>
          <a:prstGeom prst="rect">
            <a:avLst/>
          </a:prstGeom>
          <a:solidFill>
            <a:schemeClr val="bg1"/>
          </a:solidFill>
          <a:ln w="38100">
            <a:solidFill>
              <a:srgbClr val="FF0000"/>
            </a:solidFill>
          </a:ln>
        </p:spPr>
        <p:txBody>
          <a:bodyPr wrap="square">
            <a:spAutoFit/>
          </a:bodyPr>
          <a:lstStyle/>
          <a:p>
            <a:pPr algn="ctr"/>
            <a:r>
              <a:rPr lang="en-US" sz="2000" b="1" dirty="0">
                <a:solidFill>
                  <a:srgbClr val="FF0000"/>
                </a:solidFill>
              </a:rPr>
              <a:t>For Part B, make sure to type it out in Word and then save as pdf, no handwriting please.  </a:t>
            </a:r>
          </a:p>
        </p:txBody>
      </p:sp>
      <p:sp>
        <p:nvSpPr>
          <p:cNvPr id="4" name="TextBox 3">
            <a:extLst>
              <a:ext uri="{FF2B5EF4-FFF2-40B4-BE49-F238E27FC236}">
                <a16:creationId xmlns:a16="http://schemas.microsoft.com/office/drawing/2014/main" id="{BDEB145F-9691-E40A-8324-74D6814A2047}"/>
              </a:ext>
            </a:extLst>
          </p:cNvPr>
          <p:cNvSpPr txBox="1"/>
          <p:nvPr/>
        </p:nvSpPr>
        <p:spPr>
          <a:xfrm>
            <a:off x="322565" y="764917"/>
            <a:ext cx="6745891" cy="5909310"/>
          </a:xfrm>
          <a:prstGeom prst="rect">
            <a:avLst/>
          </a:prstGeom>
          <a:noFill/>
        </p:spPr>
        <p:txBody>
          <a:bodyPr wrap="square">
            <a:spAutoFit/>
          </a:bodyPr>
          <a:lstStyle/>
          <a:p>
            <a:pPr marL="342900" lvl="0" indent="-342900" algn="just">
              <a:buFont typeface="+mj-lt"/>
              <a:buAutoNum type="arabicPeriod"/>
              <a:tabLst>
                <a:tab pos="457200" algn="l"/>
              </a:tabLst>
            </a:pPr>
            <a:r>
              <a:rPr lang="en-MY" kern="100" dirty="0">
                <a:effectLst/>
                <a:latin typeface="Arial" panose="020B0604020202020204" pitchFamily="34" charset="0"/>
                <a:ea typeface="Times New Roman" panose="02020603050405020304" pitchFamily="18" charset="0"/>
                <a:cs typeface="Arial" panose="020B0604020202020204" pitchFamily="34" charset="0"/>
              </a:rPr>
              <a:t>How did using ChatGPT change (or not change) your understanding of the physics concept involved?</a:t>
            </a:r>
            <a:r>
              <a:rPr lang="en-MY" kern="100" dirty="0">
                <a:latin typeface="Arial" panose="020B0604020202020204" pitchFamily="34" charset="0"/>
                <a:ea typeface="Times New Roman" panose="02020603050405020304" pitchFamily="18" charset="0"/>
                <a:cs typeface="Arial" panose="020B0604020202020204" pitchFamily="34" charset="0"/>
              </a:rPr>
              <a:t> </a:t>
            </a:r>
            <a:r>
              <a:rPr lang="en-MY" i="1" kern="100" dirty="0">
                <a:effectLst/>
                <a:latin typeface="Arial" panose="020B0604020202020204" pitchFamily="34" charset="0"/>
                <a:ea typeface="Times New Roman" panose="02020603050405020304" pitchFamily="18" charset="0"/>
                <a:cs typeface="Arial" panose="020B0604020202020204" pitchFamily="34" charset="0"/>
              </a:rPr>
              <a:t>(Focus on what you understood better, differently, or still found confusing after using ChatGPT.)</a:t>
            </a:r>
            <a:endParaRPr lang="en-MY"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buFont typeface="+mj-lt"/>
              <a:buAutoNum type="arabicPeriod"/>
              <a:tabLst>
                <a:tab pos="457200" algn="l"/>
              </a:tabLst>
            </a:pPr>
            <a:r>
              <a:rPr lang="en-MY" kern="100" dirty="0">
                <a:effectLst/>
                <a:latin typeface="Arial" panose="020B0604020202020204" pitchFamily="34" charset="0"/>
                <a:ea typeface="Times New Roman" panose="02020603050405020304" pitchFamily="18" charset="0"/>
                <a:cs typeface="Arial" panose="020B0604020202020204" pitchFamily="34" charset="0"/>
              </a:rPr>
              <a:t>When using ChatGPT, were you mainly checking answers, following steps, or actively explaining and questioning ideas? </a:t>
            </a:r>
            <a:r>
              <a:rPr lang="en-MY" i="1" kern="100" dirty="0">
                <a:effectLst/>
                <a:latin typeface="Arial" panose="020B0604020202020204" pitchFamily="34" charset="0"/>
                <a:ea typeface="Times New Roman" panose="02020603050405020304" pitchFamily="18" charset="0"/>
                <a:cs typeface="Arial" panose="020B0604020202020204" pitchFamily="34" charset="0"/>
              </a:rPr>
              <a:t>(Describe how you interacted with ChatGPT, not whether you liked it.)</a:t>
            </a:r>
            <a:endParaRPr lang="en-MY"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buFont typeface="+mj-lt"/>
              <a:buAutoNum type="arabicPeriod" startAt="3"/>
              <a:tabLst>
                <a:tab pos="457200" algn="l"/>
              </a:tabLst>
            </a:pPr>
            <a:r>
              <a:rPr lang="en-MY" kern="100" dirty="0">
                <a:effectLst/>
                <a:latin typeface="Arial" panose="020B0604020202020204" pitchFamily="34" charset="0"/>
                <a:ea typeface="Times New Roman" panose="02020603050405020304" pitchFamily="18" charset="0"/>
                <a:cs typeface="Arial" panose="020B0604020202020204" pitchFamily="34" charset="0"/>
              </a:rPr>
              <a:t>At what point did you realize ChatGPT’s explanation was helpful or insufficient, and what did you do next? </a:t>
            </a:r>
            <a:r>
              <a:rPr lang="en-MY" i="1" kern="100" dirty="0">
                <a:effectLst/>
                <a:latin typeface="Arial" panose="020B0604020202020204" pitchFamily="34" charset="0"/>
                <a:ea typeface="Times New Roman" panose="02020603050405020304" pitchFamily="18" charset="0"/>
                <a:cs typeface="Arial" panose="020B0604020202020204" pitchFamily="34" charset="0"/>
              </a:rPr>
              <a:t>(Mention a specific moment when you judged the explanation and how you responded, e.g., asked follow-up questions, stopped using it).)</a:t>
            </a:r>
            <a:endParaRPr lang="en-MY"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buFont typeface="+mj-lt"/>
              <a:buAutoNum type="arabicPeriod" startAt="4"/>
              <a:tabLst>
                <a:tab pos="457200" algn="l"/>
              </a:tabLst>
            </a:pPr>
            <a:r>
              <a:rPr lang="en-MY" kern="100" dirty="0">
                <a:effectLst/>
                <a:latin typeface="Arial" panose="020B0604020202020204" pitchFamily="34" charset="0"/>
                <a:ea typeface="Times New Roman" panose="02020603050405020304" pitchFamily="18" charset="0"/>
                <a:cs typeface="Arial" panose="020B0604020202020204" pitchFamily="34" charset="0"/>
              </a:rPr>
              <a:t>Did using ChatGPT help you solve similar physics problems on your own afterward? Why or why not?  </a:t>
            </a:r>
            <a:r>
              <a:rPr lang="en-MY" i="1" kern="100" dirty="0">
                <a:effectLst/>
                <a:latin typeface="Arial" panose="020B0604020202020204" pitchFamily="34" charset="0"/>
                <a:ea typeface="Times New Roman" panose="02020603050405020304" pitchFamily="18" charset="0"/>
                <a:cs typeface="Arial" panose="020B0604020202020204" pitchFamily="34" charset="0"/>
              </a:rPr>
              <a:t>(Think about whether you could apply the idea independently, not just repeat the same steps.)</a:t>
            </a:r>
            <a:endParaRPr lang="en-MY"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buFont typeface="+mj-lt"/>
              <a:buAutoNum type="arabicPeriod" startAt="5"/>
              <a:tabLst>
                <a:tab pos="457200" algn="l"/>
              </a:tabLst>
            </a:pPr>
            <a:r>
              <a:rPr lang="en-MY" kern="100" dirty="0">
                <a:effectLst/>
                <a:latin typeface="Arial" panose="020B0604020202020204" pitchFamily="34" charset="0"/>
                <a:ea typeface="Times New Roman" panose="02020603050405020304" pitchFamily="18" charset="0"/>
                <a:cs typeface="Arial" panose="020B0604020202020204" pitchFamily="34" charset="0"/>
              </a:rPr>
              <a:t>How did you decide whether ChatGPT’s solution or explanation was correct?</a:t>
            </a:r>
            <a:r>
              <a:rPr lang="en-MY" kern="100" dirty="0">
                <a:latin typeface="Arial" panose="020B0604020202020204" pitchFamily="34" charset="0"/>
                <a:ea typeface="Times New Roman" panose="02020603050405020304" pitchFamily="18" charset="0"/>
                <a:cs typeface="Arial" panose="020B0604020202020204" pitchFamily="34" charset="0"/>
              </a:rPr>
              <a:t> </a:t>
            </a:r>
            <a:r>
              <a:rPr lang="en-MY" i="1" kern="100" dirty="0">
                <a:effectLst/>
                <a:latin typeface="Arial" panose="020B0604020202020204" pitchFamily="34" charset="0"/>
                <a:ea typeface="Times New Roman" panose="02020603050405020304" pitchFamily="18" charset="0"/>
                <a:cs typeface="Arial" panose="020B0604020202020204" pitchFamily="34" charset="0"/>
              </a:rPr>
              <a:t>(Explain how you checked or evaluated the answer, e.g., equations, logic, units, prior knowledge.)</a:t>
            </a:r>
            <a:endParaRPr lang="en-MY" kern="1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188851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FEEAE-DC7E-3F2F-3084-F3AEBD2FE5FA}"/>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502B9EF9-322B-35AC-5A17-43BCF3F97A9D}"/>
              </a:ext>
            </a:extLst>
          </p:cNvPr>
          <p:cNvSpPr txBox="1"/>
          <p:nvPr/>
        </p:nvSpPr>
        <p:spPr>
          <a:xfrm>
            <a:off x="2475271" y="2705725"/>
            <a:ext cx="4955458" cy="1446550"/>
          </a:xfrm>
          <a:prstGeom prst="rect">
            <a:avLst/>
          </a:prstGeom>
          <a:noFill/>
        </p:spPr>
        <p:txBody>
          <a:bodyPr wrap="square">
            <a:spAutoFit/>
          </a:bodyPr>
          <a:lstStyle/>
          <a:p>
            <a:pPr algn="ctr"/>
            <a:r>
              <a:rPr lang="en-US" sz="4400" b="1" dirty="0">
                <a:latin typeface="Arial" panose="020B0604020202020204" pitchFamily="34" charset="0"/>
                <a:cs typeface="Arial" panose="020B0604020202020204" pitchFamily="34" charset="0"/>
              </a:rPr>
              <a:t>How to export your chat?</a:t>
            </a:r>
            <a:endParaRPr lang="en-MY" sz="4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9906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F1347-1307-9A7F-6AB5-59AD5315225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C21380A-BCC5-0C5C-5295-0FD81DA546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733" y="819000"/>
            <a:ext cx="9284534" cy="5220000"/>
          </a:xfrm>
          <a:prstGeom prst="rect">
            <a:avLst/>
          </a:prstGeom>
        </p:spPr>
      </p:pic>
      <p:sp>
        <p:nvSpPr>
          <p:cNvPr id="12" name="Arrow: Right 11">
            <a:extLst>
              <a:ext uri="{FF2B5EF4-FFF2-40B4-BE49-F238E27FC236}">
                <a16:creationId xmlns:a16="http://schemas.microsoft.com/office/drawing/2014/main" id="{74D2C920-1B24-AB96-E439-6D42BD477D76}"/>
              </a:ext>
            </a:extLst>
          </p:cNvPr>
          <p:cNvSpPr/>
          <p:nvPr/>
        </p:nvSpPr>
        <p:spPr>
          <a:xfrm rot="18971088">
            <a:off x="7248153" y="2064774"/>
            <a:ext cx="2492478" cy="324464"/>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TextBox 13">
            <a:extLst>
              <a:ext uri="{FF2B5EF4-FFF2-40B4-BE49-F238E27FC236}">
                <a16:creationId xmlns:a16="http://schemas.microsoft.com/office/drawing/2014/main" id="{C885AE8C-D377-9914-7893-EF81E600138E}"/>
              </a:ext>
            </a:extLst>
          </p:cNvPr>
          <p:cNvSpPr txBox="1"/>
          <p:nvPr/>
        </p:nvSpPr>
        <p:spPr>
          <a:xfrm>
            <a:off x="296792" y="164813"/>
            <a:ext cx="4955458" cy="584775"/>
          </a:xfrm>
          <a:prstGeom prst="rect">
            <a:avLst/>
          </a:prstGeom>
          <a:noFill/>
        </p:spPr>
        <p:txBody>
          <a:bodyPr wrap="square">
            <a:spAutoFit/>
          </a:bodyPr>
          <a:lstStyle/>
          <a:p>
            <a:r>
              <a:rPr lang="en-US" sz="3200" b="1" dirty="0"/>
              <a:t>For Part A, Step 1</a:t>
            </a:r>
            <a:endParaRPr lang="en-MY" sz="3200" b="1" dirty="0"/>
          </a:p>
        </p:txBody>
      </p:sp>
    </p:spTree>
    <p:extLst>
      <p:ext uri="{BB962C8B-B14F-4D97-AF65-F5344CB8AC3E}">
        <p14:creationId xmlns:p14="http://schemas.microsoft.com/office/powerpoint/2010/main" val="3065949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FCE8A-ECD3-BC34-C136-8A4DDC14023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4BBDC98-4924-49B3-995D-84469246FF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34" y="819000"/>
            <a:ext cx="9284531" cy="5220000"/>
          </a:xfrm>
          <a:prstGeom prst="rect">
            <a:avLst/>
          </a:prstGeom>
        </p:spPr>
      </p:pic>
      <p:sp>
        <p:nvSpPr>
          <p:cNvPr id="2" name="TextBox 1">
            <a:extLst>
              <a:ext uri="{FF2B5EF4-FFF2-40B4-BE49-F238E27FC236}">
                <a16:creationId xmlns:a16="http://schemas.microsoft.com/office/drawing/2014/main" id="{B7B46AF3-F225-1A70-522F-8CDA66D7A744}"/>
              </a:ext>
            </a:extLst>
          </p:cNvPr>
          <p:cNvSpPr txBox="1"/>
          <p:nvPr/>
        </p:nvSpPr>
        <p:spPr>
          <a:xfrm>
            <a:off x="296792" y="164813"/>
            <a:ext cx="4955458" cy="584775"/>
          </a:xfrm>
          <a:prstGeom prst="rect">
            <a:avLst/>
          </a:prstGeom>
          <a:noFill/>
        </p:spPr>
        <p:txBody>
          <a:bodyPr wrap="square">
            <a:spAutoFit/>
          </a:bodyPr>
          <a:lstStyle/>
          <a:p>
            <a:r>
              <a:rPr lang="en-US" sz="3200" b="1" dirty="0"/>
              <a:t>Step 2</a:t>
            </a:r>
            <a:endParaRPr lang="en-MY" sz="3200" b="1" dirty="0"/>
          </a:p>
        </p:txBody>
      </p:sp>
      <p:sp>
        <p:nvSpPr>
          <p:cNvPr id="3" name="Arrow: Right 2">
            <a:extLst>
              <a:ext uri="{FF2B5EF4-FFF2-40B4-BE49-F238E27FC236}">
                <a16:creationId xmlns:a16="http://schemas.microsoft.com/office/drawing/2014/main" id="{54A06540-4874-C5E0-5691-6FB33F02737B}"/>
              </a:ext>
            </a:extLst>
          </p:cNvPr>
          <p:cNvSpPr/>
          <p:nvPr/>
        </p:nvSpPr>
        <p:spPr>
          <a:xfrm>
            <a:off x="6400799" y="3489960"/>
            <a:ext cx="1335523" cy="324464"/>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910453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26079-3289-377E-3499-113A5A422F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DB9E20-217F-79BC-C50C-5AB1A8F25752}"/>
              </a:ext>
            </a:extLst>
          </p:cNvPr>
          <p:cNvSpPr txBox="1"/>
          <p:nvPr/>
        </p:nvSpPr>
        <p:spPr>
          <a:xfrm>
            <a:off x="296792" y="164813"/>
            <a:ext cx="4955458" cy="1077218"/>
          </a:xfrm>
          <a:prstGeom prst="rect">
            <a:avLst/>
          </a:prstGeom>
          <a:noFill/>
        </p:spPr>
        <p:txBody>
          <a:bodyPr wrap="square">
            <a:spAutoFit/>
          </a:bodyPr>
          <a:lstStyle/>
          <a:p>
            <a:r>
              <a:rPr lang="en-US" sz="3200" b="1" dirty="0"/>
              <a:t>Step 3</a:t>
            </a:r>
          </a:p>
          <a:p>
            <a:endParaRPr lang="en-MY" sz="3200" b="1" dirty="0"/>
          </a:p>
        </p:txBody>
      </p:sp>
      <p:pic>
        <p:nvPicPr>
          <p:cNvPr id="4" name="Picture 3">
            <a:extLst>
              <a:ext uri="{FF2B5EF4-FFF2-40B4-BE49-F238E27FC236}">
                <a16:creationId xmlns:a16="http://schemas.microsoft.com/office/drawing/2014/main" id="{3EAE0E89-F87A-5C48-B1EF-BEF077AD2C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735" y="819000"/>
            <a:ext cx="9284530" cy="5220000"/>
          </a:xfrm>
          <a:prstGeom prst="rect">
            <a:avLst/>
          </a:prstGeom>
        </p:spPr>
      </p:pic>
      <p:sp>
        <p:nvSpPr>
          <p:cNvPr id="5" name="Arrow: Right 4">
            <a:extLst>
              <a:ext uri="{FF2B5EF4-FFF2-40B4-BE49-F238E27FC236}">
                <a16:creationId xmlns:a16="http://schemas.microsoft.com/office/drawing/2014/main" id="{50722028-D3E9-58ED-CF65-1C84DB6F1FE8}"/>
              </a:ext>
            </a:extLst>
          </p:cNvPr>
          <p:cNvSpPr/>
          <p:nvPr/>
        </p:nvSpPr>
        <p:spPr>
          <a:xfrm>
            <a:off x="5660571" y="1762760"/>
            <a:ext cx="1335523" cy="324464"/>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Arrow: Right 5">
            <a:extLst>
              <a:ext uri="{FF2B5EF4-FFF2-40B4-BE49-F238E27FC236}">
                <a16:creationId xmlns:a16="http://schemas.microsoft.com/office/drawing/2014/main" id="{71069385-FF3F-2098-3FF6-99F878E3B3AF}"/>
              </a:ext>
            </a:extLst>
          </p:cNvPr>
          <p:cNvSpPr/>
          <p:nvPr/>
        </p:nvSpPr>
        <p:spPr>
          <a:xfrm>
            <a:off x="5660570" y="2219960"/>
            <a:ext cx="1335523" cy="324464"/>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Arrow: Right 6">
            <a:extLst>
              <a:ext uri="{FF2B5EF4-FFF2-40B4-BE49-F238E27FC236}">
                <a16:creationId xmlns:a16="http://schemas.microsoft.com/office/drawing/2014/main" id="{5F705388-8B8D-D135-203B-A3C995FB9ED3}"/>
              </a:ext>
            </a:extLst>
          </p:cNvPr>
          <p:cNvSpPr/>
          <p:nvPr/>
        </p:nvSpPr>
        <p:spPr>
          <a:xfrm>
            <a:off x="5660569" y="2677160"/>
            <a:ext cx="1335523" cy="324464"/>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Arrow: Right 7">
            <a:extLst>
              <a:ext uri="{FF2B5EF4-FFF2-40B4-BE49-F238E27FC236}">
                <a16:creationId xmlns:a16="http://schemas.microsoft.com/office/drawing/2014/main" id="{39300FE9-B1BF-B9CE-82C7-B3FD2F7C4A9F}"/>
              </a:ext>
            </a:extLst>
          </p:cNvPr>
          <p:cNvSpPr/>
          <p:nvPr/>
        </p:nvSpPr>
        <p:spPr>
          <a:xfrm>
            <a:off x="6125389" y="5237480"/>
            <a:ext cx="1335523" cy="324464"/>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TextBox 10">
            <a:extLst>
              <a:ext uri="{FF2B5EF4-FFF2-40B4-BE49-F238E27FC236}">
                <a16:creationId xmlns:a16="http://schemas.microsoft.com/office/drawing/2014/main" id="{9C8CEF8C-59E0-733B-32A3-71BB2C236855}"/>
              </a:ext>
            </a:extLst>
          </p:cNvPr>
          <p:cNvSpPr txBox="1"/>
          <p:nvPr/>
        </p:nvSpPr>
        <p:spPr>
          <a:xfrm>
            <a:off x="296791" y="6084652"/>
            <a:ext cx="9298473" cy="584775"/>
          </a:xfrm>
          <a:prstGeom prst="rect">
            <a:avLst/>
          </a:prstGeom>
          <a:noFill/>
        </p:spPr>
        <p:txBody>
          <a:bodyPr wrap="square">
            <a:spAutoFit/>
          </a:bodyPr>
          <a:lstStyle/>
          <a:p>
            <a:r>
              <a:rPr lang="en-US" sz="3200" b="1" dirty="0">
                <a:solidFill>
                  <a:srgbClr val="FF0000"/>
                </a:solidFill>
                <a:latin typeface="Arial" panose="020B0604020202020204" pitchFamily="34" charset="0"/>
                <a:cs typeface="Arial" panose="020B0604020202020204" pitchFamily="34" charset="0"/>
              </a:rPr>
              <a:t>Name your file “yourname_partA.pdf”</a:t>
            </a:r>
            <a:endParaRPr lang="en-MY" sz="32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2740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7A38A-4186-9D8C-88DE-3A3E4EBA75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095E67-F0C6-FAAB-907C-41778DBF4DF8}"/>
              </a:ext>
            </a:extLst>
          </p:cNvPr>
          <p:cNvSpPr txBox="1"/>
          <p:nvPr/>
        </p:nvSpPr>
        <p:spPr>
          <a:xfrm>
            <a:off x="613228" y="2274838"/>
            <a:ext cx="8679543" cy="2308324"/>
          </a:xfrm>
          <a:prstGeom prst="rect">
            <a:avLst/>
          </a:prstGeom>
          <a:noFill/>
        </p:spPr>
        <p:txBody>
          <a:bodyPr wrap="square">
            <a:spAutoFit/>
          </a:bodyPr>
          <a:lstStyle/>
          <a:p>
            <a:pPr algn="ctr"/>
            <a:r>
              <a:rPr lang="en-US" sz="4800" b="1" dirty="0">
                <a:solidFill>
                  <a:srgbClr val="FF0000"/>
                </a:solidFill>
              </a:rPr>
              <a:t>For Part B, make sure to type it out in Word and then save as pdf, no handwriting please.  </a:t>
            </a:r>
          </a:p>
        </p:txBody>
      </p:sp>
    </p:spTree>
    <p:extLst>
      <p:ext uri="{BB962C8B-B14F-4D97-AF65-F5344CB8AC3E}">
        <p14:creationId xmlns:p14="http://schemas.microsoft.com/office/powerpoint/2010/main" val="8226431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TotalTime>
  <Words>508</Words>
  <Application>Microsoft Office PowerPoint</Application>
  <PresentationFormat>A4 Paper (210x297 mm)</PresentationFormat>
  <Paragraphs>36</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Shafiq</dc:creator>
  <cp:lastModifiedBy>Shafiq</cp:lastModifiedBy>
  <cp:revision>2</cp:revision>
  <dcterms:created xsi:type="dcterms:W3CDTF">2026-02-11T06:34:33Z</dcterms:created>
  <dcterms:modified xsi:type="dcterms:W3CDTF">2026-02-11T06:56:00Z</dcterms:modified>
</cp:coreProperties>
</file>