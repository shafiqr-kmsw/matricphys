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9" r:id="rId14"/>
    <p:sldId id="267" r:id="rId15"/>
  </p:sldIdLst>
  <p:sldSz cx="12192000" cy="6858000"/>
  <p:notesSz cx="6858000" cy="9144000"/>
  <p:embeddedFontLst>
    <p:embeddedFont>
      <p:font typeface="Liberation Serif" panose="02020603050405020304" pitchFamily="18" charset="0"/>
      <p:regular r:id="rId17"/>
      <p:bold r:id="rId18"/>
      <p:italic r:id="rId19"/>
      <p:boldItalic r:id="rId20"/>
    </p:embeddedFont>
    <p:embeddedFont>
      <p:font typeface="Montserrat" panose="00000500000000000000" pitchFamily="2" charset="0"/>
      <p:regular r:id="rId21"/>
      <p:bold r:id="rId22"/>
    </p:embeddedFont>
    <p:embeddedFont>
      <p:font typeface="Montserrat ExtraBold" panose="00000900000000000000" pitchFamily="2" charset="0"/>
      <p:bold r:id="rId23"/>
    </p:embeddedFont>
    <p:embeddedFont>
      <p:font typeface="Montserrat Light" panose="00000400000000000000" pitchFamily="2" charset="0"/>
      <p:regular r:id="rId24"/>
    </p:embeddedFont>
    <p:embeddedFont>
      <p:font typeface="Montserrat SemiBold" panose="00000700000000000000" pitchFamily="2" charset="0"/>
      <p:bold r:id="rId25"/>
    </p:embeddedFont>
    <p:embeddedFont>
      <p:font typeface="Playfair Display" panose="000005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7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C6624292-29FD-5276-76A0-6A43148FEDAE}"/>
            </a:ext>
          </a:extLst>
        </p:cNvPr>
        <p:cNvGrpSpPr/>
        <p:nvPr/>
      </p:nvGrpSpPr>
      <p:grpSpPr>
        <a:xfrm>
          <a:off x="0" y="0"/>
          <a:ext cx="0" cy="0"/>
          <a:chOff x="0" y="0"/>
          <a:chExt cx="0" cy="0"/>
        </a:xfrm>
      </p:grpSpPr>
      <p:sp>
        <p:nvSpPr>
          <p:cNvPr id="176" name="Google Shape;176;p10:notes">
            <a:extLst>
              <a:ext uri="{FF2B5EF4-FFF2-40B4-BE49-F238E27FC236}">
                <a16:creationId xmlns:a16="http://schemas.microsoft.com/office/drawing/2014/main" id="{527BE0DA-4A0E-5BE5-62C9-79E9331CE3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0:notes">
            <a:extLst>
              <a:ext uri="{FF2B5EF4-FFF2-40B4-BE49-F238E27FC236}">
                <a16:creationId xmlns:a16="http://schemas.microsoft.com/office/drawing/2014/main" id="{DB669248-154A-0A0B-6F6B-B3DFBFCD3B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613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5AF3B26E-C435-F5B0-D572-C557F34DE79B}"/>
            </a:ext>
          </a:extLst>
        </p:cNvPr>
        <p:cNvGrpSpPr/>
        <p:nvPr/>
      </p:nvGrpSpPr>
      <p:grpSpPr>
        <a:xfrm>
          <a:off x="0" y="0"/>
          <a:ext cx="0" cy="0"/>
          <a:chOff x="0" y="0"/>
          <a:chExt cx="0" cy="0"/>
        </a:xfrm>
      </p:grpSpPr>
      <p:sp>
        <p:nvSpPr>
          <p:cNvPr id="166" name="Google Shape;166;p9:notes">
            <a:extLst>
              <a:ext uri="{FF2B5EF4-FFF2-40B4-BE49-F238E27FC236}">
                <a16:creationId xmlns:a16="http://schemas.microsoft.com/office/drawing/2014/main" id="{531CB650-E015-4D53-2B64-730579BBFA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9:notes">
            <a:extLst>
              <a:ext uri="{FF2B5EF4-FFF2-40B4-BE49-F238E27FC236}">
                <a16:creationId xmlns:a16="http://schemas.microsoft.com/office/drawing/2014/main" id="{4C37622D-242B-AA5A-95F1-B4BB2E1ED0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6753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385536" y="2943225"/>
            <a:ext cx="7420927" cy="2038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D4AF37"/>
                </a:solidFill>
                <a:latin typeface="Playfair Display"/>
                <a:ea typeface="Playfair Display"/>
                <a:cs typeface="Playfair Display"/>
                <a:sym typeface="Playfair Display"/>
              </a:rPr>
              <a:t>Prophetic Wisdom &amp;</a:t>
            </a:r>
            <a:br>
              <a:rPr lang="en-US" sz="1800" b="0" i="0" u="none" strike="noStrike" cap="none">
                <a:solidFill>
                  <a:schemeClr val="dk1"/>
                </a:solidFill>
                <a:latin typeface="Calibri"/>
                <a:ea typeface="Calibri"/>
                <a:cs typeface="Calibri"/>
                <a:sym typeface="Calibri"/>
              </a:rPr>
            </a:br>
            <a:r>
              <a:rPr lang="en-US" sz="6000" b="1" i="0" u="none" strike="noStrike" cap="none">
                <a:solidFill>
                  <a:srgbClr val="D4AF37"/>
                </a:solidFill>
                <a:latin typeface="Playfair Display"/>
                <a:ea typeface="Playfair Display"/>
                <a:cs typeface="Playfair Display"/>
                <a:sym typeface="Playfair Display"/>
              </a:rPr>
              <a:t> Scientific Inquiry</a:t>
            </a:r>
            <a:endParaRPr/>
          </a:p>
        </p:txBody>
      </p:sp>
      <p:sp>
        <p:nvSpPr>
          <p:cNvPr id="86" name="Google Shape;86;p13"/>
          <p:cNvSpPr txBox="1"/>
          <p:nvPr/>
        </p:nvSpPr>
        <p:spPr>
          <a:xfrm>
            <a:off x="1671637" y="5172075"/>
            <a:ext cx="8848725"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400" b="0" i="0" u="none" strike="noStrike" cap="none">
                <a:solidFill>
                  <a:srgbClr val="FDFBF7"/>
                </a:solidFill>
                <a:latin typeface="Montserrat Light"/>
                <a:ea typeface="Montserrat Light"/>
                <a:cs typeface="Montserrat Light"/>
                <a:sym typeface="Montserrat Light"/>
              </a:rPr>
              <a:t>Authentic Hadith as a Framework for Modern Reasoning</a:t>
            </a:r>
            <a:endParaRPr/>
          </a:p>
        </p:txBody>
      </p:sp>
      <p:pic>
        <p:nvPicPr>
          <p:cNvPr id="87" name="Google Shape;87;p13" descr="image.png"/>
          <p:cNvPicPr preferRelativeResize="0"/>
          <p:nvPr/>
        </p:nvPicPr>
        <p:blipFill rotWithShape="1">
          <a:blip r:embed="rId4">
            <a:alphaModFix/>
          </a:blip>
          <a:srcRect/>
          <a:stretch/>
        </p:blipFill>
        <p:spPr>
          <a:xfrm>
            <a:off x="5381625" y="1228725"/>
            <a:ext cx="1428750" cy="1428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762000" y="2524125"/>
            <a:ext cx="5143500" cy="2905125"/>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6286500" y="2524125"/>
            <a:ext cx="5143500" cy="2905125"/>
          </a:xfrm>
          <a:prstGeom prst="rect">
            <a:avLst/>
          </a:prstGeom>
          <a:noFill/>
          <a:ln>
            <a:noFill/>
          </a:ln>
        </p:spPr>
      </p:pic>
      <p:sp>
        <p:nvSpPr>
          <p:cNvPr id="95" name="Google Shape;95;p14"/>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D4AF37"/>
                </a:solidFill>
                <a:latin typeface="Playfair Display"/>
                <a:ea typeface="Playfair Display"/>
                <a:cs typeface="Playfair Display"/>
                <a:sym typeface="Playfair Display"/>
              </a:rPr>
              <a:t>Deconstructing the Myth</a:t>
            </a:r>
            <a:endParaRPr/>
          </a:p>
        </p:txBody>
      </p:sp>
      <p:sp>
        <p:nvSpPr>
          <p:cNvPr id="96" name="Google Shape;96;p14"/>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txBox="1"/>
          <p:nvPr/>
        </p:nvSpPr>
        <p:spPr>
          <a:xfrm>
            <a:off x="1152525" y="2914650"/>
            <a:ext cx="458057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4AF37"/>
                </a:solidFill>
                <a:latin typeface="Playfair Display"/>
                <a:ea typeface="Playfair Display"/>
                <a:cs typeface="Playfair Display"/>
                <a:sym typeface="Playfair Display"/>
              </a:rPr>
              <a:t>The Misconception</a:t>
            </a:r>
            <a:endParaRPr/>
          </a:p>
        </p:txBody>
      </p:sp>
      <p:sp>
        <p:nvSpPr>
          <p:cNvPr id="98" name="Google Shape;98;p14"/>
          <p:cNvSpPr txBox="1"/>
          <p:nvPr/>
        </p:nvSpPr>
        <p:spPr>
          <a:xfrm>
            <a:off x="1152525" y="3467100"/>
            <a:ext cx="4362450" cy="1571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FDFBF7"/>
                </a:solidFill>
                <a:latin typeface="Montserrat"/>
                <a:ea typeface="Montserrat"/>
                <a:cs typeface="Montserrat"/>
                <a:sym typeface="Montserrat"/>
              </a:rPr>
              <a:t>Modern narratives often present "Faith" as purely mystical and internal, while "Science" is strictly rational and external. This binary suggests they cannot coexist in one logical framework.</a:t>
            </a:r>
            <a:endParaRPr dirty="0"/>
          </a:p>
        </p:txBody>
      </p:sp>
      <p:sp>
        <p:nvSpPr>
          <p:cNvPr id="99" name="Google Shape;99;p14"/>
          <p:cNvSpPr txBox="1"/>
          <p:nvPr/>
        </p:nvSpPr>
        <p:spPr>
          <a:xfrm>
            <a:off x="6677025" y="2914650"/>
            <a:ext cx="458057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4AF37"/>
                </a:solidFill>
                <a:latin typeface="Playfair Display"/>
                <a:ea typeface="Playfair Display"/>
                <a:cs typeface="Playfair Display"/>
                <a:sym typeface="Playfair Display"/>
              </a:rPr>
              <a:t>The Prophetic Model</a:t>
            </a:r>
            <a:endParaRPr/>
          </a:p>
        </p:txBody>
      </p:sp>
      <p:sp>
        <p:nvSpPr>
          <p:cNvPr id="100" name="Google Shape;100;p14"/>
          <p:cNvSpPr txBox="1"/>
          <p:nvPr/>
        </p:nvSpPr>
        <p:spPr>
          <a:xfrm>
            <a:off x="6677025" y="3467100"/>
            <a:ext cx="4362450" cy="1571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FDFBF7"/>
                </a:solidFill>
                <a:latin typeface="Montserrat"/>
                <a:ea typeface="Montserrat"/>
                <a:cs typeface="Montserrat"/>
                <a:sym typeface="Montserrat"/>
              </a:rPr>
              <a:t>The Prophet (SAW) didn't just teach what to believe; he modeled </a:t>
            </a:r>
            <a:r>
              <a:rPr lang="en-US" sz="1650" b="1" i="0" u="none" strike="noStrike" cap="none" dirty="0">
                <a:solidFill>
                  <a:srgbClr val="FDFBF7"/>
                </a:solidFill>
                <a:latin typeface="Montserrat"/>
                <a:ea typeface="Montserrat"/>
                <a:cs typeface="Montserrat"/>
                <a:sym typeface="Montserrat"/>
              </a:rPr>
              <a:t>how to process the world</a:t>
            </a:r>
            <a:r>
              <a:rPr lang="en-US" sz="1650" b="0" i="0" u="none" strike="noStrike" cap="none" dirty="0">
                <a:solidFill>
                  <a:srgbClr val="FDFBF7"/>
                </a:solidFill>
                <a:latin typeface="Montserrat"/>
                <a:ea typeface="Montserrat"/>
                <a:cs typeface="Montserrat"/>
                <a:sym typeface="Montserrat"/>
              </a:rPr>
              <a:t> through observation, inquiry, and evidence-based reasoning as a spiritual duty.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04"/>
        <p:cNvGrpSpPr/>
        <p:nvPr/>
      </p:nvGrpSpPr>
      <p:grpSpPr>
        <a:xfrm>
          <a:off x="0" y="0"/>
          <a:ext cx="0" cy="0"/>
          <a:chOff x="0" y="0"/>
          <a:chExt cx="0" cy="0"/>
        </a:xfrm>
      </p:grpSpPr>
      <p:pic>
        <p:nvPicPr>
          <p:cNvPr id="105" name="Google Shape;10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6" name="Google Shape;106;p15" descr="image.png"/>
          <p:cNvPicPr preferRelativeResize="0"/>
          <p:nvPr/>
        </p:nvPicPr>
        <p:blipFill rotWithShape="1">
          <a:blip r:embed="rId4">
            <a:alphaModFix/>
          </a:blip>
          <a:srcRect/>
          <a:stretch/>
        </p:blipFill>
        <p:spPr>
          <a:xfrm>
            <a:off x="0" y="0"/>
            <a:ext cx="12192000" cy="5715000"/>
          </a:xfrm>
          <a:prstGeom prst="rect">
            <a:avLst/>
          </a:prstGeom>
          <a:noFill/>
          <a:ln>
            <a:noFill/>
          </a:ln>
        </p:spPr>
      </p:pic>
      <p:sp>
        <p:nvSpPr>
          <p:cNvPr id="107" name="Google Shape;107;p15"/>
          <p:cNvSpPr txBox="1"/>
          <p:nvPr/>
        </p:nvSpPr>
        <p:spPr>
          <a:xfrm>
            <a:off x="0" y="1609725"/>
            <a:ext cx="12192000" cy="1266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D4AF37"/>
                </a:solidFill>
                <a:latin typeface="Playfair Display"/>
                <a:ea typeface="Playfair Display"/>
                <a:cs typeface="Playfair Display"/>
                <a:sym typeface="Playfair Display"/>
              </a:rPr>
              <a:t>Pillar 1</a:t>
            </a:r>
            <a:endParaRPr/>
          </a:p>
        </p:txBody>
      </p:sp>
      <p:sp>
        <p:nvSpPr>
          <p:cNvPr id="108" name="Google Shape;108;p15"/>
          <p:cNvSpPr txBox="1"/>
          <p:nvPr/>
        </p:nvSpPr>
        <p:spPr>
          <a:xfrm>
            <a:off x="0" y="2971800"/>
            <a:ext cx="12192000" cy="428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250" b="0" i="0" u="none" strike="noStrike" cap="none">
                <a:solidFill>
                  <a:srgbClr val="FDFBF7"/>
                </a:solidFill>
                <a:latin typeface="Montserrat"/>
                <a:ea typeface="Montserrat"/>
                <a:cs typeface="Montserrat"/>
                <a:sym typeface="Montserrat"/>
              </a:rPr>
              <a:t>Empiricism vs. Superstition</a:t>
            </a:r>
            <a:endParaRPr/>
          </a:p>
        </p:txBody>
      </p:sp>
      <p:sp>
        <p:nvSpPr>
          <p:cNvPr id="109" name="Google Shape;109;p15"/>
          <p:cNvSpPr/>
          <p:nvPr/>
        </p:nvSpPr>
        <p:spPr>
          <a:xfrm>
            <a:off x="5381625" y="3590925"/>
            <a:ext cx="1428750" cy="381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p:cNvSpPr txBox="1"/>
          <p:nvPr/>
        </p:nvSpPr>
        <p:spPr>
          <a:xfrm>
            <a:off x="0" y="3819525"/>
            <a:ext cx="121920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FDFBF7"/>
                </a:solidFill>
                <a:latin typeface="Montserrat Light"/>
                <a:ea typeface="Montserrat Light"/>
                <a:cs typeface="Montserrat Light"/>
                <a:sym typeface="Montserrat Light"/>
              </a:rPr>
              <a:t>Establishing Objective Causality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14"/>
        <p:cNvGrpSpPr/>
        <p:nvPr/>
      </p:nvGrpSpPr>
      <p:grpSpPr>
        <a:xfrm>
          <a:off x="0" y="0"/>
          <a:ext cx="0" cy="0"/>
          <a:chOff x="0" y="0"/>
          <a:chExt cx="0" cy="0"/>
        </a:xfrm>
      </p:grpSpPr>
      <p:pic>
        <p:nvPicPr>
          <p:cNvPr id="115" name="Google Shape;11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6" name="Google Shape;116;p16"/>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D4AF37"/>
                </a:solidFill>
                <a:latin typeface="Playfair Display"/>
                <a:ea typeface="Playfair Display"/>
                <a:cs typeface="Playfair Display"/>
                <a:sym typeface="Playfair Display"/>
              </a:rPr>
              <a:t>Evidence Over Emotion</a:t>
            </a:r>
            <a:endParaRPr/>
          </a:p>
        </p:txBody>
      </p:sp>
      <p:sp>
        <p:nvSpPr>
          <p:cNvPr id="117" name="Google Shape;117;p16"/>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6"/>
          <p:cNvSpPr txBox="1"/>
          <p:nvPr/>
        </p:nvSpPr>
        <p:spPr>
          <a:xfrm>
            <a:off x="1143000" y="2318444"/>
            <a:ext cx="9906000" cy="1123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0" i="0" u="none" strike="noStrike" cap="none">
                <a:solidFill>
                  <a:srgbClr val="D4AF37"/>
                </a:solidFill>
                <a:latin typeface="Montserrat"/>
                <a:ea typeface="Montserrat"/>
                <a:cs typeface="Montserrat"/>
                <a:sym typeface="Montserrat"/>
              </a:rPr>
              <a:t>إِنَّ الشَّمْسَ وَالْقَمَرَ آيَتَانِ مِنْ آيَاتِ اللَّهِ، لاَ يَنْخَسِفَانِ لِمَوْتِ أَحَدٍ وَلاَ لِحَيَاتِهِ</a:t>
            </a:r>
            <a:endParaRPr/>
          </a:p>
        </p:txBody>
      </p:sp>
      <p:sp>
        <p:nvSpPr>
          <p:cNvPr id="119" name="Google Shape;119;p16"/>
          <p:cNvSpPr txBox="1"/>
          <p:nvPr/>
        </p:nvSpPr>
        <p:spPr>
          <a:xfrm>
            <a:off x="1143000" y="3632894"/>
            <a:ext cx="9906000" cy="1439912"/>
          </a:xfrm>
          <a:prstGeom prst="rect">
            <a:avLst/>
          </a:prstGeom>
          <a:noFill/>
          <a:ln>
            <a:noFill/>
          </a:ln>
        </p:spPr>
        <p:txBody>
          <a:bodyPr spcFirstLastPara="1" wrap="square" lIns="0" tIns="0" rIns="0" bIns="0" anchor="t" anchorCtr="0">
            <a:spAutoFit/>
          </a:bodyPr>
          <a:lstStyle/>
          <a:p>
            <a:pPr marL="0" marR="0" lvl="0" indent="0" algn="ctr" rtl="0">
              <a:lnSpc>
                <a:spcPct val="139962"/>
              </a:lnSpc>
              <a:spcBef>
                <a:spcPts val="0"/>
              </a:spcBef>
              <a:spcAft>
                <a:spcPts val="0"/>
              </a:spcAft>
              <a:buNone/>
            </a:pPr>
            <a:r>
              <a:rPr lang="en-US" sz="2700" b="0" i="1" u="none" strike="noStrike" cap="none">
                <a:solidFill>
                  <a:srgbClr val="FDFBF7"/>
                </a:solidFill>
                <a:latin typeface="Playfair Display"/>
                <a:ea typeface="Playfair Display"/>
                <a:cs typeface="Playfair Display"/>
                <a:sym typeface="Playfair Display"/>
              </a:rPr>
              <a:t> "The sun and the moon are two of the signs of Allah. They do not eclipse because of the death or life of someone. When you see them, invoke Allah and pray." </a:t>
            </a:r>
            <a:endParaRPr/>
          </a:p>
        </p:txBody>
      </p:sp>
      <p:sp>
        <p:nvSpPr>
          <p:cNvPr id="120" name="Google Shape;120;p16"/>
          <p:cNvSpPr txBox="1"/>
          <p:nvPr/>
        </p:nvSpPr>
        <p:spPr>
          <a:xfrm>
            <a:off x="2390775" y="5358556"/>
            <a:ext cx="74104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DFBF7"/>
                </a:solidFill>
                <a:latin typeface="Montserrat"/>
                <a:ea typeface="Montserrat"/>
                <a:cs typeface="Montserrat"/>
                <a:sym typeface="Montserrat"/>
              </a:rPr>
              <a:t>— Sahih al-Bukhari 1043 (Narrated on the day his son Ibrahim died)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24"/>
        <p:cNvGrpSpPr/>
        <p:nvPr/>
      </p:nvGrpSpPr>
      <p:grpSpPr>
        <a:xfrm>
          <a:off x="0" y="0"/>
          <a:ext cx="0" cy="0"/>
          <a:chOff x="0" y="0"/>
          <a:chExt cx="0" cy="0"/>
        </a:xfrm>
      </p:grpSpPr>
      <p:pic>
        <p:nvPicPr>
          <p:cNvPr id="125" name="Google Shape;12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6" name="Google Shape;126;p17"/>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D4AF37"/>
                </a:solidFill>
                <a:latin typeface="Playfair Display"/>
                <a:ea typeface="Playfair Display"/>
                <a:cs typeface="Playfair Display"/>
                <a:sym typeface="Playfair Display"/>
              </a:rPr>
              <a:t>Mapping to Objectivity</a:t>
            </a:r>
            <a:endParaRPr/>
          </a:p>
        </p:txBody>
      </p:sp>
      <p:sp>
        <p:nvSpPr>
          <p:cNvPr id="127" name="Google Shape;127;p17"/>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7"/>
          <p:cNvSpPr txBox="1"/>
          <p:nvPr/>
        </p:nvSpPr>
        <p:spPr>
          <a:xfrm>
            <a:off x="762000" y="1952625"/>
            <a:ext cx="6400800" cy="2552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0" b="0" i="0" u="none" strike="noStrike" cap="none" dirty="0">
                <a:solidFill>
                  <a:srgbClr val="D4AF37"/>
                </a:solidFill>
                <a:latin typeface="Montserrat ExtraBold"/>
                <a:ea typeface="Montserrat ExtraBold"/>
                <a:cs typeface="Montserrat ExtraBold"/>
                <a:sym typeface="Montserrat ExtraBold"/>
              </a:rPr>
              <a:t>100%</a:t>
            </a:r>
            <a:endParaRPr dirty="0"/>
          </a:p>
        </p:txBody>
      </p:sp>
      <p:sp>
        <p:nvSpPr>
          <p:cNvPr id="129" name="Google Shape;129;p17"/>
          <p:cNvSpPr txBox="1"/>
          <p:nvPr/>
        </p:nvSpPr>
        <p:spPr>
          <a:xfrm>
            <a:off x="6362700" y="3367088"/>
            <a:ext cx="2808782" cy="838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DFBF7"/>
                </a:solidFill>
                <a:latin typeface="Montserrat SemiBold"/>
                <a:ea typeface="Montserrat SemiBold"/>
                <a:cs typeface="Montserrat SemiBold"/>
                <a:sym typeface="Montserrat SemiBold"/>
              </a:rPr>
              <a:t>OBJECTIVE</a:t>
            </a:r>
            <a:br>
              <a:rPr lang="en-US" sz="1800" b="0" i="0" u="none" strike="noStrike" cap="none">
                <a:solidFill>
                  <a:schemeClr val="dk1"/>
                </a:solidFill>
                <a:latin typeface="Calibri"/>
                <a:ea typeface="Calibri"/>
                <a:cs typeface="Calibri"/>
                <a:sym typeface="Calibri"/>
              </a:rPr>
            </a:br>
            <a:r>
              <a:rPr lang="en-US" sz="2700" b="0" i="0" u="none" strike="noStrike" cap="none">
                <a:solidFill>
                  <a:srgbClr val="FDFBF7"/>
                </a:solidFill>
                <a:latin typeface="Montserrat SemiBold"/>
                <a:ea typeface="Montserrat SemiBold"/>
                <a:cs typeface="Montserrat SemiBold"/>
                <a:sym typeface="Montserrat SemiBold"/>
              </a:rPr>
              <a:t> CAUSALITY</a:t>
            </a:r>
            <a:endParaRPr/>
          </a:p>
        </p:txBody>
      </p:sp>
      <p:sp>
        <p:nvSpPr>
          <p:cNvPr id="130" name="Google Shape;130;p17"/>
          <p:cNvSpPr txBox="1"/>
          <p:nvPr/>
        </p:nvSpPr>
        <p:spPr>
          <a:xfrm>
            <a:off x="762000" y="4505325"/>
            <a:ext cx="11201400"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DFBF7"/>
                </a:solidFill>
                <a:latin typeface="Playfair Display"/>
                <a:ea typeface="Playfair Display"/>
                <a:cs typeface="Playfair Display"/>
                <a:sym typeface="Playfair Display"/>
              </a:rPr>
              <a:t>Rejecting False Correlation</a:t>
            </a:r>
            <a:endParaRPr/>
          </a:p>
        </p:txBody>
      </p:sp>
      <p:sp>
        <p:nvSpPr>
          <p:cNvPr id="131" name="Google Shape;131;p17"/>
          <p:cNvSpPr txBox="1"/>
          <p:nvPr/>
        </p:nvSpPr>
        <p:spPr>
          <a:xfrm>
            <a:off x="762000" y="4743450"/>
            <a:ext cx="106680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DFBF7"/>
                </a:solidFill>
                <a:latin typeface="Montserrat"/>
                <a:ea typeface="Montserrat"/>
                <a:cs typeface="Montserrat"/>
                <a:sym typeface="Montserrat"/>
              </a:rPr>
              <a:t>By decoupling a major celestial event (eclipse) from a deeply personal emotional loss (the death of his son), the Prophet (SAW) established the </a:t>
            </a:r>
            <a:r>
              <a:rPr lang="en-US" sz="1650" b="1" i="0" u="none" strike="noStrike" cap="none">
                <a:solidFill>
                  <a:srgbClr val="FDFBF7"/>
                </a:solidFill>
                <a:latin typeface="Montserrat"/>
                <a:ea typeface="Montserrat"/>
                <a:cs typeface="Montserrat"/>
                <a:sym typeface="Montserrat"/>
              </a:rPr>
              <a:t>Scientific Law of Causality</a:t>
            </a:r>
            <a:r>
              <a:rPr lang="en-US" sz="1650" b="0" i="0" u="none" strike="noStrike" cap="none">
                <a:solidFill>
                  <a:srgbClr val="FDFBF7"/>
                </a:solidFill>
                <a:latin typeface="Montserrat"/>
                <a:ea typeface="Montserrat"/>
                <a:cs typeface="Montserrat"/>
                <a:sym typeface="Montserrat"/>
              </a:rPr>
              <a:t>.</a:t>
            </a:r>
            <a:endParaRPr/>
          </a:p>
        </p:txBody>
      </p:sp>
      <p:sp>
        <p:nvSpPr>
          <p:cNvPr id="132" name="Google Shape;132;p17"/>
          <p:cNvSpPr txBox="1"/>
          <p:nvPr/>
        </p:nvSpPr>
        <p:spPr>
          <a:xfrm>
            <a:off x="762000" y="5372100"/>
            <a:ext cx="106680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FDFBF7"/>
                </a:solidFill>
                <a:latin typeface="Montserrat"/>
                <a:ea typeface="Montserrat"/>
                <a:cs typeface="Montserrat"/>
                <a:sym typeface="Montserrat"/>
              </a:rPr>
              <a:t>This is the core of scientific thinking: rejecting subjective myths in favor of universal physical laws established by the Creator.</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36"/>
        <p:cNvGrpSpPr/>
        <p:nvPr/>
      </p:nvGrpSpPr>
      <p:grpSpPr>
        <a:xfrm>
          <a:off x="0" y="0"/>
          <a:ext cx="0" cy="0"/>
          <a:chOff x="0" y="0"/>
          <a:chExt cx="0" cy="0"/>
        </a:xfrm>
      </p:grpSpPr>
      <p:pic>
        <p:nvPicPr>
          <p:cNvPr id="137" name="Google Shape;13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8" name="Google Shape;138;p18" descr="image.png"/>
          <p:cNvPicPr preferRelativeResize="0"/>
          <p:nvPr/>
        </p:nvPicPr>
        <p:blipFill rotWithShape="1">
          <a:blip r:embed="rId4">
            <a:alphaModFix/>
          </a:blip>
          <a:srcRect/>
          <a:stretch/>
        </p:blipFill>
        <p:spPr>
          <a:xfrm>
            <a:off x="0" y="0"/>
            <a:ext cx="12192000" cy="5715000"/>
          </a:xfrm>
          <a:prstGeom prst="rect">
            <a:avLst/>
          </a:prstGeom>
          <a:noFill/>
          <a:ln>
            <a:noFill/>
          </a:ln>
        </p:spPr>
      </p:pic>
      <p:sp>
        <p:nvSpPr>
          <p:cNvPr id="139" name="Google Shape;139;p18"/>
          <p:cNvSpPr txBox="1"/>
          <p:nvPr/>
        </p:nvSpPr>
        <p:spPr>
          <a:xfrm>
            <a:off x="0" y="1609725"/>
            <a:ext cx="12192000" cy="1266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D4AF37"/>
                </a:solidFill>
                <a:latin typeface="Playfair Display"/>
                <a:ea typeface="Playfair Display"/>
                <a:cs typeface="Playfair Display"/>
                <a:sym typeface="Playfair Display"/>
              </a:rPr>
              <a:t>Pillar 2</a:t>
            </a:r>
            <a:endParaRPr/>
          </a:p>
        </p:txBody>
      </p:sp>
      <p:sp>
        <p:nvSpPr>
          <p:cNvPr id="140" name="Google Shape;140;p18"/>
          <p:cNvSpPr txBox="1"/>
          <p:nvPr/>
        </p:nvSpPr>
        <p:spPr>
          <a:xfrm>
            <a:off x="0" y="2971800"/>
            <a:ext cx="12192000" cy="428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250" b="0" i="0" u="none" strike="noStrike" cap="none">
                <a:solidFill>
                  <a:srgbClr val="FDFBF7"/>
                </a:solidFill>
                <a:latin typeface="Montserrat"/>
                <a:ea typeface="Montserrat"/>
                <a:cs typeface="Montserrat"/>
                <a:sym typeface="Montserrat"/>
              </a:rPr>
              <a:t>Falsifiability &amp; Trial</a:t>
            </a:r>
            <a:endParaRPr/>
          </a:p>
        </p:txBody>
      </p:sp>
      <p:sp>
        <p:nvSpPr>
          <p:cNvPr id="141" name="Google Shape;141;p18"/>
          <p:cNvSpPr/>
          <p:nvPr/>
        </p:nvSpPr>
        <p:spPr>
          <a:xfrm>
            <a:off x="5381625" y="3590925"/>
            <a:ext cx="1428750" cy="381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8"/>
          <p:cNvSpPr txBox="1"/>
          <p:nvPr/>
        </p:nvSpPr>
        <p:spPr>
          <a:xfrm>
            <a:off x="0" y="3819525"/>
            <a:ext cx="121920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FDFBF7"/>
                </a:solidFill>
                <a:latin typeface="Montserrat Light"/>
                <a:ea typeface="Montserrat Light"/>
                <a:cs typeface="Montserrat Light"/>
                <a:sym typeface="Montserrat Light"/>
              </a:rPr>
              <a:t>The Autonomy of Worldly Knowledge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46"/>
        <p:cNvGrpSpPr/>
        <p:nvPr/>
      </p:nvGrpSpPr>
      <p:grpSpPr>
        <a:xfrm>
          <a:off x="0" y="0"/>
          <a:ext cx="0" cy="0"/>
          <a:chOff x="0" y="0"/>
          <a:chExt cx="0" cy="0"/>
        </a:xfrm>
      </p:grpSpPr>
      <p:pic>
        <p:nvPicPr>
          <p:cNvPr id="147" name="Google Shape;14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9"/>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D4AF37"/>
                </a:solidFill>
                <a:latin typeface="Playfair Display"/>
                <a:ea typeface="Playfair Display"/>
                <a:cs typeface="Playfair Display"/>
                <a:sym typeface="Playfair Display"/>
              </a:rPr>
              <a:t>Practical Results are Data</a:t>
            </a:r>
            <a:endParaRPr/>
          </a:p>
        </p:txBody>
      </p:sp>
      <p:sp>
        <p:nvSpPr>
          <p:cNvPr id="149" name="Google Shape;149;p19"/>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9"/>
          <p:cNvSpPr txBox="1"/>
          <p:nvPr/>
        </p:nvSpPr>
        <p:spPr>
          <a:xfrm>
            <a:off x="1143000" y="2839491"/>
            <a:ext cx="9906000" cy="5619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0" i="0" u="none" strike="noStrike" cap="none">
                <a:solidFill>
                  <a:srgbClr val="D4AF37"/>
                </a:solidFill>
                <a:latin typeface="Montserrat"/>
                <a:ea typeface="Montserrat"/>
                <a:cs typeface="Montserrat"/>
                <a:sym typeface="Montserrat"/>
              </a:rPr>
              <a:t>أَنْتُمْ أَعْلَمُ بِأَمْرِ دُنْيَاكُمْ</a:t>
            </a:r>
            <a:endParaRPr/>
          </a:p>
        </p:txBody>
      </p:sp>
      <p:sp>
        <p:nvSpPr>
          <p:cNvPr id="151" name="Google Shape;151;p19"/>
          <p:cNvSpPr txBox="1"/>
          <p:nvPr/>
        </p:nvSpPr>
        <p:spPr>
          <a:xfrm>
            <a:off x="1143000" y="3591966"/>
            <a:ext cx="9906000" cy="959941"/>
          </a:xfrm>
          <a:prstGeom prst="rect">
            <a:avLst/>
          </a:prstGeom>
          <a:noFill/>
          <a:ln>
            <a:noFill/>
          </a:ln>
        </p:spPr>
        <p:txBody>
          <a:bodyPr spcFirstLastPara="1" wrap="square" lIns="0" tIns="0" rIns="0" bIns="0" anchor="t" anchorCtr="0">
            <a:spAutoFit/>
          </a:bodyPr>
          <a:lstStyle/>
          <a:p>
            <a:pPr marL="0" marR="0" lvl="0" indent="0" algn="ctr" rtl="0">
              <a:lnSpc>
                <a:spcPct val="139962"/>
              </a:lnSpc>
              <a:spcBef>
                <a:spcPts val="0"/>
              </a:spcBef>
              <a:spcAft>
                <a:spcPts val="0"/>
              </a:spcAft>
              <a:buNone/>
            </a:pPr>
            <a:r>
              <a:rPr lang="en-US" sz="2700" b="0" i="1" u="none" strike="noStrike" cap="none">
                <a:solidFill>
                  <a:srgbClr val="FDFBF7"/>
                </a:solidFill>
                <a:latin typeface="Playfair Display"/>
                <a:ea typeface="Playfair Display"/>
                <a:cs typeface="Playfair Display"/>
                <a:sym typeface="Playfair Display"/>
              </a:rPr>
              <a:t> "You have better knowledge (of a technical skill) in the affairs of your world." </a:t>
            </a:r>
            <a:endParaRPr/>
          </a:p>
        </p:txBody>
      </p:sp>
      <p:sp>
        <p:nvSpPr>
          <p:cNvPr id="152" name="Google Shape;152;p19"/>
          <p:cNvSpPr txBox="1"/>
          <p:nvPr/>
        </p:nvSpPr>
        <p:spPr>
          <a:xfrm>
            <a:off x="2009775" y="4837658"/>
            <a:ext cx="81724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DFBF7"/>
                </a:solidFill>
                <a:latin typeface="Montserrat"/>
                <a:ea typeface="Montserrat"/>
                <a:cs typeface="Montserrat"/>
                <a:sym typeface="Montserrat"/>
              </a:rPr>
              <a:t>— Sahih Muslim 2363 (Regarding the pollination of date palms in Medina)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56"/>
        <p:cNvGrpSpPr/>
        <p:nvPr/>
      </p:nvGrpSpPr>
      <p:grpSpPr>
        <a:xfrm>
          <a:off x="0" y="0"/>
          <a:ext cx="0" cy="0"/>
          <a:chOff x="0" y="0"/>
          <a:chExt cx="0" cy="0"/>
        </a:xfrm>
      </p:grpSpPr>
      <p:pic>
        <p:nvPicPr>
          <p:cNvPr id="157" name="Google Shape;157;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8" name="Google Shape;158;p20" descr="image.png"/>
          <p:cNvPicPr preferRelativeResize="0"/>
          <p:nvPr/>
        </p:nvPicPr>
        <p:blipFill rotWithShape="1">
          <a:blip r:embed="rId4">
            <a:alphaModFix/>
          </a:blip>
          <a:srcRect/>
          <a:stretch/>
        </p:blipFill>
        <p:spPr>
          <a:xfrm>
            <a:off x="6381750" y="1833562"/>
            <a:ext cx="5048250" cy="4286250"/>
          </a:xfrm>
          <a:prstGeom prst="rect">
            <a:avLst/>
          </a:prstGeom>
          <a:noFill/>
          <a:ln>
            <a:noFill/>
          </a:ln>
        </p:spPr>
      </p:pic>
      <p:sp>
        <p:nvSpPr>
          <p:cNvPr id="159" name="Google Shape;159;p20"/>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D4AF37"/>
                </a:solidFill>
                <a:latin typeface="Playfair Display"/>
                <a:ea typeface="Playfair Display"/>
                <a:cs typeface="Playfair Display"/>
                <a:sym typeface="Playfair Display"/>
              </a:rPr>
              <a:t>The Methodology of Iteration</a:t>
            </a:r>
            <a:endParaRPr/>
          </a:p>
        </p:txBody>
      </p:sp>
      <p:sp>
        <p:nvSpPr>
          <p:cNvPr id="160" name="Google Shape;160;p20"/>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20"/>
          <p:cNvSpPr txBox="1"/>
          <p:nvPr/>
        </p:nvSpPr>
        <p:spPr>
          <a:xfrm>
            <a:off x="762000" y="2443162"/>
            <a:ext cx="5300662"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DFBF7"/>
                </a:solidFill>
                <a:latin typeface="Playfair Display"/>
                <a:ea typeface="Playfair Display"/>
                <a:cs typeface="Playfair Display"/>
                <a:sym typeface="Playfair Display"/>
              </a:rPr>
              <a:t>Expert Autonomy</a:t>
            </a:r>
            <a:endParaRPr/>
          </a:p>
        </p:txBody>
      </p:sp>
      <p:sp>
        <p:nvSpPr>
          <p:cNvPr id="162" name="Google Shape;162;p20"/>
          <p:cNvSpPr txBox="1"/>
          <p:nvPr/>
        </p:nvSpPr>
        <p:spPr>
          <a:xfrm>
            <a:off x="762000" y="2681287"/>
            <a:ext cx="5048250" cy="1571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DFBF7"/>
                </a:solidFill>
                <a:latin typeface="Montserrat"/>
                <a:ea typeface="Montserrat"/>
                <a:cs typeface="Montserrat"/>
                <a:sym typeface="Montserrat"/>
              </a:rPr>
              <a:t>When his suggestion for a change in pollination yielded less fruit, he deferred to the farmers' experience. This demonstrates </a:t>
            </a:r>
            <a:r>
              <a:rPr lang="en-US" sz="1650" b="1" i="0" u="none" strike="noStrike" cap="none">
                <a:solidFill>
                  <a:srgbClr val="FDFBF7"/>
                </a:solidFill>
                <a:latin typeface="Montserrat"/>
                <a:ea typeface="Montserrat"/>
                <a:cs typeface="Montserrat"/>
                <a:sym typeface="Montserrat"/>
              </a:rPr>
              <a:t>Falsifiability</a:t>
            </a:r>
            <a:r>
              <a:rPr lang="en-US" sz="1650" b="0" i="0" u="none" strike="noStrike" cap="none">
                <a:solidFill>
                  <a:srgbClr val="FDFBF7"/>
                </a:solidFill>
                <a:latin typeface="Montserrat"/>
                <a:ea typeface="Montserrat"/>
                <a:cs typeface="Montserrat"/>
                <a:sym typeface="Montserrat"/>
              </a:rPr>
              <a:t>: the willingness to test a hypothesis and change based on results.</a:t>
            </a:r>
            <a:endParaRPr/>
          </a:p>
        </p:txBody>
      </p:sp>
      <p:sp>
        <p:nvSpPr>
          <p:cNvPr id="163" name="Google Shape;163;p20"/>
          <p:cNvSpPr txBox="1"/>
          <p:nvPr/>
        </p:nvSpPr>
        <p:spPr>
          <a:xfrm>
            <a:off x="762000" y="4252912"/>
            <a:ext cx="5048250" cy="1257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DFBF7"/>
                </a:solidFill>
                <a:latin typeface="Montserrat"/>
                <a:ea typeface="Montserrat"/>
                <a:cs typeface="Montserrat"/>
                <a:sym typeface="Montserrat"/>
              </a:rPr>
              <a:t>He separated Divine Revelation (eternal truth) from Worldly Experimentation (iterative data), giving the "green light" for scientific specialization.</a:t>
            </a:r>
            <a:endParaRPr/>
          </a:p>
        </p:txBody>
      </p:sp>
      <p:pic>
        <p:nvPicPr>
          <p:cNvPr id="164" name="Google Shape;164;p20" descr="image.png"/>
          <p:cNvPicPr preferRelativeResize="0"/>
          <p:nvPr/>
        </p:nvPicPr>
        <p:blipFill rotWithShape="1">
          <a:blip r:embed="rId5">
            <a:alphaModFix/>
          </a:blip>
          <a:srcRect/>
          <a:stretch/>
        </p:blipFill>
        <p:spPr>
          <a:xfrm>
            <a:off x="6419850" y="1871662"/>
            <a:ext cx="4972050" cy="4210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68"/>
        <p:cNvGrpSpPr/>
        <p:nvPr/>
      </p:nvGrpSpPr>
      <p:grpSpPr>
        <a:xfrm>
          <a:off x="0" y="0"/>
          <a:ext cx="0" cy="0"/>
          <a:chOff x="0" y="0"/>
          <a:chExt cx="0" cy="0"/>
        </a:xfrm>
      </p:grpSpPr>
      <p:pic>
        <p:nvPicPr>
          <p:cNvPr id="169" name="Google Shape;169;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0" name="Google Shape;170;p21" descr="image.png"/>
          <p:cNvPicPr preferRelativeResize="0"/>
          <p:nvPr/>
        </p:nvPicPr>
        <p:blipFill rotWithShape="1">
          <a:blip r:embed="rId4">
            <a:alphaModFix/>
          </a:blip>
          <a:srcRect/>
          <a:stretch/>
        </p:blipFill>
        <p:spPr>
          <a:xfrm>
            <a:off x="0" y="0"/>
            <a:ext cx="12192000" cy="5715000"/>
          </a:xfrm>
          <a:prstGeom prst="rect">
            <a:avLst/>
          </a:prstGeom>
          <a:noFill/>
          <a:ln>
            <a:noFill/>
          </a:ln>
        </p:spPr>
      </p:pic>
      <p:sp>
        <p:nvSpPr>
          <p:cNvPr id="171" name="Google Shape;171;p21"/>
          <p:cNvSpPr txBox="1"/>
          <p:nvPr/>
        </p:nvSpPr>
        <p:spPr>
          <a:xfrm>
            <a:off x="0" y="1609725"/>
            <a:ext cx="12192000" cy="1266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dirty="0">
                <a:solidFill>
                  <a:srgbClr val="D4AF37"/>
                </a:solidFill>
                <a:latin typeface="Playfair Display"/>
                <a:ea typeface="Playfair Display"/>
                <a:cs typeface="Playfair Display"/>
                <a:sym typeface="Playfair Display"/>
              </a:rPr>
              <a:t>Pillar 3</a:t>
            </a:r>
            <a:endParaRPr dirty="0"/>
          </a:p>
        </p:txBody>
      </p:sp>
      <p:sp>
        <p:nvSpPr>
          <p:cNvPr id="172" name="Google Shape;172;p21"/>
          <p:cNvSpPr txBox="1"/>
          <p:nvPr/>
        </p:nvSpPr>
        <p:spPr>
          <a:xfrm>
            <a:off x="0" y="2971800"/>
            <a:ext cx="12192000" cy="428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250" b="0" i="0" u="none" strike="noStrike" cap="none" dirty="0">
                <a:solidFill>
                  <a:srgbClr val="FDFBF7"/>
                </a:solidFill>
                <a:latin typeface="Montserrat"/>
                <a:ea typeface="Montserrat"/>
                <a:cs typeface="Montserrat"/>
                <a:sym typeface="Montserrat"/>
              </a:rPr>
              <a:t>Systematic Medicine</a:t>
            </a:r>
            <a:endParaRPr dirty="0"/>
          </a:p>
        </p:txBody>
      </p:sp>
      <p:sp>
        <p:nvSpPr>
          <p:cNvPr id="173" name="Google Shape;173;p21"/>
          <p:cNvSpPr/>
          <p:nvPr/>
        </p:nvSpPr>
        <p:spPr>
          <a:xfrm>
            <a:off x="5381625" y="3590925"/>
            <a:ext cx="1428750" cy="381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21"/>
          <p:cNvSpPr txBox="1"/>
          <p:nvPr/>
        </p:nvSpPr>
        <p:spPr>
          <a:xfrm>
            <a:off x="0" y="3819525"/>
            <a:ext cx="121920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FDFBF7"/>
                </a:solidFill>
                <a:latin typeface="Montserrat Light"/>
                <a:ea typeface="Montserrat Light"/>
                <a:cs typeface="Montserrat Light"/>
                <a:sym typeface="Montserrat Light"/>
              </a:rPr>
              <a:t>The Call for Inductive Reasoning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78">
          <a:extLst>
            <a:ext uri="{FF2B5EF4-FFF2-40B4-BE49-F238E27FC236}">
              <a16:creationId xmlns:a16="http://schemas.microsoft.com/office/drawing/2014/main" id="{0D414F89-992B-249A-8C41-201DC5597A4C}"/>
            </a:ext>
          </a:extLst>
        </p:cNvPr>
        <p:cNvGrpSpPr/>
        <p:nvPr/>
      </p:nvGrpSpPr>
      <p:grpSpPr>
        <a:xfrm>
          <a:off x="0" y="0"/>
          <a:ext cx="0" cy="0"/>
          <a:chOff x="0" y="0"/>
          <a:chExt cx="0" cy="0"/>
        </a:xfrm>
      </p:grpSpPr>
      <p:pic>
        <p:nvPicPr>
          <p:cNvPr id="179" name="Google Shape;179;p22" descr="image.png">
            <a:extLst>
              <a:ext uri="{FF2B5EF4-FFF2-40B4-BE49-F238E27FC236}">
                <a16:creationId xmlns:a16="http://schemas.microsoft.com/office/drawing/2014/main" id="{6810F9C1-ACA0-4AFF-7980-9C9FE3E2437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3" name="Google Shape;183;p22">
            <a:extLst>
              <a:ext uri="{FF2B5EF4-FFF2-40B4-BE49-F238E27FC236}">
                <a16:creationId xmlns:a16="http://schemas.microsoft.com/office/drawing/2014/main" id="{0F353042-5FDE-8A09-433F-FE3B9871BBCE}"/>
              </a:ext>
            </a:extLst>
          </p:cNvPr>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D4AF37"/>
                </a:solidFill>
                <a:latin typeface="Playfair Display"/>
                <a:ea typeface="Playfair Display"/>
                <a:cs typeface="Playfair Display"/>
                <a:sym typeface="Playfair Display"/>
              </a:rPr>
              <a:t>The Foundation of Research</a:t>
            </a:r>
            <a:endParaRPr dirty="0"/>
          </a:p>
        </p:txBody>
      </p:sp>
      <p:sp>
        <p:nvSpPr>
          <p:cNvPr id="184" name="Google Shape;184;p22">
            <a:extLst>
              <a:ext uri="{FF2B5EF4-FFF2-40B4-BE49-F238E27FC236}">
                <a16:creationId xmlns:a16="http://schemas.microsoft.com/office/drawing/2014/main" id="{850A3ABE-3901-29DA-1FA9-BBBD089FFC67}"/>
              </a:ext>
            </a:extLst>
          </p:cNvPr>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000BC71A-94DD-D16C-5781-12354D643AF3}"/>
              </a:ext>
            </a:extLst>
          </p:cNvPr>
          <p:cNvSpPr txBox="1"/>
          <p:nvPr/>
        </p:nvSpPr>
        <p:spPr>
          <a:xfrm>
            <a:off x="2200431" y="2031951"/>
            <a:ext cx="7791138" cy="2794098"/>
          </a:xfrm>
          <a:prstGeom prst="rect">
            <a:avLst/>
          </a:prstGeom>
          <a:noFill/>
        </p:spPr>
        <p:txBody>
          <a:bodyPr wrap="square">
            <a:spAutoFit/>
          </a:bodyPr>
          <a:lstStyle/>
          <a:p>
            <a:pPr marL="457200">
              <a:lnSpc>
                <a:spcPct val="107000"/>
              </a:lnSpc>
              <a:spcAft>
                <a:spcPts val="800"/>
              </a:spcAft>
              <a:buNone/>
            </a:pPr>
            <a:r>
              <a:rPr lang="en-US" sz="3200" kern="100" dirty="0">
                <a:solidFill>
                  <a:schemeClr val="bg1"/>
                </a:solidFill>
                <a:effectLst/>
                <a:latin typeface="Liberation Serif" panose="02020603050405020304" pitchFamily="18" charset="0"/>
                <a:ea typeface="Liberation Serif" panose="02020603050405020304" pitchFamily="18" charset="0"/>
                <a:cs typeface="Liberation Serif" panose="02020603050405020304" pitchFamily="18" charset="0"/>
              </a:rPr>
              <a:t>"There is no disease that Allah has created, except that He also has created its treatment.“</a:t>
            </a:r>
          </a:p>
          <a:p>
            <a:pPr marL="457200">
              <a:lnSpc>
                <a:spcPct val="107000"/>
              </a:lnSpc>
              <a:spcAft>
                <a:spcPts val="800"/>
              </a:spcAft>
              <a:buNone/>
            </a:pPr>
            <a:r>
              <a:rPr lang="en-US" sz="3200" b="1" kern="100" dirty="0">
                <a:solidFill>
                  <a:schemeClr val="bg1"/>
                </a:solidFill>
                <a:effectLst/>
                <a:latin typeface="Liberation Serif" panose="02020603050405020304" pitchFamily="18" charset="0"/>
                <a:ea typeface="Liberation Serif" panose="02020603050405020304" pitchFamily="18" charset="0"/>
                <a:cs typeface="Liberation Serif" panose="02020603050405020304" pitchFamily="18" charset="0"/>
              </a:rPr>
              <a:t>Source:</a:t>
            </a:r>
            <a:r>
              <a:rPr lang="en-US" sz="3200" kern="100" dirty="0">
                <a:solidFill>
                  <a:schemeClr val="bg1"/>
                </a:solidFill>
                <a:effectLst/>
                <a:latin typeface="Liberation Serif" panose="02020603050405020304" pitchFamily="18" charset="0"/>
                <a:ea typeface="Liberation Serif" panose="02020603050405020304" pitchFamily="18" charset="0"/>
                <a:cs typeface="Liberation Serif" panose="02020603050405020304" pitchFamily="18" charset="0"/>
              </a:rPr>
              <a:t> </a:t>
            </a:r>
            <a:r>
              <a:rPr lang="en-US" sz="3200" i="1" kern="100" dirty="0">
                <a:solidFill>
                  <a:schemeClr val="bg1"/>
                </a:solidFill>
                <a:effectLst/>
                <a:latin typeface="Liberation Serif" panose="02020603050405020304" pitchFamily="18" charset="0"/>
                <a:ea typeface="Liberation Serif" panose="02020603050405020304" pitchFamily="18" charset="0"/>
                <a:cs typeface="Liberation Serif" panose="02020603050405020304" pitchFamily="18" charset="0"/>
              </a:rPr>
              <a:t>Sahih al-Bukhari</a:t>
            </a:r>
            <a:r>
              <a:rPr lang="en-US" sz="3200" kern="100" dirty="0">
                <a:solidFill>
                  <a:schemeClr val="bg1"/>
                </a:solidFill>
                <a:effectLst/>
                <a:latin typeface="Liberation Serif" panose="02020603050405020304" pitchFamily="18" charset="0"/>
                <a:ea typeface="Liberation Serif" panose="02020603050405020304" pitchFamily="18" charset="0"/>
                <a:cs typeface="Liberation Serif" panose="02020603050405020304" pitchFamily="18" charset="0"/>
              </a:rPr>
              <a:t>, Vol. 7, Book 71, Hadith 582 (trans. 1997).</a:t>
            </a:r>
          </a:p>
        </p:txBody>
      </p:sp>
    </p:spTree>
    <p:extLst>
      <p:ext uri="{BB962C8B-B14F-4D97-AF65-F5344CB8AC3E}">
        <p14:creationId xmlns:p14="http://schemas.microsoft.com/office/powerpoint/2010/main" val="2489053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78"/>
        <p:cNvGrpSpPr/>
        <p:nvPr/>
      </p:nvGrpSpPr>
      <p:grpSpPr>
        <a:xfrm>
          <a:off x="0" y="0"/>
          <a:ext cx="0" cy="0"/>
          <a:chOff x="0" y="0"/>
          <a:chExt cx="0" cy="0"/>
        </a:xfrm>
      </p:grpSpPr>
      <p:pic>
        <p:nvPicPr>
          <p:cNvPr id="179" name="Google Shape;17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0" name="Google Shape;180;p22" descr="image.png"/>
          <p:cNvPicPr preferRelativeResize="0"/>
          <p:nvPr/>
        </p:nvPicPr>
        <p:blipFill rotWithShape="1">
          <a:blip r:embed="rId4">
            <a:alphaModFix/>
          </a:blip>
          <a:srcRect/>
          <a:stretch/>
        </p:blipFill>
        <p:spPr>
          <a:xfrm>
            <a:off x="762000" y="2128837"/>
            <a:ext cx="3365450" cy="3695700"/>
          </a:xfrm>
          <a:prstGeom prst="rect">
            <a:avLst/>
          </a:prstGeom>
          <a:noFill/>
          <a:ln>
            <a:noFill/>
          </a:ln>
        </p:spPr>
      </p:pic>
      <p:pic>
        <p:nvPicPr>
          <p:cNvPr id="181" name="Google Shape;181;p22" descr="image.png"/>
          <p:cNvPicPr preferRelativeResize="0"/>
          <p:nvPr/>
        </p:nvPicPr>
        <p:blipFill rotWithShape="1">
          <a:blip r:embed="rId5">
            <a:alphaModFix/>
          </a:blip>
          <a:srcRect/>
          <a:stretch/>
        </p:blipFill>
        <p:spPr>
          <a:xfrm>
            <a:off x="4413200" y="2128837"/>
            <a:ext cx="3365450" cy="3695700"/>
          </a:xfrm>
          <a:prstGeom prst="rect">
            <a:avLst/>
          </a:prstGeom>
          <a:noFill/>
          <a:ln>
            <a:noFill/>
          </a:ln>
        </p:spPr>
      </p:pic>
      <p:pic>
        <p:nvPicPr>
          <p:cNvPr id="182" name="Google Shape;182;p22" descr="image.png"/>
          <p:cNvPicPr preferRelativeResize="0"/>
          <p:nvPr/>
        </p:nvPicPr>
        <p:blipFill rotWithShape="1">
          <a:blip r:embed="rId6">
            <a:alphaModFix/>
          </a:blip>
          <a:srcRect/>
          <a:stretch/>
        </p:blipFill>
        <p:spPr>
          <a:xfrm>
            <a:off x="8064400" y="2128837"/>
            <a:ext cx="3365450" cy="3695700"/>
          </a:xfrm>
          <a:prstGeom prst="rect">
            <a:avLst/>
          </a:prstGeom>
          <a:noFill/>
          <a:ln>
            <a:noFill/>
          </a:ln>
        </p:spPr>
      </p:pic>
      <p:sp>
        <p:nvSpPr>
          <p:cNvPr id="183" name="Google Shape;183;p22"/>
          <p:cNvSpPr txBox="1"/>
          <p:nvPr/>
        </p:nvSpPr>
        <p:spPr>
          <a:xfrm>
            <a:off x="762000" y="571500"/>
            <a:ext cx="112014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D4AF37"/>
                </a:solidFill>
                <a:latin typeface="Playfair Display"/>
                <a:ea typeface="Playfair Display"/>
                <a:cs typeface="Playfair Display"/>
                <a:sym typeface="Playfair Display"/>
              </a:rPr>
              <a:t>The Foundation of Research</a:t>
            </a:r>
            <a:endParaRPr/>
          </a:p>
        </p:txBody>
      </p:sp>
      <p:sp>
        <p:nvSpPr>
          <p:cNvPr id="184" name="Google Shape;184;p22"/>
          <p:cNvSpPr/>
          <p:nvPr/>
        </p:nvSpPr>
        <p:spPr>
          <a:xfrm>
            <a:off x="762000" y="1276350"/>
            <a:ext cx="10668000" cy="952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2"/>
          <p:cNvSpPr txBox="1"/>
          <p:nvPr/>
        </p:nvSpPr>
        <p:spPr>
          <a:xfrm>
            <a:off x="1077913" y="3376612"/>
            <a:ext cx="2733622"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DFBF7"/>
                </a:solidFill>
                <a:latin typeface="Playfair Display"/>
                <a:ea typeface="Playfair Display"/>
                <a:cs typeface="Playfair Display"/>
                <a:sym typeface="Playfair Display"/>
              </a:rPr>
              <a:t>Inductive Logic</a:t>
            </a:r>
            <a:endParaRPr/>
          </a:p>
        </p:txBody>
      </p:sp>
      <p:sp>
        <p:nvSpPr>
          <p:cNvPr id="186" name="Google Shape;186;p22"/>
          <p:cNvSpPr txBox="1"/>
          <p:nvPr/>
        </p:nvSpPr>
        <p:spPr>
          <a:xfrm>
            <a:off x="1143000" y="3871912"/>
            <a:ext cx="2603450" cy="1571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dirty="0">
                <a:solidFill>
                  <a:srgbClr val="FDFBF7"/>
                </a:solidFill>
                <a:latin typeface="Montserrat"/>
                <a:ea typeface="Montserrat"/>
                <a:cs typeface="Montserrat"/>
                <a:sym typeface="Montserrat"/>
              </a:rPr>
              <a:t>"There is no disease that Allah has created, except that He also has created its treatment." (Bukhari 5678)</a:t>
            </a:r>
            <a:endParaRPr dirty="0"/>
          </a:p>
        </p:txBody>
      </p:sp>
      <p:sp>
        <p:nvSpPr>
          <p:cNvPr id="187" name="Google Shape;187;p22"/>
          <p:cNvSpPr txBox="1"/>
          <p:nvPr/>
        </p:nvSpPr>
        <p:spPr>
          <a:xfrm>
            <a:off x="4729114" y="3376612"/>
            <a:ext cx="2733622"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DFBF7"/>
                </a:solidFill>
                <a:latin typeface="Playfair Display"/>
                <a:ea typeface="Playfair Display"/>
                <a:cs typeface="Playfair Display"/>
                <a:sym typeface="Playfair Display"/>
              </a:rPr>
              <a:t>Search for Cures</a:t>
            </a:r>
            <a:endParaRPr/>
          </a:p>
        </p:txBody>
      </p:sp>
      <p:sp>
        <p:nvSpPr>
          <p:cNvPr id="188" name="Google Shape;188;p22"/>
          <p:cNvSpPr txBox="1"/>
          <p:nvPr/>
        </p:nvSpPr>
        <p:spPr>
          <a:xfrm>
            <a:off x="4794200" y="3871912"/>
            <a:ext cx="2603450" cy="1571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FDFBF7"/>
                </a:solidFill>
                <a:latin typeface="Montserrat"/>
                <a:ea typeface="Montserrat"/>
                <a:cs typeface="Montserrat"/>
                <a:sym typeface="Montserrat"/>
              </a:rPr>
              <a:t>By asserting a cure </a:t>
            </a:r>
            <a:r>
              <a:rPr lang="en-US" sz="1650" b="1" i="0" u="none" strike="noStrike" cap="none">
                <a:solidFill>
                  <a:srgbClr val="FDFBF7"/>
                </a:solidFill>
                <a:latin typeface="Montserrat"/>
                <a:ea typeface="Montserrat"/>
                <a:cs typeface="Montserrat"/>
                <a:sym typeface="Montserrat"/>
              </a:rPr>
              <a:t>exists</a:t>
            </a:r>
            <a:r>
              <a:rPr lang="en-US" sz="1650" b="0" i="0" u="none" strike="noStrike" cap="none">
                <a:solidFill>
                  <a:srgbClr val="FDFBF7"/>
                </a:solidFill>
                <a:latin typeface="Montserrat"/>
                <a:ea typeface="Montserrat"/>
                <a:cs typeface="Montserrat"/>
                <a:sym typeface="Montserrat"/>
              </a:rPr>
              <a:t>, he created the philosophical mandate for centuries of Muslim medical research.</a:t>
            </a:r>
            <a:endParaRPr/>
          </a:p>
        </p:txBody>
      </p:sp>
      <p:sp>
        <p:nvSpPr>
          <p:cNvPr id="189" name="Google Shape;189;p22"/>
          <p:cNvSpPr txBox="1"/>
          <p:nvPr/>
        </p:nvSpPr>
        <p:spPr>
          <a:xfrm>
            <a:off x="8380314" y="3376612"/>
            <a:ext cx="2733622"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DFBF7"/>
                </a:solidFill>
                <a:latin typeface="Playfair Display"/>
                <a:ea typeface="Playfair Display"/>
                <a:cs typeface="Playfair Display"/>
                <a:sym typeface="Playfair Display"/>
              </a:rPr>
              <a:t>Legacy of Care</a:t>
            </a:r>
            <a:endParaRPr/>
          </a:p>
        </p:txBody>
      </p:sp>
      <p:sp>
        <p:nvSpPr>
          <p:cNvPr id="190" name="Google Shape;190;p22"/>
          <p:cNvSpPr txBox="1"/>
          <p:nvPr/>
        </p:nvSpPr>
        <p:spPr>
          <a:xfrm>
            <a:off x="8445400" y="3871912"/>
            <a:ext cx="2603450" cy="1571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FDFBF7"/>
                </a:solidFill>
                <a:latin typeface="Montserrat"/>
                <a:ea typeface="Montserrat"/>
                <a:cs typeface="Montserrat"/>
                <a:sym typeface="Montserrat"/>
              </a:rPr>
              <a:t>This shifted medicine from superstition/magic to a systematic, peer-reviewed pursuit of remedies.</a:t>
            </a:r>
            <a:endParaRPr/>
          </a:p>
        </p:txBody>
      </p:sp>
      <p:pic>
        <p:nvPicPr>
          <p:cNvPr id="191" name="Google Shape;191;p22" descr="image.png"/>
          <p:cNvPicPr preferRelativeResize="0"/>
          <p:nvPr/>
        </p:nvPicPr>
        <p:blipFill rotWithShape="1">
          <a:blip r:embed="rId7">
            <a:alphaModFix/>
          </a:blip>
          <a:srcRect/>
          <a:stretch/>
        </p:blipFill>
        <p:spPr>
          <a:xfrm>
            <a:off x="2235100" y="2595562"/>
            <a:ext cx="419100" cy="476250"/>
          </a:xfrm>
          <a:prstGeom prst="rect">
            <a:avLst/>
          </a:prstGeom>
          <a:noFill/>
          <a:ln>
            <a:noFill/>
          </a:ln>
        </p:spPr>
      </p:pic>
      <p:pic>
        <p:nvPicPr>
          <p:cNvPr id="192" name="Google Shape;192;p22" descr="image.png"/>
          <p:cNvPicPr preferRelativeResize="0"/>
          <p:nvPr/>
        </p:nvPicPr>
        <p:blipFill rotWithShape="1">
          <a:blip r:embed="rId8">
            <a:alphaModFix/>
          </a:blip>
          <a:srcRect/>
          <a:stretch/>
        </p:blipFill>
        <p:spPr>
          <a:xfrm>
            <a:off x="5857726" y="2595562"/>
            <a:ext cx="476250" cy="476250"/>
          </a:xfrm>
          <a:prstGeom prst="rect">
            <a:avLst/>
          </a:prstGeom>
          <a:noFill/>
          <a:ln>
            <a:noFill/>
          </a:ln>
        </p:spPr>
      </p:pic>
      <p:pic>
        <p:nvPicPr>
          <p:cNvPr id="193" name="Google Shape;193;p22" descr="image.png"/>
          <p:cNvPicPr preferRelativeResize="0"/>
          <p:nvPr/>
        </p:nvPicPr>
        <p:blipFill rotWithShape="1">
          <a:blip r:embed="rId9">
            <a:alphaModFix/>
          </a:blip>
          <a:srcRect/>
          <a:stretch/>
        </p:blipFill>
        <p:spPr>
          <a:xfrm>
            <a:off x="9447014" y="2595562"/>
            <a:ext cx="600075" cy="476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197"/>
        <p:cNvGrpSpPr/>
        <p:nvPr/>
      </p:nvGrpSpPr>
      <p:grpSpPr>
        <a:xfrm>
          <a:off x="0" y="0"/>
          <a:ext cx="0" cy="0"/>
          <a:chOff x="0" y="0"/>
          <a:chExt cx="0" cy="0"/>
        </a:xfrm>
      </p:grpSpPr>
      <p:pic>
        <p:nvPicPr>
          <p:cNvPr id="198" name="Google Shape;198;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9" name="Google Shape;199;p23" descr="image.png"/>
          <p:cNvPicPr preferRelativeResize="0"/>
          <p:nvPr/>
        </p:nvPicPr>
        <p:blipFill rotWithShape="1">
          <a:blip r:embed="rId4">
            <a:alphaModFix/>
          </a:blip>
          <a:srcRect/>
          <a:stretch/>
        </p:blipFill>
        <p:spPr>
          <a:xfrm>
            <a:off x="0" y="0"/>
            <a:ext cx="12192000" cy="6858000"/>
          </a:xfrm>
          <a:prstGeom prst="rect">
            <a:avLst/>
          </a:prstGeom>
          <a:noFill/>
          <a:ln>
            <a:noFill/>
          </a:ln>
        </p:spPr>
      </p:pic>
      <p:pic>
        <p:nvPicPr>
          <p:cNvPr id="200" name="Google Shape;200;p23" descr="image.png"/>
          <p:cNvPicPr preferRelativeResize="0"/>
          <p:nvPr/>
        </p:nvPicPr>
        <p:blipFill rotWithShape="1">
          <a:blip r:embed="rId5">
            <a:alphaModFix/>
          </a:blip>
          <a:srcRect/>
          <a:stretch/>
        </p:blipFill>
        <p:spPr>
          <a:xfrm>
            <a:off x="4395787" y="4649092"/>
            <a:ext cx="3400425" cy="600075"/>
          </a:xfrm>
          <a:prstGeom prst="rect">
            <a:avLst/>
          </a:prstGeom>
          <a:noFill/>
          <a:ln>
            <a:noFill/>
          </a:ln>
        </p:spPr>
      </p:pic>
      <p:sp>
        <p:nvSpPr>
          <p:cNvPr id="201" name="Google Shape;201;p23"/>
          <p:cNvSpPr txBox="1"/>
          <p:nvPr/>
        </p:nvSpPr>
        <p:spPr>
          <a:xfrm>
            <a:off x="3500675" y="1608832"/>
            <a:ext cx="5190648"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D4AF37"/>
                </a:solidFill>
                <a:latin typeface="Playfair Display"/>
                <a:ea typeface="Playfair Display"/>
                <a:cs typeface="Playfair Display"/>
                <a:sym typeface="Playfair Display"/>
              </a:rPr>
              <a:t>Curiosity as Ibadah</a:t>
            </a:r>
            <a:endParaRPr/>
          </a:p>
        </p:txBody>
      </p:sp>
      <p:sp>
        <p:nvSpPr>
          <p:cNvPr id="202" name="Google Shape;202;p23"/>
          <p:cNvSpPr txBox="1"/>
          <p:nvPr/>
        </p:nvSpPr>
        <p:spPr>
          <a:xfrm>
            <a:off x="1809750" y="2561332"/>
            <a:ext cx="8572500" cy="170676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FDFBF7"/>
                </a:solidFill>
                <a:latin typeface="Montserrat"/>
                <a:ea typeface="Montserrat"/>
                <a:cs typeface="Montserrat"/>
                <a:sym typeface="Montserrat"/>
              </a:rPr>
              <a:t>Scientific thinking isn't an "add-on" to faith; it is baked into the Prophetic requirement to "read" and "reflect" on the universe. The Prophet (SAW) didn't just give answers; he taught a framework for asking better questions.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2A256883-F518-3ED9-2D59-664723DE10BD}"/>
            </a:ext>
          </a:extLst>
        </p:cNvPr>
        <p:cNvGrpSpPr/>
        <p:nvPr/>
      </p:nvGrpSpPr>
      <p:grpSpPr>
        <a:xfrm>
          <a:off x="0" y="0"/>
          <a:ext cx="0" cy="0"/>
          <a:chOff x="0" y="0"/>
          <a:chExt cx="0" cy="0"/>
        </a:xfrm>
      </p:grpSpPr>
      <p:pic>
        <p:nvPicPr>
          <p:cNvPr id="169" name="Google Shape;169;p21" descr="image.png">
            <a:extLst>
              <a:ext uri="{FF2B5EF4-FFF2-40B4-BE49-F238E27FC236}">
                <a16:creationId xmlns:a16="http://schemas.microsoft.com/office/drawing/2014/main" id="{B7C04586-93A3-E23B-0B28-BE044FAD4873}"/>
              </a:ext>
            </a:extLst>
          </p:cNvPr>
          <p:cNvPicPr preferRelativeResize="0"/>
          <p:nvPr/>
        </p:nvPicPr>
        <p:blipFill rotWithShape="1">
          <a:blip r:embed="rId3">
            <a:alphaModFix/>
          </a:blip>
          <a:srcRect/>
          <a:stretch/>
        </p:blipFill>
        <p:spPr>
          <a:xfrm>
            <a:off x="14990" y="0"/>
            <a:ext cx="12192000" cy="6858000"/>
          </a:xfrm>
          <a:prstGeom prst="rect">
            <a:avLst/>
          </a:prstGeom>
          <a:noFill/>
          <a:ln>
            <a:noFill/>
          </a:ln>
        </p:spPr>
      </p:pic>
      <p:pic>
        <p:nvPicPr>
          <p:cNvPr id="170" name="Google Shape;170;p21" descr="image.png">
            <a:extLst>
              <a:ext uri="{FF2B5EF4-FFF2-40B4-BE49-F238E27FC236}">
                <a16:creationId xmlns:a16="http://schemas.microsoft.com/office/drawing/2014/main" id="{C4638352-5EBF-3B6F-A2DC-513B604C6F80}"/>
              </a:ext>
            </a:extLst>
          </p:cNvPr>
          <p:cNvPicPr preferRelativeResize="0"/>
          <p:nvPr/>
        </p:nvPicPr>
        <p:blipFill rotWithShape="1">
          <a:blip r:embed="rId4">
            <a:alphaModFix/>
          </a:blip>
          <a:srcRect/>
          <a:stretch/>
        </p:blipFill>
        <p:spPr>
          <a:xfrm>
            <a:off x="0" y="0"/>
            <a:ext cx="12192000" cy="5715000"/>
          </a:xfrm>
          <a:prstGeom prst="rect">
            <a:avLst/>
          </a:prstGeom>
          <a:noFill/>
          <a:ln>
            <a:noFill/>
          </a:ln>
        </p:spPr>
      </p:pic>
      <p:sp>
        <p:nvSpPr>
          <p:cNvPr id="171" name="Google Shape;171;p21">
            <a:extLst>
              <a:ext uri="{FF2B5EF4-FFF2-40B4-BE49-F238E27FC236}">
                <a16:creationId xmlns:a16="http://schemas.microsoft.com/office/drawing/2014/main" id="{E544152A-B6D4-5B98-31E2-2F6B40E5EC07}"/>
              </a:ext>
            </a:extLst>
          </p:cNvPr>
          <p:cNvSpPr txBox="1"/>
          <p:nvPr/>
        </p:nvSpPr>
        <p:spPr>
          <a:xfrm>
            <a:off x="0" y="1609725"/>
            <a:ext cx="12192000" cy="115416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dirty="0">
                <a:solidFill>
                  <a:srgbClr val="D4AF37"/>
                </a:solidFill>
                <a:latin typeface="Playfair Display"/>
                <a:sym typeface="Playfair Display"/>
              </a:rPr>
              <a:t>Additional Pillars</a:t>
            </a:r>
            <a:endParaRPr dirty="0"/>
          </a:p>
        </p:txBody>
      </p:sp>
      <p:sp>
        <p:nvSpPr>
          <p:cNvPr id="172" name="Google Shape;172;p21">
            <a:extLst>
              <a:ext uri="{FF2B5EF4-FFF2-40B4-BE49-F238E27FC236}">
                <a16:creationId xmlns:a16="http://schemas.microsoft.com/office/drawing/2014/main" id="{B3D88329-DBAA-26AC-6343-C07F7FDF51D7}"/>
              </a:ext>
            </a:extLst>
          </p:cNvPr>
          <p:cNvSpPr txBox="1"/>
          <p:nvPr/>
        </p:nvSpPr>
        <p:spPr>
          <a:xfrm>
            <a:off x="826957" y="2857500"/>
            <a:ext cx="10538085" cy="2596865"/>
          </a:xfrm>
          <a:prstGeom prst="rect">
            <a:avLst/>
          </a:prstGeom>
          <a:noFill/>
          <a:ln>
            <a:noFill/>
          </a:ln>
        </p:spPr>
        <p:txBody>
          <a:bodyPr spcFirstLastPara="1" wrap="square" lIns="0" tIns="0" rIns="0" bIns="0" anchor="t" anchorCtr="0">
            <a:spAutoFit/>
          </a:bodyPr>
          <a:lstStyle/>
          <a:p>
            <a:pPr marL="457200" marR="0" lvl="0" indent="-457200" algn="ctr" rtl="0">
              <a:lnSpc>
                <a:spcPct val="150000"/>
              </a:lnSpc>
              <a:spcBef>
                <a:spcPts val="0"/>
              </a:spcBef>
              <a:spcAft>
                <a:spcPts val="0"/>
              </a:spcAft>
              <a:buClr>
                <a:schemeClr val="bg1"/>
              </a:buClr>
              <a:buFont typeface="+mj-lt"/>
              <a:buAutoNum type="arabicPeriod"/>
            </a:pPr>
            <a:r>
              <a:rPr lang="en-US" sz="2250" b="0" i="0" u="none" strike="noStrike" cap="none" dirty="0">
                <a:solidFill>
                  <a:schemeClr val="bg1"/>
                </a:solidFill>
                <a:latin typeface="Montserrat"/>
                <a:ea typeface="Montserrat"/>
                <a:cs typeface="Montserrat"/>
                <a:sym typeface="Montserrat"/>
              </a:rPr>
              <a:t>Prohibition of ‘</a:t>
            </a:r>
            <a:r>
              <a:rPr lang="en-US" sz="2250" b="0" i="0" u="none" strike="noStrike" cap="none" dirty="0" err="1">
                <a:solidFill>
                  <a:schemeClr val="bg1"/>
                </a:solidFill>
                <a:latin typeface="Montserrat"/>
                <a:ea typeface="Montserrat"/>
                <a:cs typeface="Montserrat"/>
                <a:sym typeface="Montserrat"/>
              </a:rPr>
              <a:t>Ghilah</a:t>
            </a:r>
            <a:r>
              <a:rPr lang="en-US" sz="2250" b="0" i="0" u="none" strike="noStrike" cap="none" dirty="0">
                <a:solidFill>
                  <a:schemeClr val="bg1"/>
                </a:solidFill>
                <a:latin typeface="Montserrat"/>
                <a:ea typeface="Montserrat"/>
                <a:cs typeface="Montserrat"/>
                <a:sym typeface="Montserrat"/>
              </a:rPr>
              <a:t>’ (copulation with breastfeeding mothers) - Sunan an-</a:t>
            </a:r>
            <a:r>
              <a:rPr lang="en-US" sz="2250" b="0" i="0" u="none" strike="noStrike" cap="none" dirty="0" err="1">
                <a:solidFill>
                  <a:schemeClr val="bg1"/>
                </a:solidFill>
                <a:latin typeface="Montserrat"/>
                <a:ea typeface="Montserrat"/>
                <a:cs typeface="Montserrat"/>
                <a:sym typeface="Montserrat"/>
              </a:rPr>
              <a:t>Nasa'ie</a:t>
            </a:r>
            <a:endParaRPr lang="en-US" sz="2250" b="0" i="0" u="none" strike="noStrike" cap="none" dirty="0">
              <a:solidFill>
                <a:schemeClr val="bg1"/>
              </a:solidFill>
              <a:latin typeface="Montserrat"/>
              <a:ea typeface="Montserrat"/>
              <a:cs typeface="Montserrat"/>
              <a:sym typeface="Montserrat"/>
            </a:endParaRPr>
          </a:p>
          <a:p>
            <a:pPr marL="457200" marR="0" lvl="0" indent="-457200" algn="ctr" rtl="0">
              <a:lnSpc>
                <a:spcPct val="150000"/>
              </a:lnSpc>
              <a:spcBef>
                <a:spcPts val="0"/>
              </a:spcBef>
              <a:spcAft>
                <a:spcPts val="0"/>
              </a:spcAft>
              <a:buClr>
                <a:schemeClr val="bg1"/>
              </a:buClr>
              <a:buFont typeface="+mj-lt"/>
              <a:buAutoNum type="arabicPeriod"/>
            </a:pPr>
            <a:r>
              <a:rPr lang="en-US" sz="2250" b="0" i="0" u="none" strike="noStrike" cap="none" dirty="0">
                <a:solidFill>
                  <a:schemeClr val="bg1"/>
                </a:solidFill>
                <a:latin typeface="Montserrat"/>
                <a:ea typeface="Montserrat"/>
                <a:cs typeface="Montserrat"/>
                <a:sym typeface="Montserrat"/>
              </a:rPr>
              <a:t>The Battle of the Trench - </a:t>
            </a:r>
            <a:r>
              <a:rPr lang="en-US" sz="2250" b="0" i="0" u="none" strike="noStrike" cap="none" dirty="0" err="1">
                <a:solidFill>
                  <a:schemeClr val="bg1"/>
                </a:solidFill>
                <a:latin typeface="Montserrat"/>
                <a:ea typeface="Montserrat"/>
                <a:cs typeface="Montserrat"/>
                <a:sym typeface="Montserrat"/>
              </a:rPr>
              <a:t>Ar</a:t>
            </a:r>
            <a:r>
              <a:rPr lang="en-US" sz="2250" b="0" i="0" u="none" strike="noStrike" cap="none" dirty="0">
                <a:solidFill>
                  <a:schemeClr val="bg1"/>
                </a:solidFill>
                <a:latin typeface="Montserrat"/>
                <a:ea typeface="Montserrat"/>
                <a:cs typeface="Montserrat"/>
                <a:sym typeface="Montserrat"/>
              </a:rPr>
              <a:t>-Raheeq Al-</a:t>
            </a:r>
            <a:r>
              <a:rPr lang="en-US" sz="2250" b="0" i="0" u="none" strike="noStrike" cap="none" dirty="0" err="1">
                <a:solidFill>
                  <a:schemeClr val="bg1"/>
                </a:solidFill>
                <a:latin typeface="Montserrat"/>
                <a:ea typeface="Montserrat"/>
                <a:cs typeface="Montserrat"/>
                <a:sym typeface="Montserrat"/>
              </a:rPr>
              <a:t>Makhtum</a:t>
            </a:r>
            <a:endParaRPr lang="en-US" sz="2250" b="0" i="0" u="none" strike="noStrike" cap="none" dirty="0">
              <a:solidFill>
                <a:schemeClr val="bg1"/>
              </a:solidFill>
              <a:latin typeface="Montserrat"/>
              <a:ea typeface="Montserrat"/>
              <a:cs typeface="Montserrat"/>
              <a:sym typeface="Montserrat"/>
            </a:endParaRPr>
          </a:p>
          <a:p>
            <a:pPr marL="457200" marR="0" lvl="0" indent="-457200" algn="ctr" rtl="0">
              <a:lnSpc>
                <a:spcPct val="150000"/>
              </a:lnSpc>
              <a:spcBef>
                <a:spcPts val="0"/>
              </a:spcBef>
              <a:spcAft>
                <a:spcPts val="0"/>
              </a:spcAft>
              <a:buClr>
                <a:schemeClr val="bg1"/>
              </a:buClr>
              <a:buFont typeface="+mj-lt"/>
              <a:buAutoNum type="arabicPeriod"/>
            </a:pPr>
            <a:r>
              <a:rPr lang="en-US" sz="2250" b="0" i="0" u="none" strike="noStrike" cap="none" dirty="0">
                <a:solidFill>
                  <a:schemeClr val="bg1"/>
                </a:solidFill>
                <a:latin typeface="Montserrat"/>
                <a:ea typeface="Montserrat"/>
                <a:cs typeface="Montserrat"/>
                <a:sym typeface="Montserrat"/>
              </a:rPr>
              <a:t>Determining the Start and End of Ramadan - Sahih Bukhari, Volume 3, Book 31, Hadith 133.</a:t>
            </a:r>
          </a:p>
        </p:txBody>
      </p:sp>
    </p:spTree>
    <p:extLst>
      <p:ext uri="{BB962C8B-B14F-4D97-AF65-F5344CB8AC3E}">
        <p14:creationId xmlns:p14="http://schemas.microsoft.com/office/powerpoint/2010/main" val="603508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Shape 206"/>
        <p:cNvGrpSpPr/>
        <p:nvPr/>
      </p:nvGrpSpPr>
      <p:grpSpPr>
        <a:xfrm>
          <a:off x="0" y="0"/>
          <a:ext cx="0" cy="0"/>
          <a:chOff x="0" y="0"/>
          <a:chExt cx="0" cy="0"/>
        </a:xfrm>
      </p:grpSpPr>
      <p:pic>
        <p:nvPicPr>
          <p:cNvPr id="207" name="Google Shape;207;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8" name="Google Shape;208;p24"/>
          <p:cNvSpPr txBox="1"/>
          <p:nvPr/>
        </p:nvSpPr>
        <p:spPr>
          <a:xfrm>
            <a:off x="495300" y="571500"/>
            <a:ext cx="11201400"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0" b="1" i="0" u="none" strike="noStrike" cap="none">
                <a:solidFill>
                  <a:srgbClr val="D4AF37"/>
                </a:solidFill>
                <a:latin typeface="Playfair Display"/>
                <a:ea typeface="Playfair Display"/>
                <a:cs typeface="Playfair Display"/>
                <a:sym typeface="Playfair Display"/>
              </a:rPr>
              <a:t>Questions?</a:t>
            </a:r>
            <a:endParaRPr/>
          </a:p>
        </p:txBody>
      </p:sp>
      <p:sp>
        <p:nvSpPr>
          <p:cNvPr id="209" name="Google Shape;209;p24"/>
          <p:cNvSpPr txBox="1"/>
          <p:nvPr/>
        </p:nvSpPr>
        <p:spPr>
          <a:xfrm>
            <a:off x="762000" y="2095500"/>
            <a:ext cx="10668000" cy="428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250" b="0" i="0" u="none" strike="noStrike" cap="none">
                <a:solidFill>
                  <a:srgbClr val="FDFBF7"/>
                </a:solidFill>
                <a:latin typeface="Montserrat"/>
                <a:ea typeface="Montserrat"/>
                <a:cs typeface="Montserrat"/>
                <a:sym typeface="Montserrat"/>
              </a:rPr>
              <a:t>Exploring the Intersection of Reason and Revelation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577</Words>
  <Application>Microsoft Office PowerPoint</Application>
  <PresentationFormat>Widescreen</PresentationFormat>
  <Paragraphs>52</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Calibri</vt:lpstr>
      <vt:lpstr>Liberation Serif</vt:lpstr>
      <vt:lpstr>Montserrat Light</vt:lpstr>
      <vt:lpstr>Montserrat</vt:lpstr>
      <vt:lpstr>Arial</vt:lpstr>
      <vt:lpstr>Montserrat SemiBold</vt:lpstr>
      <vt:lpstr>Montserrat ExtraBold</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SHAFIQ R</cp:lastModifiedBy>
  <cp:revision>3</cp:revision>
  <dcterms:modified xsi:type="dcterms:W3CDTF">2026-03-05T16:15:17Z</dcterms:modified>
</cp:coreProperties>
</file>