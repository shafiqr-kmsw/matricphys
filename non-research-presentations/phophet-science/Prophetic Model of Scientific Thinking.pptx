
<file path=[Content_Types].xml><?xml version="1.0" encoding="utf-8"?>
<Types xmlns="http://schemas.openxmlformats.org/package/2006/content-types">
  <Default ContentType="application/x-fontdata" Extension="fntdata"/>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9" r:id="rId4"/>
  </p:sldMasterIdLst>
  <p:notesMasterIdLst>
    <p:notesMasterId r:id="rId5"/>
  </p:notesMasterIdLst>
  <p:sldIdLst>
    <p:sldId id="256" r:id="rId6"/>
    <p:sldId id="257" r:id="rId7"/>
    <p:sldId id="258" r:id="rId8"/>
    <p:sldId id="259" r:id="rId9"/>
    <p:sldId id="260" r:id="rId10"/>
    <p:sldId id="261" r:id="rId11"/>
    <p:sldId id="262" r:id="rId12"/>
    <p:sldId id="263" r:id="rId13"/>
    <p:sldId id="264" r:id="rId14"/>
    <p:sldId id="265" r:id="rId15"/>
    <p:sldId id="266" r:id="rId16"/>
    <p:sldId id="267" r:id="rId17"/>
    <p:sldId id="268" r:id="rId18"/>
  </p:sldIdLst>
  <p:sldSz cy="6858000" cx="12192000"/>
  <p:notesSz cx="6858000" cy="9144000"/>
  <p:embeddedFontLst>
    <p:embeddedFont>
      <p:font typeface="Montserrat SemiBold"/>
      <p:regular r:id="rId19"/>
      <p:bold r:id="rId20"/>
      <p:italic r:id="rId21"/>
      <p:boldItalic r:id="rId22"/>
    </p:embeddedFont>
    <p:embeddedFont>
      <p:font typeface="Playfair Display"/>
      <p:regular r:id="rId23"/>
      <p:bold r:id="rId24"/>
      <p:italic r:id="rId25"/>
      <p:boldItalic r:id="rId26"/>
    </p:embeddedFont>
    <p:embeddedFont>
      <p:font typeface="Montserrat"/>
      <p:regular r:id="rId27"/>
      <p:bold r:id="rId28"/>
      <p:italic r:id="rId29"/>
      <p:boldItalic r:id="rId30"/>
    </p:embeddedFont>
    <p:embeddedFont>
      <p:font typeface="Montserrat Light"/>
      <p:regular r:id="rId31"/>
      <p:bold r:id="rId32"/>
      <p:italic r:id="rId33"/>
      <p:boldItalic r:id="rId34"/>
    </p:embeddedFont>
    <p:embeddedFont>
      <p:font typeface="Montserrat ExtraBold"/>
      <p:bold r:id="rId35"/>
      <p:boldItalic r:id="rId3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font" Target="fonts/MontserratSemiBold-bold.fntdata"/><Relationship Id="rId22" Type="http://schemas.openxmlformats.org/officeDocument/2006/relationships/font" Target="fonts/MontserratSemiBold-boldItalic.fntdata"/><Relationship Id="rId21" Type="http://schemas.openxmlformats.org/officeDocument/2006/relationships/font" Target="fonts/MontserratSemiBold-italic.fntdata"/><Relationship Id="rId24" Type="http://schemas.openxmlformats.org/officeDocument/2006/relationships/font" Target="fonts/PlayfairDisplay-bold.fntdata"/><Relationship Id="rId23" Type="http://schemas.openxmlformats.org/officeDocument/2006/relationships/font" Target="fonts/PlayfairDisplay-regular.fntdata"/><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4.xml"/><Relationship Id="rId26" Type="http://schemas.openxmlformats.org/officeDocument/2006/relationships/font" Target="fonts/PlayfairDisplay-boldItalic.fntdata"/><Relationship Id="rId25" Type="http://schemas.openxmlformats.org/officeDocument/2006/relationships/font" Target="fonts/PlayfairDisplay-italic.fntdata"/><Relationship Id="rId28" Type="http://schemas.openxmlformats.org/officeDocument/2006/relationships/font" Target="fonts/Montserrat-bold.fntdata"/><Relationship Id="rId27" Type="http://schemas.openxmlformats.org/officeDocument/2006/relationships/font" Target="fonts/Montserrat-regular.fntdata"/><Relationship Id="rId5" Type="http://schemas.openxmlformats.org/officeDocument/2006/relationships/notesMaster" Target="notesMasters/notesMaster1.xml"/><Relationship Id="rId6" Type="http://schemas.openxmlformats.org/officeDocument/2006/relationships/slide" Target="slides/slide1.xml"/><Relationship Id="rId29" Type="http://schemas.openxmlformats.org/officeDocument/2006/relationships/font" Target="fonts/Montserrat-italic.fntdata"/><Relationship Id="rId7" Type="http://schemas.openxmlformats.org/officeDocument/2006/relationships/slide" Target="slides/slide2.xml"/><Relationship Id="rId8" Type="http://schemas.openxmlformats.org/officeDocument/2006/relationships/slide" Target="slides/slide3.xml"/><Relationship Id="rId31" Type="http://schemas.openxmlformats.org/officeDocument/2006/relationships/font" Target="fonts/MontserratLight-regular.fntdata"/><Relationship Id="rId30" Type="http://schemas.openxmlformats.org/officeDocument/2006/relationships/font" Target="fonts/Montserrat-boldItalic.fntdata"/><Relationship Id="rId11" Type="http://schemas.openxmlformats.org/officeDocument/2006/relationships/slide" Target="slides/slide6.xml"/><Relationship Id="rId33" Type="http://schemas.openxmlformats.org/officeDocument/2006/relationships/font" Target="fonts/MontserratLight-italic.fntdata"/><Relationship Id="rId10" Type="http://schemas.openxmlformats.org/officeDocument/2006/relationships/slide" Target="slides/slide5.xml"/><Relationship Id="rId32" Type="http://schemas.openxmlformats.org/officeDocument/2006/relationships/font" Target="fonts/MontserratLight-bold.fntdata"/><Relationship Id="rId13" Type="http://schemas.openxmlformats.org/officeDocument/2006/relationships/slide" Target="slides/slide8.xml"/><Relationship Id="rId35" Type="http://schemas.openxmlformats.org/officeDocument/2006/relationships/font" Target="fonts/MontserratExtraBold-bold.fntdata"/><Relationship Id="rId12" Type="http://schemas.openxmlformats.org/officeDocument/2006/relationships/slide" Target="slides/slide7.xml"/><Relationship Id="rId34" Type="http://schemas.openxmlformats.org/officeDocument/2006/relationships/font" Target="fonts/MontserratLight-boldItalic.fntdata"/><Relationship Id="rId15" Type="http://schemas.openxmlformats.org/officeDocument/2006/relationships/slide" Target="slides/slide10.xml"/><Relationship Id="rId14" Type="http://schemas.openxmlformats.org/officeDocument/2006/relationships/slide" Target="slides/slide9.xml"/><Relationship Id="rId36" Type="http://schemas.openxmlformats.org/officeDocument/2006/relationships/font" Target="fonts/MontserratExtraBold-boldItalic.fntdata"/><Relationship Id="rId17" Type="http://schemas.openxmlformats.org/officeDocument/2006/relationships/slide" Target="slides/slide12.xml"/><Relationship Id="rId16" Type="http://schemas.openxmlformats.org/officeDocument/2006/relationships/slide" Target="slides/slide11.xml"/><Relationship Id="rId19" Type="http://schemas.openxmlformats.org/officeDocument/2006/relationships/font" Target="fonts/MontserratSemiBold-regular.fntdata"/><Relationship Id="rId18"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8" name="Shape 88"/>
        <p:cNvGrpSpPr/>
        <p:nvPr/>
      </p:nvGrpSpPr>
      <p:grpSpPr>
        <a:xfrm>
          <a:off x="0" y="0"/>
          <a:ext cx="0" cy="0"/>
          <a:chOff x="0" y="0"/>
          <a:chExt cx="0" cy="0"/>
        </a:xfrm>
      </p:grpSpPr>
      <p:sp>
        <p:nvSpPr>
          <p:cNvPr id="89" name="Google Shape;89;p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90" name="Google Shape;90;p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1" name="Shape 101"/>
        <p:cNvGrpSpPr/>
        <p:nvPr/>
      </p:nvGrpSpPr>
      <p:grpSpPr>
        <a:xfrm>
          <a:off x="0" y="0"/>
          <a:ext cx="0" cy="0"/>
          <a:chOff x="0" y="0"/>
          <a:chExt cx="0" cy="0"/>
        </a:xfrm>
      </p:grpSpPr>
      <p:sp>
        <p:nvSpPr>
          <p:cNvPr id="102" name="Google Shape;102;p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03" name="Google Shape;103;p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p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13" name="Google Shape;113;p4: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1" name="Shape 121"/>
        <p:cNvGrpSpPr/>
        <p:nvPr/>
      </p:nvGrpSpPr>
      <p:grpSpPr>
        <a:xfrm>
          <a:off x="0" y="0"/>
          <a:ext cx="0" cy="0"/>
          <a:chOff x="0" y="0"/>
          <a:chExt cx="0" cy="0"/>
        </a:xfrm>
      </p:grpSpPr>
      <p:sp>
        <p:nvSpPr>
          <p:cNvPr id="122" name="Google Shape;122;p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5: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3" name="Shape 133"/>
        <p:cNvGrpSpPr/>
        <p:nvPr/>
      </p:nvGrpSpPr>
      <p:grpSpPr>
        <a:xfrm>
          <a:off x="0" y="0"/>
          <a:ext cx="0" cy="0"/>
          <a:chOff x="0" y="0"/>
          <a:chExt cx="0" cy="0"/>
        </a:xfrm>
      </p:grpSpPr>
      <p:sp>
        <p:nvSpPr>
          <p:cNvPr id="134" name="Google Shape;134;p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35" name="Google Shape;135;p6: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3" name="Shape 143"/>
        <p:cNvGrpSpPr/>
        <p:nvPr/>
      </p:nvGrpSpPr>
      <p:grpSpPr>
        <a:xfrm>
          <a:off x="0" y="0"/>
          <a:ext cx="0" cy="0"/>
          <a:chOff x="0" y="0"/>
          <a:chExt cx="0" cy="0"/>
        </a:xfrm>
      </p:grpSpPr>
      <p:sp>
        <p:nvSpPr>
          <p:cNvPr id="144" name="Google Shape;144;p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45" name="Google Shape;145;p7: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55" name="Google Shape;155;p8: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67" name="Google Shape;167;p9: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5" name="Shape 175"/>
        <p:cNvGrpSpPr/>
        <p:nvPr/>
      </p:nvGrpSpPr>
      <p:grpSpPr>
        <a:xfrm>
          <a:off x="0" y="0"/>
          <a:ext cx="0" cy="0"/>
          <a:chOff x="0" y="0"/>
          <a:chExt cx="0" cy="0"/>
        </a:xfrm>
      </p:grpSpPr>
      <p:sp>
        <p:nvSpPr>
          <p:cNvPr id="176" name="Google Shape;176;p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77" name="Google Shape;177;p10: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4" name="Shape 194"/>
        <p:cNvGrpSpPr/>
        <p:nvPr/>
      </p:nvGrpSpPr>
      <p:grpSpPr>
        <a:xfrm>
          <a:off x="0" y="0"/>
          <a:ext cx="0" cy="0"/>
          <a:chOff x="0" y="0"/>
          <a:chExt cx="0" cy="0"/>
        </a:xfrm>
      </p:grpSpPr>
      <p:sp>
        <p:nvSpPr>
          <p:cNvPr id="195" name="Google Shape;195;p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196" name="Google Shape;196;p1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p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05" name="Google Shape;205;p12: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0" name="Shape 210"/>
        <p:cNvGrpSpPr/>
        <p:nvPr/>
      </p:nvGrpSpPr>
      <p:grpSpPr>
        <a:xfrm>
          <a:off x="0" y="0"/>
          <a:ext cx="0" cy="0"/>
          <a:chOff x="0" y="0"/>
          <a:chExt cx="0" cy="0"/>
        </a:xfrm>
      </p:grpSpPr>
      <p:sp>
        <p:nvSpPr>
          <p:cNvPr id="211" name="Google Shape;211;p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212" name="Google Shape;212;p13: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3.png"/><Relationship Id="rId4" Type="http://schemas.openxmlformats.org/officeDocument/2006/relationships/image" Target="../media/image7.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3.png"/><Relationship Id="rId4" Type="http://schemas.openxmlformats.org/officeDocument/2006/relationships/image" Target="../media/image9.png"/><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3.png"/><Relationship Id="rId4" Type="http://schemas.openxmlformats.org/officeDocument/2006/relationships/image" Target="../media/image6.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3.png"/><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 Id="rId4" Type="http://schemas.openxmlformats.org/officeDocument/2006/relationships/image" Target="../media/image5.png"/><Relationship Id="rId5" Type="http://schemas.openxmlformats.org/officeDocument/2006/relationships/image" Target="../media/image1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 Id="rId4" Type="http://schemas.openxmlformats.org/officeDocument/2006/relationships/image" Target="../media/image11.png"/><Relationship Id="rId9" Type="http://schemas.openxmlformats.org/officeDocument/2006/relationships/image" Target="../media/image20.png"/><Relationship Id="rId5" Type="http://schemas.openxmlformats.org/officeDocument/2006/relationships/image" Target="../media/image1.png"/><Relationship Id="rId6" Type="http://schemas.openxmlformats.org/officeDocument/2006/relationships/image" Target="../media/image21.png"/><Relationship Id="rId7" Type="http://schemas.openxmlformats.org/officeDocument/2006/relationships/image" Target="../media/image17.png"/><Relationship Id="rId8"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3.png"/><Relationship Id="rId4" Type="http://schemas.openxmlformats.org/officeDocument/2006/relationships/image" Target="../media/image15.png"/><Relationship Id="rId5" Type="http://schemas.openxmlformats.org/officeDocument/2006/relationships/image" Target="../media/image8.png"/><Relationship Id="rId6"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83" name="Shape 83"/>
        <p:cNvGrpSpPr/>
        <p:nvPr/>
      </p:nvGrpSpPr>
      <p:grpSpPr>
        <a:xfrm>
          <a:off x="0" y="0"/>
          <a:ext cx="0" cy="0"/>
          <a:chOff x="0" y="0"/>
          <a:chExt cx="0" cy="0"/>
        </a:xfrm>
      </p:grpSpPr>
      <p:pic>
        <p:nvPicPr>
          <p:cNvPr descr="image.png" id="84" name="Google Shape;84;p13"/>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85" name="Google Shape;85;p13"/>
          <p:cNvSpPr txBox="1"/>
          <p:nvPr/>
        </p:nvSpPr>
        <p:spPr>
          <a:xfrm>
            <a:off x="2385536" y="2943225"/>
            <a:ext cx="7420927" cy="20383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6000" u="none" cap="none" strike="noStrike">
                <a:solidFill>
                  <a:srgbClr val="D4AF37"/>
                </a:solidFill>
                <a:latin typeface="Playfair Display"/>
                <a:ea typeface="Playfair Display"/>
                <a:cs typeface="Playfair Display"/>
                <a:sym typeface="Playfair Display"/>
              </a:rPr>
              <a:t>Prophetic Wisdom &amp;</a:t>
            </a:r>
            <a:br>
              <a:rPr b="0" i="0" lang="en-US" sz="1800" u="none" cap="none" strike="noStrike">
                <a:solidFill>
                  <a:schemeClr val="dk1"/>
                </a:solidFill>
                <a:latin typeface="Calibri"/>
                <a:ea typeface="Calibri"/>
                <a:cs typeface="Calibri"/>
                <a:sym typeface="Calibri"/>
              </a:rPr>
            </a:br>
            <a:r>
              <a:rPr b="1" i="0" lang="en-US" sz="6000" u="none" cap="none" strike="noStrike">
                <a:solidFill>
                  <a:srgbClr val="D4AF37"/>
                </a:solidFill>
                <a:latin typeface="Playfair Display"/>
                <a:ea typeface="Playfair Display"/>
                <a:cs typeface="Playfair Display"/>
                <a:sym typeface="Playfair Display"/>
              </a:rPr>
              <a:t> Scientific Inquiry</a:t>
            </a:r>
            <a:endParaRPr/>
          </a:p>
        </p:txBody>
      </p:sp>
      <p:sp>
        <p:nvSpPr>
          <p:cNvPr id="86" name="Google Shape;86;p13"/>
          <p:cNvSpPr txBox="1"/>
          <p:nvPr/>
        </p:nvSpPr>
        <p:spPr>
          <a:xfrm>
            <a:off x="1671637" y="5172075"/>
            <a:ext cx="8848725" cy="45720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2400" u="none" cap="none" strike="noStrike">
                <a:solidFill>
                  <a:srgbClr val="FDFBF7"/>
                </a:solidFill>
                <a:latin typeface="Montserrat Light"/>
                <a:ea typeface="Montserrat Light"/>
                <a:cs typeface="Montserrat Light"/>
                <a:sym typeface="Montserrat Light"/>
              </a:rPr>
              <a:t>Authentic Hadith as a Framework for Modern Reasoning</a:t>
            </a:r>
            <a:endParaRPr/>
          </a:p>
        </p:txBody>
      </p:sp>
      <p:pic>
        <p:nvPicPr>
          <p:cNvPr descr="image.png" id="87" name="Google Shape;87;p13"/>
          <p:cNvPicPr preferRelativeResize="0"/>
          <p:nvPr/>
        </p:nvPicPr>
        <p:blipFill rotWithShape="1">
          <a:blip r:embed="rId4">
            <a:alphaModFix/>
          </a:blip>
          <a:srcRect b="0" l="0" r="0" t="0"/>
          <a:stretch/>
        </p:blipFill>
        <p:spPr>
          <a:xfrm>
            <a:off x="5381625" y="1228725"/>
            <a:ext cx="1428750" cy="14287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91" name="Shape 91"/>
        <p:cNvGrpSpPr/>
        <p:nvPr/>
      </p:nvGrpSpPr>
      <p:grpSpPr>
        <a:xfrm>
          <a:off x="0" y="0"/>
          <a:ext cx="0" cy="0"/>
          <a:chOff x="0" y="0"/>
          <a:chExt cx="0" cy="0"/>
        </a:xfrm>
      </p:grpSpPr>
      <p:pic>
        <p:nvPicPr>
          <p:cNvPr descr="image.png" id="92" name="Google Shape;92;p14"/>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93" name="Google Shape;93;p14"/>
          <p:cNvPicPr preferRelativeResize="0"/>
          <p:nvPr/>
        </p:nvPicPr>
        <p:blipFill rotWithShape="1">
          <a:blip r:embed="rId4">
            <a:alphaModFix/>
          </a:blip>
          <a:srcRect b="0" l="0" r="0" t="0"/>
          <a:stretch/>
        </p:blipFill>
        <p:spPr>
          <a:xfrm>
            <a:off x="762000" y="2524125"/>
            <a:ext cx="5143500" cy="2905125"/>
          </a:xfrm>
          <a:prstGeom prst="rect">
            <a:avLst/>
          </a:prstGeom>
          <a:noFill/>
          <a:ln>
            <a:noFill/>
          </a:ln>
        </p:spPr>
      </p:pic>
      <p:pic>
        <p:nvPicPr>
          <p:cNvPr descr="image.png" id="94" name="Google Shape;94;p14"/>
          <p:cNvPicPr preferRelativeResize="0"/>
          <p:nvPr/>
        </p:nvPicPr>
        <p:blipFill rotWithShape="1">
          <a:blip r:embed="rId5">
            <a:alphaModFix/>
          </a:blip>
          <a:srcRect b="0" l="0" r="0" t="0"/>
          <a:stretch/>
        </p:blipFill>
        <p:spPr>
          <a:xfrm>
            <a:off x="6286500" y="2524125"/>
            <a:ext cx="5143500" cy="2905125"/>
          </a:xfrm>
          <a:prstGeom prst="rect">
            <a:avLst/>
          </a:prstGeom>
          <a:noFill/>
          <a:ln>
            <a:noFill/>
          </a:ln>
        </p:spPr>
      </p:pic>
      <p:sp>
        <p:nvSpPr>
          <p:cNvPr id="95" name="Google Shape;95;p14"/>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Deconstructing the Myth</a:t>
            </a:r>
            <a:endParaRPr/>
          </a:p>
        </p:txBody>
      </p:sp>
      <p:sp>
        <p:nvSpPr>
          <p:cNvPr id="96" name="Google Shape;96;p14"/>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7" name="Google Shape;97;p14"/>
          <p:cNvSpPr txBox="1"/>
          <p:nvPr/>
        </p:nvSpPr>
        <p:spPr>
          <a:xfrm>
            <a:off x="1152525" y="2914650"/>
            <a:ext cx="4580572" cy="4095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D4AF37"/>
                </a:solidFill>
                <a:latin typeface="Playfair Display"/>
                <a:ea typeface="Playfair Display"/>
                <a:cs typeface="Playfair Display"/>
                <a:sym typeface="Playfair Display"/>
              </a:rPr>
              <a:t>The Misconception</a:t>
            </a:r>
            <a:endParaRPr/>
          </a:p>
        </p:txBody>
      </p:sp>
      <p:sp>
        <p:nvSpPr>
          <p:cNvPr id="98" name="Google Shape;98;p14"/>
          <p:cNvSpPr txBox="1"/>
          <p:nvPr/>
        </p:nvSpPr>
        <p:spPr>
          <a:xfrm>
            <a:off x="1152525" y="3467100"/>
            <a:ext cx="4362450" cy="1571625"/>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Modern narratives often present "Faith" as purely mystical and internal, while "Science" is strictly rational and external. This binary suggests they cannot coexist in one logical framework.</a:t>
            </a:r>
            <a:endParaRPr/>
          </a:p>
        </p:txBody>
      </p:sp>
      <p:sp>
        <p:nvSpPr>
          <p:cNvPr id="99" name="Google Shape;99;p14"/>
          <p:cNvSpPr txBox="1"/>
          <p:nvPr/>
        </p:nvSpPr>
        <p:spPr>
          <a:xfrm>
            <a:off x="6677025" y="2914650"/>
            <a:ext cx="4580572" cy="40957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2400" u="none" cap="none" strike="noStrike">
                <a:solidFill>
                  <a:srgbClr val="D4AF37"/>
                </a:solidFill>
                <a:latin typeface="Playfair Display"/>
                <a:ea typeface="Playfair Display"/>
                <a:cs typeface="Playfair Display"/>
                <a:sym typeface="Playfair Display"/>
              </a:rPr>
              <a:t>The Prophetic Model</a:t>
            </a:r>
            <a:endParaRPr/>
          </a:p>
        </p:txBody>
      </p:sp>
      <p:sp>
        <p:nvSpPr>
          <p:cNvPr id="100" name="Google Shape;100;p14"/>
          <p:cNvSpPr txBox="1"/>
          <p:nvPr/>
        </p:nvSpPr>
        <p:spPr>
          <a:xfrm>
            <a:off x="6677025" y="3467100"/>
            <a:ext cx="4362450" cy="1571625"/>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The Prophet (SAW) didn't just teach what to believe; he modeled </a:t>
            </a:r>
            <a:r>
              <a:rPr b="1" i="0" lang="en-US" sz="1650" u="none" cap="none" strike="noStrike">
                <a:solidFill>
                  <a:srgbClr val="FDFBF7"/>
                </a:solidFill>
                <a:latin typeface="Montserrat"/>
                <a:ea typeface="Montserrat"/>
                <a:cs typeface="Montserrat"/>
                <a:sym typeface="Montserrat"/>
              </a:rPr>
              <a:t>how to process the world</a:t>
            </a:r>
            <a:r>
              <a:rPr b="0" i="0" lang="en-US" sz="1650" u="none" cap="none" strike="noStrike">
                <a:solidFill>
                  <a:srgbClr val="FDFBF7"/>
                </a:solidFill>
                <a:latin typeface="Montserrat"/>
                <a:ea typeface="Montserrat"/>
                <a:cs typeface="Montserrat"/>
                <a:sym typeface="Montserrat"/>
              </a:rPr>
              <a:t> through observation, inquiry, and evidence-based reasoning as a spiritual duty.</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04" name="Shape 104"/>
        <p:cNvGrpSpPr/>
        <p:nvPr/>
      </p:nvGrpSpPr>
      <p:grpSpPr>
        <a:xfrm>
          <a:off x="0" y="0"/>
          <a:ext cx="0" cy="0"/>
          <a:chOff x="0" y="0"/>
          <a:chExt cx="0" cy="0"/>
        </a:xfrm>
      </p:grpSpPr>
      <p:pic>
        <p:nvPicPr>
          <p:cNvPr descr="image.png" id="105" name="Google Shape;105;p15"/>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06" name="Google Shape;106;p15"/>
          <p:cNvPicPr preferRelativeResize="0"/>
          <p:nvPr/>
        </p:nvPicPr>
        <p:blipFill rotWithShape="1">
          <a:blip r:embed="rId4">
            <a:alphaModFix/>
          </a:blip>
          <a:srcRect b="0" l="0" r="0" t="0"/>
          <a:stretch/>
        </p:blipFill>
        <p:spPr>
          <a:xfrm>
            <a:off x="0" y="0"/>
            <a:ext cx="12192000" cy="5715000"/>
          </a:xfrm>
          <a:prstGeom prst="rect">
            <a:avLst/>
          </a:prstGeom>
          <a:noFill/>
          <a:ln>
            <a:noFill/>
          </a:ln>
        </p:spPr>
      </p:pic>
      <p:sp>
        <p:nvSpPr>
          <p:cNvPr id="107" name="Google Shape;107;p15"/>
          <p:cNvSpPr txBox="1"/>
          <p:nvPr/>
        </p:nvSpPr>
        <p:spPr>
          <a:xfrm>
            <a:off x="0" y="1609725"/>
            <a:ext cx="12192000" cy="1266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500" u="none" cap="none" strike="noStrike">
                <a:solidFill>
                  <a:srgbClr val="D4AF37"/>
                </a:solidFill>
                <a:latin typeface="Playfair Display"/>
                <a:ea typeface="Playfair Display"/>
                <a:cs typeface="Playfair Display"/>
                <a:sym typeface="Playfair Display"/>
              </a:rPr>
              <a:t>Pillar 1</a:t>
            </a:r>
            <a:endParaRPr/>
          </a:p>
        </p:txBody>
      </p:sp>
      <p:sp>
        <p:nvSpPr>
          <p:cNvPr id="108" name="Google Shape;108;p15"/>
          <p:cNvSpPr txBox="1"/>
          <p:nvPr/>
        </p:nvSpPr>
        <p:spPr>
          <a:xfrm>
            <a:off x="0" y="2971800"/>
            <a:ext cx="12192000" cy="428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2250" u="none" cap="none" strike="noStrike">
                <a:solidFill>
                  <a:srgbClr val="FDFBF7"/>
                </a:solidFill>
                <a:latin typeface="Montserrat"/>
                <a:ea typeface="Montserrat"/>
                <a:cs typeface="Montserrat"/>
                <a:sym typeface="Montserrat"/>
              </a:rPr>
              <a:t>Empiricism vs. Superstition</a:t>
            </a:r>
            <a:endParaRPr/>
          </a:p>
        </p:txBody>
      </p:sp>
      <p:sp>
        <p:nvSpPr>
          <p:cNvPr id="109" name="Google Shape;109;p15"/>
          <p:cNvSpPr/>
          <p:nvPr/>
        </p:nvSpPr>
        <p:spPr>
          <a:xfrm>
            <a:off x="5381625" y="3590925"/>
            <a:ext cx="1428750" cy="38100"/>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 name="Google Shape;110;p15"/>
          <p:cNvSpPr txBox="1"/>
          <p:nvPr/>
        </p:nvSpPr>
        <p:spPr>
          <a:xfrm>
            <a:off x="0" y="3819525"/>
            <a:ext cx="12192000" cy="28575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1500" u="none" cap="none" strike="noStrike">
                <a:solidFill>
                  <a:srgbClr val="FDFBF7"/>
                </a:solidFill>
                <a:latin typeface="Montserrat Light"/>
                <a:ea typeface="Montserrat Light"/>
                <a:cs typeface="Montserrat Light"/>
                <a:sym typeface="Montserrat Light"/>
              </a:rPr>
              <a:t>Establishing Objective Causality</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14" name="Shape 114"/>
        <p:cNvGrpSpPr/>
        <p:nvPr/>
      </p:nvGrpSpPr>
      <p:grpSpPr>
        <a:xfrm>
          <a:off x="0" y="0"/>
          <a:ext cx="0" cy="0"/>
          <a:chOff x="0" y="0"/>
          <a:chExt cx="0" cy="0"/>
        </a:xfrm>
      </p:grpSpPr>
      <p:pic>
        <p:nvPicPr>
          <p:cNvPr descr="image.png" id="115" name="Google Shape;115;p16"/>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16" name="Google Shape;116;p16"/>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Evidence Over Emotion</a:t>
            </a:r>
            <a:endParaRPr/>
          </a:p>
        </p:txBody>
      </p:sp>
      <p:sp>
        <p:nvSpPr>
          <p:cNvPr id="117" name="Google Shape;117;p16"/>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8" name="Google Shape;118;p16"/>
          <p:cNvSpPr txBox="1"/>
          <p:nvPr/>
        </p:nvSpPr>
        <p:spPr>
          <a:xfrm>
            <a:off x="1143000" y="2318444"/>
            <a:ext cx="9906000" cy="112395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3600" u="none" cap="none" strike="noStrike">
                <a:solidFill>
                  <a:srgbClr val="D4AF37"/>
                </a:solidFill>
                <a:latin typeface="Montserrat"/>
                <a:ea typeface="Montserrat"/>
                <a:cs typeface="Montserrat"/>
                <a:sym typeface="Montserrat"/>
              </a:rPr>
              <a:t>إِنَّ الشَّمْسَ وَالْقَمَرَ آيَتَانِ مِنْ آيَاتِ اللَّهِ، لاَ يَنْخَسِفَانِ لِمَوْتِ أَحَدٍ وَلاَ لِحَيَاتِهِ</a:t>
            </a:r>
            <a:endParaRPr/>
          </a:p>
        </p:txBody>
      </p:sp>
      <p:sp>
        <p:nvSpPr>
          <p:cNvPr id="119" name="Google Shape;119;p16"/>
          <p:cNvSpPr txBox="1"/>
          <p:nvPr/>
        </p:nvSpPr>
        <p:spPr>
          <a:xfrm>
            <a:off x="1143000" y="3632894"/>
            <a:ext cx="9906000" cy="1439912"/>
          </a:xfrm>
          <a:prstGeom prst="rect">
            <a:avLst/>
          </a:prstGeom>
          <a:noFill/>
          <a:ln>
            <a:noFill/>
          </a:ln>
        </p:spPr>
        <p:txBody>
          <a:bodyPr anchorCtr="0" anchor="t" bIns="0" lIns="0" spcFirstLastPara="1" rIns="0" wrap="square" tIns="0">
            <a:spAutoFit/>
          </a:bodyPr>
          <a:lstStyle/>
          <a:p>
            <a:pPr indent="0" lvl="0" marL="0" marR="0" rtl="0" algn="ctr">
              <a:lnSpc>
                <a:spcPct val="139962"/>
              </a:lnSpc>
              <a:spcBef>
                <a:spcPts val="0"/>
              </a:spcBef>
              <a:spcAft>
                <a:spcPts val="0"/>
              </a:spcAft>
              <a:buNone/>
            </a:pPr>
            <a:r>
              <a:rPr b="0" i="1" lang="en-US" sz="2700" u="none" cap="none" strike="noStrike">
                <a:solidFill>
                  <a:srgbClr val="FDFBF7"/>
                </a:solidFill>
                <a:latin typeface="Playfair Display"/>
                <a:ea typeface="Playfair Display"/>
                <a:cs typeface="Playfair Display"/>
                <a:sym typeface="Playfair Display"/>
              </a:rPr>
              <a:t> "The sun and the moon are two of the signs of Allah. They do not eclipse because of the death or life of someone. When you see them, invoke Allah and pray." </a:t>
            </a:r>
            <a:endParaRPr/>
          </a:p>
        </p:txBody>
      </p:sp>
      <p:sp>
        <p:nvSpPr>
          <p:cNvPr id="120" name="Google Shape;120;p16"/>
          <p:cNvSpPr txBox="1"/>
          <p:nvPr/>
        </p:nvSpPr>
        <p:spPr>
          <a:xfrm>
            <a:off x="2390775" y="5358556"/>
            <a:ext cx="7410450" cy="2762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800" u="none" cap="none" strike="noStrike">
                <a:solidFill>
                  <a:srgbClr val="FDFBF7"/>
                </a:solidFill>
                <a:latin typeface="Montserrat"/>
                <a:ea typeface="Montserrat"/>
                <a:cs typeface="Montserrat"/>
                <a:sym typeface="Montserrat"/>
              </a:rPr>
              <a:t>— Sahih al-Bukhari 1043 (Narrated on the day his son Ibrahim died)</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24" name="Shape 124"/>
        <p:cNvGrpSpPr/>
        <p:nvPr/>
      </p:nvGrpSpPr>
      <p:grpSpPr>
        <a:xfrm>
          <a:off x="0" y="0"/>
          <a:ext cx="0" cy="0"/>
          <a:chOff x="0" y="0"/>
          <a:chExt cx="0" cy="0"/>
        </a:xfrm>
      </p:grpSpPr>
      <p:pic>
        <p:nvPicPr>
          <p:cNvPr descr="image.png" id="125" name="Google Shape;125;p17"/>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26" name="Google Shape;126;p17"/>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Mapping to Objectivity</a:t>
            </a:r>
            <a:endParaRPr/>
          </a:p>
        </p:txBody>
      </p:sp>
      <p:sp>
        <p:nvSpPr>
          <p:cNvPr id="127" name="Google Shape;127;p17"/>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8" name="Google Shape;128;p17"/>
          <p:cNvSpPr txBox="1"/>
          <p:nvPr/>
        </p:nvSpPr>
        <p:spPr>
          <a:xfrm>
            <a:off x="762000" y="1952625"/>
            <a:ext cx="4267200" cy="25527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16500" u="none" cap="none" strike="noStrike">
                <a:solidFill>
                  <a:srgbClr val="D4AF37"/>
                </a:solidFill>
                <a:latin typeface="Montserrat ExtraBold"/>
                <a:ea typeface="Montserrat ExtraBold"/>
                <a:cs typeface="Montserrat ExtraBold"/>
                <a:sym typeface="Montserrat ExtraBold"/>
              </a:rPr>
              <a:t>100%</a:t>
            </a:r>
            <a:endParaRPr/>
          </a:p>
        </p:txBody>
      </p:sp>
      <p:sp>
        <p:nvSpPr>
          <p:cNvPr id="129" name="Google Shape;129;p17"/>
          <p:cNvSpPr txBox="1"/>
          <p:nvPr/>
        </p:nvSpPr>
        <p:spPr>
          <a:xfrm>
            <a:off x="5600700" y="2809875"/>
            <a:ext cx="6400800" cy="8382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0" i="0" lang="en-US" sz="2700" u="none" cap="none" strike="noStrike">
                <a:solidFill>
                  <a:srgbClr val="FDFBF7"/>
                </a:solidFill>
                <a:latin typeface="Montserrat SemiBold"/>
                <a:ea typeface="Montserrat SemiBold"/>
                <a:cs typeface="Montserrat SemiBold"/>
                <a:sym typeface="Montserrat SemiBold"/>
              </a:rPr>
              <a:t>OBJECTIVE</a:t>
            </a:r>
            <a:br>
              <a:rPr b="0" i="0" lang="en-US" sz="1800" u="none" cap="none" strike="noStrike">
                <a:solidFill>
                  <a:schemeClr val="dk1"/>
                </a:solidFill>
                <a:latin typeface="Calibri"/>
                <a:ea typeface="Calibri"/>
                <a:cs typeface="Calibri"/>
                <a:sym typeface="Calibri"/>
              </a:rPr>
            </a:br>
            <a:r>
              <a:rPr b="0" i="0" lang="en-US" sz="2700" u="none" cap="none" strike="noStrike">
                <a:solidFill>
                  <a:srgbClr val="FDFBF7"/>
                </a:solidFill>
                <a:latin typeface="Montserrat SemiBold"/>
                <a:ea typeface="Montserrat SemiBold"/>
                <a:cs typeface="Montserrat SemiBold"/>
                <a:sym typeface="Montserrat SemiBold"/>
              </a:rPr>
              <a:t> CAUSALITY</a:t>
            </a:r>
            <a:endParaRPr/>
          </a:p>
        </p:txBody>
      </p:sp>
      <p:sp>
        <p:nvSpPr>
          <p:cNvPr id="130" name="Google Shape;130;p17"/>
          <p:cNvSpPr txBox="1"/>
          <p:nvPr/>
        </p:nvSpPr>
        <p:spPr>
          <a:xfrm>
            <a:off x="762000" y="4505325"/>
            <a:ext cx="11201400"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4" u="none" cap="none" strike="noStrike">
                <a:solidFill>
                  <a:srgbClr val="FDFBF7"/>
                </a:solidFill>
                <a:latin typeface="Playfair Display"/>
                <a:ea typeface="Playfair Display"/>
                <a:cs typeface="Playfair Display"/>
                <a:sym typeface="Playfair Display"/>
              </a:rPr>
              <a:t>Rejecting False Correlation</a:t>
            </a:r>
            <a:endParaRPr/>
          </a:p>
        </p:txBody>
      </p:sp>
      <p:sp>
        <p:nvSpPr>
          <p:cNvPr id="131" name="Google Shape;131;p17"/>
          <p:cNvSpPr txBox="1"/>
          <p:nvPr/>
        </p:nvSpPr>
        <p:spPr>
          <a:xfrm>
            <a:off x="762000" y="4743450"/>
            <a:ext cx="10668000" cy="62865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By decoupling a major celestial event (eclipse) from a deeply personal emotional loss (the death of his son), the Prophet (SAW) established the </a:t>
            </a:r>
            <a:r>
              <a:rPr b="1" i="0" lang="en-US" sz="1650" u="none" cap="none" strike="noStrike">
                <a:solidFill>
                  <a:srgbClr val="FDFBF7"/>
                </a:solidFill>
                <a:latin typeface="Montserrat"/>
                <a:ea typeface="Montserrat"/>
                <a:cs typeface="Montserrat"/>
                <a:sym typeface="Montserrat"/>
              </a:rPr>
              <a:t>Scientific Law of Causality</a:t>
            </a:r>
            <a:r>
              <a:rPr b="0" i="0" lang="en-US" sz="1650" u="none" cap="none" strike="noStrike">
                <a:solidFill>
                  <a:srgbClr val="FDFBF7"/>
                </a:solidFill>
                <a:latin typeface="Montserrat"/>
                <a:ea typeface="Montserrat"/>
                <a:cs typeface="Montserrat"/>
                <a:sym typeface="Montserrat"/>
              </a:rPr>
              <a:t>.</a:t>
            </a:r>
            <a:endParaRPr/>
          </a:p>
        </p:txBody>
      </p:sp>
      <p:sp>
        <p:nvSpPr>
          <p:cNvPr id="132" name="Google Shape;132;p17"/>
          <p:cNvSpPr txBox="1"/>
          <p:nvPr/>
        </p:nvSpPr>
        <p:spPr>
          <a:xfrm>
            <a:off x="762000" y="5372100"/>
            <a:ext cx="10668000" cy="62865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This is the core of scientific thinking: rejecting subjective myths in favor of universal physical laws established by the Creator.</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36" name="Shape 136"/>
        <p:cNvGrpSpPr/>
        <p:nvPr/>
      </p:nvGrpSpPr>
      <p:grpSpPr>
        <a:xfrm>
          <a:off x="0" y="0"/>
          <a:ext cx="0" cy="0"/>
          <a:chOff x="0" y="0"/>
          <a:chExt cx="0" cy="0"/>
        </a:xfrm>
      </p:grpSpPr>
      <p:pic>
        <p:nvPicPr>
          <p:cNvPr descr="image.png" id="137" name="Google Shape;137;p18"/>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38" name="Google Shape;138;p18"/>
          <p:cNvPicPr preferRelativeResize="0"/>
          <p:nvPr/>
        </p:nvPicPr>
        <p:blipFill rotWithShape="1">
          <a:blip r:embed="rId4">
            <a:alphaModFix/>
          </a:blip>
          <a:srcRect b="0" l="0" r="0" t="0"/>
          <a:stretch/>
        </p:blipFill>
        <p:spPr>
          <a:xfrm>
            <a:off x="0" y="0"/>
            <a:ext cx="12192000" cy="5715000"/>
          </a:xfrm>
          <a:prstGeom prst="rect">
            <a:avLst/>
          </a:prstGeom>
          <a:noFill/>
          <a:ln>
            <a:noFill/>
          </a:ln>
        </p:spPr>
      </p:pic>
      <p:sp>
        <p:nvSpPr>
          <p:cNvPr id="139" name="Google Shape;139;p18"/>
          <p:cNvSpPr txBox="1"/>
          <p:nvPr/>
        </p:nvSpPr>
        <p:spPr>
          <a:xfrm>
            <a:off x="0" y="1609725"/>
            <a:ext cx="12192000" cy="1266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500" u="none" cap="none" strike="noStrike">
                <a:solidFill>
                  <a:srgbClr val="D4AF37"/>
                </a:solidFill>
                <a:latin typeface="Playfair Display"/>
                <a:ea typeface="Playfair Display"/>
                <a:cs typeface="Playfair Display"/>
                <a:sym typeface="Playfair Display"/>
              </a:rPr>
              <a:t>Pillar 2</a:t>
            </a:r>
            <a:endParaRPr/>
          </a:p>
        </p:txBody>
      </p:sp>
      <p:sp>
        <p:nvSpPr>
          <p:cNvPr id="140" name="Google Shape;140;p18"/>
          <p:cNvSpPr txBox="1"/>
          <p:nvPr/>
        </p:nvSpPr>
        <p:spPr>
          <a:xfrm>
            <a:off x="0" y="2971800"/>
            <a:ext cx="12192000" cy="428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2250" u="none" cap="none" strike="noStrike">
                <a:solidFill>
                  <a:srgbClr val="FDFBF7"/>
                </a:solidFill>
                <a:latin typeface="Montserrat"/>
                <a:ea typeface="Montserrat"/>
                <a:cs typeface="Montserrat"/>
                <a:sym typeface="Montserrat"/>
              </a:rPr>
              <a:t>Falsifiability &amp; Trial</a:t>
            </a:r>
            <a:endParaRPr/>
          </a:p>
        </p:txBody>
      </p:sp>
      <p:sp>
        <p:nvSpPr>
          <p:cNvPr id="141" name="Google Shape;141;p18"/>
          <p:cNvSpPr/>
          <p:nvPr/>
        </p:nvSpPr>
        <p:spPr>
          <a:xfrm>
            <a:off x="5381625" y="3590925"/>
            <a:ext cx="1428750" cy="38100"/>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42" name="Google Shape;142;p18"/>
          <p:cNvSpPr txBox="1"/>
          <p:nvPr/>
        </p:nvSpPr>
        <p:spPr>
          <a:xfrm>
            <a:off x="0" y="3819525"/>
            <a:ext cx="12192000" cy="28575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1500" u="none" cap="none" strike="noStrike">
                <a:solidFill>
                  <a:srgbClr val="FDFBF7"/>
                </a:solidFill>
                <a:latin typeface="Montserrat Light"/>
                <a:ea typeface="Montserrat Light"/>
                <a:cs typeface="Montserrat Light"/>
                <a:sym typeface="Montserrat Light"/>
              </a:rPr>
              <a:t>The Autonomy of Worldly Knowledge</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46" name="Shape 146"/>
        <p:cNvGrpSpPr/>
        <p:nvPr/>
      </p:nvGrpSpPr>
      <p:grpSpPr>
        <a:xfrm>
          <a:off x="0" y="0"/>
          <a:ext cx="0" cy="0"/>
          <a:chOff x="0" y="0"/>
          <a:chExt cx="0" cy="0"/>
        </a:xfrm>
      </p:grpSpPr>
      <p:pic>
        <p:nvPicPr>
          <p:cNvPr descr="image.png" id="147" name="Google Shape;147;p19"/>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148" name="Google Shape;148;p19"/>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Practical Results are Data</a:t>
            </a:r>
            <a:endParaRPr/>
          </a:p>
        </p:txBody>
      </p:sp>
      <p:sp>
        <p:nvSpPr>
          <p:cNvPr id="149" name="Google Shape;149;p19"/>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0" name="Google Shape;150;p19"/>
          <p:cNvSpPr txBox="1"/>
          <p:nvPr/>
        </p:nvSpPr>
        <p:spPr>
          <a:xfrm>
            <a:off x="1143000" y="2839491"/>
            <a:ext cx="9906000" cy="56197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3600" u="none" cap="none" strike="noStrike">
                <a:solidFill>
                  <a:srgbClr val="D4AF37"/>
                </a:solidFill>
                <a:latin typeface="Montserrat"/>
                <a:ea typeface="Montserrat"/>
                <a:cs typeface="Montserrat"/>
                <a:sym typeface="Montserrat"/>
              </a:rPr>
              <a:t>أَنْتُمْ أَعْلَمُ بِأَمْرِ دُنْيَاكُمْ</a:t>
            </a:r>
            <a:endParaRPr/>
          </a:p>
        </p:txBody>
      </p:sp>
      <p:sp>
        <p:nvSpPr>
          <p:cNvPr id="151" name="Google Shape;151;p19"/>
          <p:cNvSpPr txBox="1"/>
          <p:nvPr/>
        </p:nvSpPr>
        <p:spPr>
          <a:xfrm>
            <a:off x="1143000" y="3591966"/>
            <a:ext cx="9906000" cy="959941"/>
          </a:xfrm>
          <a:prstGeom prst="rect">
            <a:avLst/>
          </a:prstGeom>
          <a:noFill/>
          <a:ln>
            <a:noFill/>
          </a:ln>
        </p:spPr>
        <p:txBody>
          <a:bodyPr anchorCtr="0" anchor="t" bIns="0" lIns="0" spcFirstLastPara="1" rIns="0" wrap="square" tIns="0">
            <a:spAutoFit/>
          </a:bodyPr>
          <a:lstStyle/>
          <a:p>
            <a:pPr indent="0" lvl="0" marL="0" marR="0" rtl="0" algn="ctr">
              <a:lnSpc>
                <a:spcPct val="139962"/>
              </a:lnSpc>
              <a:spcBef>
                <a:spcPts val="0"/>
              </a:spcBef>
              <a:spcAft>
                <a:spcPts val="0"/>
              </a:spcAft>
              <a:buNone/>
            </a:pPr>
            <a:r>
              <a:rPr b="0" i="1" lang="en-US" sz="2700" u="none" cap="none" strike="noStrike">
                <a:solidFill>
                  <a:srgbClr val="FDFBF7"/>
                </a:solidFill>
                <a:latin typeface="Playfair Display"/>
                <a:ea typeface="Playfair Display"/>
                <a:cs typeface="Playfair Display"/>
                <a:sym typeface="Playfair Display"/>
              </a:rPr>
              <a:t> "You have better knowledge (of a technical skill) in the affairs of your world." </a:t>
            </a:r>
            <a:endParaRPr/>
          </a:p>
        </p:txBody>
      </p:sp>
      <p:sp>
        <p:nvSpPr>
          <p:cNvPr id="152" name="Google Shape;152;p19"/>
          <p:cNvSpPr txBox="1"/>
          <p:nvPr/>
        </p:nvSpPr>
        <p:spPr>
          <a:xfrm>
            <a:off x="2009775" y="4837658"/>
            <a:ext cx="8172450" cy="2762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0" i="0" lang="en-US" sz="1800" u="none" cap="none" strike="noStrike">
                <a:solidFill>
                  <a:srgbClr val="FDFBF7"/>
                </a:solidFill>
                <a:latin typeface="Montserrat"/>
                <a:ea typeface="Montserrat"/>
                <a:cs typeface="Montserrat"/>
                <a:sym typeface="Montserrat"/>
              </a:rPr>
              <a:t>— Sahih Muslim 2363 (Regarding the pollination of date palms in Medina)</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56" name="Shape 156"/>
        <p:cNvGrpSpPr/>
        <p:nvPr/>
      </p:nvGrpSpPr>
      <p:grpSpPr>
        <a:xfrm>
          <a:off x="0" y="0"/>
          <a:ext cx="0" cy="0"/>
          <a:chOff x="0" y="0"/>
          <a:chExt cx="0" cy="0"/>
        </a:xfrm>
      </p:grpSpPr>
      <p:pic>
        <p:nvPicPr>
          <p:cNvPr descr="image.png" id="157" name="Google Shape;157;p20"/>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58" name="Google Shape;158;p20"/>
          <p:cNvPicPr preferRelativeResize="0"/>
          <p:nvPr/>
        </p:nvPicPr>
        <p:blipFill rotWithShape="1">
          <a:blip r:embed="rId4">
            <a:alphaModFix/>
          </a:blip>
          <a:srcRect b="0" l="0" r="0" t="0"/>
          <a:stretch/>
        </p:blipFill>
        <p:spPr>
          <a:xfrm>
            <a:off x="6381750" y="1833562"/>
            <a:ext cx="5048250" cy="4286250"/>
          </a:xfrm>
          <a:prstGeom prst="rect">
            <a:avLst/>
          </a:prstGeom>
          <a:noFill/>
          <a:ln>
            <a:noFill/>
          </a:ln>
        </p:spPr>
      </p:pic>
      <p:sp>
        <p:nvSpPr>
          <p:cNvPr id="159" name="Google Shape;159;p20"/>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The Methodology of Iteration</a:t>
            </a:r>
            <a:endParaRPr/>
          </a:p>
        </p:txBody>
      </p:sp>
      <p:sp>
        <p:nvSpPr>
          <p:cNvPr id="160" name="Google Shape;160;p20"/>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1" name="Google Shape;161;p20"/>
          <p:cNvSpPr txBox="1"/>
          <p:nvPr/>
        </p:nvSpPr>
        <p:spPr>
          <a:xfrm>
            <a:off x="762000" y="2443162"/>
            <a:ext cx="5300662" cy="238125"/>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1404" u="none" cap="none" strike="noStrike">
                <a:solidFill>
                  <a:srgbClr val="FDFBF7"/>
                </a:solidFill>
                <a:latin typeface="Playfair Display"/>
                <a:ea typeface="Playfair Display"/>
                <a:cs typeface="Playfair Display"/>
                <a:sym typeface="Playfair Display"/>
              </a:rPr>
              <a:t>Expert Autonomy</a:t>
            </a:r>
            <a:endParaRPr/>
          </a:p>
        </p:txBody>
      </p:sp>
      <p:sp>
        <p:nvSpPr>
          <p:cNvPr id="162" name="Google Shape;162;p20"/>
          <p:cNvSpPr txBox="1"/>
          <p:nvPr/>
        </p:nvSpPr>
        <p:spPr>
          <a:xfrm>
            <a:off x="762000" y="2681287"/>
            <a:ext cx="5048250" cy="1571625"/>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When his suggestion for a change in pollination yielded less fruit, he deferred to the farmers' experience. This demonstrates </a:t>
            </a:r>
            <a:r>
              <a:rPr b="1" i="0" lang="en-US" sz="1650" u="none" cap="none" strike="noStrike">
                <a:solidFill>
                  <a:srgbClr val="FDFBF7"/>
                </a:solidFill>
                <a:latin typeface="Montserrat"/>
                <a:ea typeface="Montserrat"/>
                <a:cs typeface="Montserrat"/>
                <a:sym typeface="Montserrat"/>
              </a:rPr>
              <a:t>Falsifiability</a:t>
            </a:r>
            <a:r>
              <a:rPr b="0" i="0" lang="en-US" sz="1650" u="none" cap="none" strike="noStrike">
                <a:solidFill>
                  <a:srgbClr val="FDFBF7"/>
                </a:solidFill>
                <a:latin typeface="Montserrat"/>
                <a:ea typeface="Montserrat"/>
                <a:cs typeface="Montserrat"/>
                <a:sym typeface="Montserrat"/>
              </a:rPr>
              <a:t>: the willingness to test a hypothesis and change based on results.</a:t>
            </a:r>
            <a:endParaRPr/>
          </a:p>
        </p:txBody>
      </p:sp>
      <p:sp>
        <p:nvSpPr>
          <p:cNvPr id="163" name="Google Shape;163;p20"/>
          <p:cNvSpPr txBox="1"/>
          <p:nvPr/>
        </p:nvSpPr>
        <p:spPr>
          <a:xfrm>
            <a:off x="762000" y="4252912"/>
            <a:ext cx="5048250" cy="12573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He separated Divine Revelation (eternal truth) from Worldly Experimentation (iterative data), giving the "green light" for scientific specialization.</a:t>
            </a:r>
            <a:endParaRPr/>
          </a:p>
        </p:txBody>
      </p:sp>
      <p:pic>
        <p:nvPicPr>
          <p:cNvPr descr="image.png" id="164" name="Google Shape;164;p20"/>
          <p:cNvPicPr preferRelativeResize="0"/>
          <p:nvPr/>
        </p:nvPicPr>
        <p:blipFill rotWithShape="1">
          <a:blip r:embed="rId5">
            <a:alphaModFix/>
          </a:blip>
          <a:srcRect b="0" l="0" r="0" t="0"/>
          <a:stretch/>
        </p:blipFill>
        <p:spPr>
          <a:xfrm>
            <a:off x="6419850" y="1871662"/>
            <a:ext cx="4972050" cy="421005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68" name="Shape 168"/>
        <p:cNvGrpSpPr/>
        <p:nvPr/>
      </p:nvGrpSpPr>
      <p:grpSpPr>
        <a:xfrm>
          <a:off x="0" y="0"/>
          <a:ext cx="0" cy="0"/>
          <a:chOff x="0" y="0"/>
          <a:chExt cx="0" cy="0"/>
        </a:xfrm>
      </p:grpSpPr>
      <p:pic>
        <p:nvPicPr>
          <p:cNvPr descr="image.png" id="169" name="Google Shape;169;p21"/>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70" name="Google Shape;170;p21"/>
          <p:cNvPicPr preferRelativeResize="0"/>
          <p:nvPr/>
        </p:nvPicPr>
        <p:blipFill rotWithShape="1">
          <a:blip r:embed="rId4">
            <a:alphaModFix/>
          </a:blip>
          <a:srcRect b="0" l="0" r="0" t="0"/>
          <a:stretch/>
        </p:blipFill>
        <p:spPr>
          <a:xfrm>
            <a:off x="0" y="0"/>
            <a:ext cx="12192000" cy="5715000"/>
          </a:xfrm>
          <a:prstGeom prst="rect">
            <a:avLst/>
          </a:prstGeom>
          <a:noFill/>
          <a:ln>
            <a:noFill/>
          </a:ln>
        </p:spPr>
      </p:pic>
      <p:sp>
        <p:nvSpPr>
          <p:cNvPr id="171" name="Google Shape;171;p21"/>
          <p:cNvSpPr txBox="1"/>
          <p:nvPr/>
        </p:nvSpPr>
        <p:spPr>
          <a:xfrm>
            <a:off x="0" y="1609725"/>
            <a:ext cx="12192000" cy="12668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7500" u="none" cap="none" strike="noStrike">
                <a:solidFill>
                  <a:srgbClr val="D4AF37"/>
                </a:solidFill>
                <a:latin typeface="Playfair Display"/>
                <a:ea typeface="Playfair Display"/>
                <a:cs typeface="Playfair Display"/>
                <a:sym typeface="Playfair Display"/>
              </a:rPr>
              <a:t>Pillar 3</a:t>
            </a:r>
            <a:endParaRPr/>
          </a:p>
        </p:txBody>
      </p:sp>
      <p:sp>
        <p:nvSpPr>
          <p:cNvPr id="172" name="Google Shape;172;p21"/>
          <p:cNvSpPr txBox="1"/>
          <p:nvPr/>
        </p:nvSpPr>
        <p:spPr>
          <a:xfrm>
            <a:off x="0" y="2971800"/>
            <a:ext cx="12192000" cy="428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2250" u="none" cap="none" strike="noStrike">
                <a:solidFill>
                  <a:srgbClr val="FDFBF7"/>
                </a:solidFill>
                <a:latin typeface="Montserrat"/>
                <a:ea typeface="Montserrat"/>
                <a:cs typeface="Montserrat"/>
                <a:sym typeface="Montserrat"/>
              </a:rPr>
              <a:t>Systematic Medicine</a:t>
            </a:r>
            <a:endParaRPr/>
          </a:p>
        </p:txBody>
      </p:sp>
      <p:sp>
        <p:nvSpPr>
          <p:cNvPr id="173" name="Google Shape;173;p21"/>
          <p:cNvSpPr/>
          <p:nvPr/>
        </p:nvSpPr>
        <p:spPr>
          <a:xfrm>
            <a:off x="5381625" y="3590925"/>
            <a:ext cx="1428750" cy="38100"/>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4" name="Google Shape;174;p21"/>
          <p:cNvSpPr txBox="1"/>
          <p:nvPr/>
        </p:nvSpPr>
        <p:spPr>
          <a:xfrm>
            <a:off x="0" y="3819525"/>
            <a:ext cx="12192000" cy="285750"/>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1500" u="none" cap="none" strike="noStrike">
                <a:solidFill>
                  <a:srgbClr val="FDFBF7"/>
                </a:solidFill>
                <a:latin typeface="Montserrat Light"/>
                <a:ea typeface="Montserrat Light"/>
                <a:cs typeface="Montserrat Light"/>
                <a:sym typeface="Montserrat Light"/>
              </a:rPr>
              <a:t>The Call for Inductive Reasoning</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78" name="Shape 178"/>
        <p:cNvGrpSpPr/>
        <p:nvPr/>
      </p:nvGrpSpPr>
      <p:grpSpPr>
        <a:xfrm>
          <a:off x="0" y="0"/>
          <a:ext cx="0" cy="0"/>
          <a:chOff x="0" y="0"/>
          <a:chExt cx="0" cy="0"/>
        </a:xfrm>
      </p:grpSpPr>
      <p:pic>
        <p:nvPicPr>
          <p:cNvPr descr="image.png" id="179" name="Google Shape;179;p22"/>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80" name="Google Shape;180;p22"/>
          <p:cNvPicPr preferRelativeResize="0"/>
          <p:nvPr/>
        </p:nvPicPr>
        <p:blipFill rotWithShape="1">
          <a:blip r:embed="rId4">
            <a:alphaModFix/>
          </a:blip>
          <a:srcRect b="0" l="0" r="0" t="0"/>
          <a:stretch/>
        </p:blipFill>
        <p:spPr>
          <a:xfrm>
            <a:off x="762000" y="2128837"/>
            <a:ext cx="3365450" cy="3695700"/>
          </a:xfrm>
          <a:prstGeom prst="rect">
            <a:avLst/>
          </a:prstGeom>
          <a:noFill/>
          <a:ln>
            <a:noFill/>
          </a:ln>
        </p:spPr>
      </p:pic>
      <p:pic>
        <p:nvPicPr>
          <p:cNvPr descr="image.png" id="181" name="Google Shape;181;p22"/>
          <p:cNvPicPr preferRelativeResize="0"/>
          <p:nvPr/>
        </p:nvPicPr>
        <p:blipFill rotWithShape="1">
          <a:blip r:embed="rId5">
            <a:alphaModFix/>
          </a:blip>
          <a:srcRect b="0" l="0" r="0" t="0"/>
          <a:stretch/>
        </p:blipFill>
        <p:spPr>
          <a:xfrm>
            <a:off x="4413200" y="2128837"/>
            <a:ext cx="3365450" cy="3695700"/>
          </a:xfrm>
          <a:prstGeom prst="rect">
            <a:avLst/>
          </a:prstGeom>
          <a:noFill/>
          <a:ln>
            <a:noFill/>
          </a:ln>
        </p:spPr>
      </p:pic>
      <p:pic>
        <p:nvPicPr>
          <p:cNvPr descr="image.png" id="182" name="Google Shape;182;p22"/>
          <p:cNvPicPr preferRelativeResize="0"/>
          <p:nvPr/>
        </p:nvPicPr>
        <p:blipFill rotWithShape="1">
          <a:blip r:embed="rId6">
            <a:alphaModFix/>
          </a:blip>
          <a:srcRect b="0" l="0" r="0" t="0"/>
          <a:stretch/>
        </p:blipFill>
        <p:spPr>
          <a:xfrm>
            <a:off x="8064400" y="2128837"/>
            <a:ext cx="3365450" cy="3695700"/>
          </a:xfrm>
          <a:prstGeom prst="rect">
            <a:avLst/>
          </a:prstGeom>
          <a:noFill/>
          <a:ln>
            <a:noFill/>
          </a:ln>
        </p:spPr>
      </p:pic>
      <p:sp>
        <p:nvSpPr>
          <p:cNvPr id="183" name="Google Shape;183;p22"/>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The Foundation of Research</a:t>
            </a:r>
            <a:endParaRPr/>
          </a:p>
        </p:txBody>
      </p:sp>
      <p:sp>
        <p:nvSpPr>
          <p:cNvPr id="184" name="Google Shape;184;p22"/>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5" name="Google Shape;185;p22"/>
          <p:cNvSpPr txBox="1"/>
          <p:nvPr/>
        </p:nvSpPr>
        <p:spPr>
          <a:xfrm>
            <a:off x="1077913" y="3376612"/>
            <a:ext cx="2733622" cy="3524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2100" u="none" cap="none" strike="noStrike">
                <a:solidFill>
                  <a:srgbClr val="FDFBF7"/>
                </a:solidFill>
                <a:latin typeface="Playfair Display"/>
                <a:ea typeface="Playfair Display"/>
                <a:cs typeface="Playfair Display"/>
                <a:sym typeface="Playfair Display"/>
              </a:rPr>
              <a:t>Inductive Logic</a:t>
            </a:r>
            <a:endParaRPr/>
          </a:p>
        </p:txBody>
      </p:sp>
      <p:sp>
        <p:nvSpPr>
          <p:cNvPr id="186" name="Google Shape;186;p22"/>
          <p:cNvSpPr txBox="1"/>
          <p:nvPr/>
        </p:nvSpPr>
        <p:spPr>
          <a:xfrm>
            <a:off x="1143000" y="3871912"/>
            <a:ext cx="2603450" cy="1571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"There is no disease that Allah has created, except that He also has created its treatment." (Bukhari 5678)</a:t>
            </a:r>
            <a:endParaRPr/>
          </a:p>
        </p:txBody>
      </p:sp>
      <p:sp>
        <p:nvSpPr>
          <p:cNvPr id="187" name="Google Shape;187;p22"/>
          <p:cNvSpPr txBox="1"/>
          <p:nvPr/>
        </p:nvSpPr>
        <p:spPr>
          <a:xfrm>
            <a:off x="4729114" y="3376612"/>
            <a:ext cx="2733622" cy="3524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2100" u="none" cap="none" strike="noStrike">
                <a:solidFill>
                  <a:srgbClr val="FDFBF7"/>
                </a:solidFill>
                <a:latin typeface="Playfair Display"/>
                <a:ea typeface="Playfair Display"/>
                <a:cs typeface="Playfair Display"/>
                <a:sym typeface="Playfair Display"/>
              </a:rPr>
              <a:t>Search for Cures</a:t>
            </a:r>
            <a:endParaRPr/>
          </a:p>
        </p:txBody>
      </p:sp>
      <p:sp>
        <p:nvSpPr>
          <p:cNvPr id="188" name="Google Shape;188;p22"/>
          <p:cNvSpPr txBox="1"/>
          <p:nvPr/>
        </p:nvSpPr>
        <p:spPr>
          <a:xfrm>
            <a:off x="4794200" y="3871912"/>
            <a:ext cx="2603450" cy="1571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By asserting a cure </a:t>
            </a:r>
            <a:r>
              <a:rPr b="1" i="0" lang="en-US" sz="1650" u="none" cap="none" strike="noStrike">
                <a:solidFill>
                  <a:srgbClr val="FDFBF7"/>
                </a:solidFill>
                <a:latin typeface="Montserrat"/>
                <a:ea typeface="Montserrat"/>
                <a:cs typeface="Montserrat"/>
                <a:sym typeface="Montserrat"/>
              </a:rPr>
              <a:t>exists</a:t>
            </a:r>
            <a:r>
              <a:rPr b="0" i="0" lang="en-US" sz="1650" u="none" cap="none" strike="noStrike">
                <a:solidFill>
                  <a:srgbClr val="FDFBF7"/>
                </a:solidFill>
                <a:latin typeface="Montserrat"/>
                <a:ea typeface="Montserrat"/>
                <a:cs typeface="Montserrat"/>
                <a:sym typeface="Montserrat"/>
              </a:rPr>
              <a:t>, he created the philosophical mandate for centuries of Muslim medical research.</a:t>
            </a:r>
            <a:endParaRPr/>
          </a:p>
        </p:txBody>
      </p:sp>
      <p:sp>
        <p:nvSpPr>
          <p:cNvPr id="189" name="Google Shape;189;p22"/>
          <p:cNvSpPr txBox="1"/>
          <p:nvPr/>
        </p:nvSpPr>
        <p:spPr>
          <a:xfrm>
            <a:off x="8380314" y="3376612"/>
            <a:ext cx="2733622" cy="352425"/>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2100" u="none" cap="none" strike="noStrike">
                <a:solidFill>
                  <a:srgbClr val="FDFBF7"/>
                </a:solidFill>
                <a:latin typeface="Playfair Display"/>
                <a:ea typeface="Playfair Display"/>
                <a:cs typeface="Playfair Display"/>
                <a:sym typeface="Playfair Display"/>
              </a:rPr>
              <a:t>Legacy of Care</a:t>
            </a:r>
            <a:endParaRPr/>
          </a:p>
        </p:txBody>
      </p:sp>
      <p:sp>
        <p:nvSpPr>
          <p:cNvPr id="190" name="Google Shape;190;p22"/>
          <p:cNvSpPr txBox="1"/>
          <p:nvPr/>
        </p:nvSpPr>
        <p:spPr>
          <a:xfrm>
            <a:off x="8445400" y="3871912"/>
            <a:ext cx="2603450" cy="1571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1650" u="none" cap="none" strike="noStrike">
                <a:solidFill>
                  <a:srgbClr val="FDFBF7"/>
                </a:solidFill>
                <a:latin typeface="Montserrat"/>
                <a:ea typeface="Montserrat"/>
                <a:cs typeface="Montserrat"/>
                <a:sym typeface="Montserrat"/>
              </a:rPr>
              <a:t>This shifted medicine from superstition/magic to a systematic, peer-reviewed pursuit of remedies.</a:t>
            </a:r>
            <a:endParaRPr/>
          </a:p>
        </p:txBody>
      </p:sp>
      <p:pic>
        <p:nvPicPr>
          <p:cNvPr descr="image.png" id="191" name="Google Shape;191;p22"/>
          <p:cNvPicPr preferRelativeResize="0"/>
          <p:nvPr/>
        </p:nvPicPr>
        <p:blipFill rotWithShape="1">
          <a:blip r:embed="rId7">
            <a:alphaModFix/>
          </a:blip>
          <a:srcRect b="0" l="0" r="0" t="0"/>
          <a:stretch/>
        </p:blipFill>
        <p:spPr>
          <a:xfrm>
            <a:off x="2235100" y="2595562"/>
            <a:ext cx="419100" cy="476250"/>
          </a:xfrm>
          <a:prstGeom prst="rect">
            <a:avLst/>
          </a:prstGeom>
          <a:noFill/>
          <a:ln>
            <a:noFill/>
          </a:ln>
        </p:spPr>
      </p:pic>
      <p:pic>
        <p:nvPicPr>
          <p:cNvPr descr="image.png" id="192" name="Google Shape;192;p22"/>
          <p:cNvPicPr preferRelativeResize="0"/>
          <p:nvPr/>
        </p:nvPicPr>
        <p:blipFill rotWithShape="1">
          <a:blip r:embed="rId8">
            <a:alphaModFix/>
          </a:blip>
          <a:srcRect b="0" l="0" r="0" t="0"/>
          <a:stretch/>
        </p:blipFill>
        <p:spPr>
          <a:xfrm>
            <a:off x="5857726" y="2595562"/>
            <a:ext cx="476250" cy="476250"/>
          </a:xfrm>
          <a:prstGeom prst="rect">
            <a:avLst/>
          </a:prstGeom>
          <a:noFill/>
          <a:ln>
            <a:noFill/>
          </a:ln>
        </p:spPr>
      </p:pic>
      <p:pic>
        <p:nvPicPr>
          <p:cNvPr descr="image.png" id="193" name="Google Shape;193;p22"/>
          <p:cNvPicPr preferRelativeResize="0"/>
          <p:nvPr/>
        </p:nvPicPr>
        <p:blipFill rotWithShape="1">
          <a:blip r:embed="rId9">
            <a:alphaModFix/>
          </a:blip>
          <a:srcRect b="0" l="0" r="0" t="0"/>
          <a:stretch/>
        </p:blipFill>
        <p:spPr>
          <a:xfrm>
            <a:off x="9447014" y="2595562"/>
            <a:ext cx="600075" cy="476250"/>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197" name="Shape 197"/>
        <p:cNvGrpSpPr/>
        <p:nvPr/>
      </p:nvGrpSpPr>
      <p:grpSpPr>
        <a:xfrm>
          <a:off x="0" y="0"/>
          <a:ext cx="0" cy="0"/>
          <a:chOff x="0" y="0"/>
          <a:chExt cx="0" cy="0"/>
        </a:xfrm>
      </p:grpSpPr>
      <p:pic>
        <p:nvPicPr>
          <p:cNvPr descr="image.png" id="198" name="Google Shape;198;p23"/>
          <p:cNvPicPr preferRelativeResize="0"/>
          <p:nvPr/>
        </p:nvPicPr>
        <p:blipFill rotWithShape="1">
          <a:blip r:embed="rId3">
            <a:alphaModFix/>
          </a:blip>
          <a:srcRect b="0" l="0" r="0" t="0"/>
          <a:stretch/>
        </p:blipFill>
        <p:spPr>
          <a:xfrm>
            <a:off x="0" y="0"/>
            <a:ext cx="12192000" cy="6858000"/>
          </a:xfrm>
          <a:prstGeom prst="rect">
            <a:avLst/>
          </a:prstGeom>
          <a:noFill/>
          <a:ln>
            <a:noFill/>
          </a:ln>
        </p:spPr>
      </p:pic>
      <p:pic>
        <p:nvPicPr>
          <p:cNvPr descr="image.png" id="199" name="Google Shape;199;p23"/>
          <p:cNvPicPr preferRelativeResize="0"/>
          <p:nvPr/>
        </p:nvPicPr>
        <p:blipFill rotWithShape="1">
          <a:blip r:embed="rId4">
            <a:alphaModFix/>
          </a:blip>
          <a:srcRect b="0" l="0" r="0" t="0"/>
          <a:stretch/>
        </p:blipFill>
        <p:spPr>
          <a:xfrm>
            <a:off x="0" y="0"/>
            <a:ext cx="12192000" cy="6858000"/>
          </a:xfrm>
          <a:prstGeom prst="rect">
            <a:avLst/>
          </a:prstGeom>
          <a:noFill/>
          <a:ln>
            <a:noFill/>
          </a:ln>
        </p:spPr>
      </p:pic>
      <p:pic>
        <p:nvPicPr>
          <p:cNvPr descr="image.png" id="200" name="Google Shape;200;p23"/>
          <p:cNvPicPr preferRelativeResize="0"/>
          <p:nvPr/>
        </p:nvPicPr>
        <p:blipFill rotWithShape="1">
          <a:blip r:embed="rId5">
            <a:alphaModFix/>
          </a:blip>
          <a:srcRect b="0" l="0" r="0" t="0"/>
          <a:stretch/>
        </p:blipFill>
        <p:spPr>
          <a:xfrm>
            <a:off x="4395787" y="4649092"/>
            <a:ext cx="3400425" cy="600075"/>
          </a:xfrm>
          <a:prstGeom prst="rect">
            <a:avLst/>
          </a:prstGeom>
          <a:noFill/>
          <a:ln>
            <a:noFill/>
          </a:ln>
        </p:spPr>
      </p:pic>
      <p:sp>
        <p:nvSpPr>
          <p:cNvPr id="201" name="Google Shape;201;p23"/>
          <p:cNvSpPr txBox="1"/>
          <p:nvPr/>
        </p:nvSpPr>
        <p:spPr>
          <a:xfrm>
            <a:off x="3500675" y="1608832"/>
            <a:ext cx="5190648" cy="762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4500" u="none" cap="none" strike="noStrike">
                <a:solidFill>
                  <a:srgbClr val="D4AF37"/>
                </a:solidFill>
                <a:latin typeface="Playfair Display"/>
                <a:ea typeface="Playfair Display"/>
                <a:cs typeface="Playfair Display"/>
                <a:sym typeface="Playfair Display"/>
              </a:rPr>
              <a:t>Curiosity as Ibadah</a:t>
            </a:r>
            <a:endParaRPr/>
          </a:p>
        </p:txBody>
      </p:sp>
      <p:sp>
        <p:nvSpPr>
          <p:cNvPr id="202" name="Google Shape;202;p23"/>
          <p:cNvSpPr txBox="1"/>
          <p:nvPr/>
        </p:nvSpPr>
        <p:spPr>
          <a:xfrm>
            <a:off x="1809750" y="2561332"/>
            <a:ext cx="8572500" cy="1706760"/>
          </a:xfrm>
          <a:prstGeom prst="rect">
            <a:avLst/>
          </a:prstGeom>
          <a:noFill/>
          <a:ln>
            <a:noFill/>
          </a:ln>
        </p:spPr>
        <p:txBody>
          <a:bodyPr anchorCtr="0" anchor="t" bIns="0" lIns="0" spcFirstLastPara="1" rIns="0" wrap="square" tIns="0">
            <a:spAutoFit/>
          </a:bodyPr>
          <a:lstStyle/>
          <a:p>
            <a:pPr indent="0" lvl="0" marL="0" marR="0" rtl="0" algn="ctr">
              <a:lnSpc>
                <a:spcPct val="159952"/>
              </a:lnSpc>
              <a:spcBef>
                <a:spcPts val="0"/>
              </a:spcBef>
              <a:spcAft>
                <a:spcPts val="0"/>
              </a:spcAft>
              <a:buNone/>
            </a:pPr>
            <a:r>
              <a:rPr b="0" i="0" lang="en-US" sz="2100" u="none" cap="none" strike="noStrike">
                <a:solidFill>
                  <a:srgbClr val="FDFBF7"/>
                </a:solidFill>
                <a:latin typeface="Montserrat"/>
                <a:ea typeface="Montserrat"/>
                <a:cs typeface="Montserrat"/>
                <a:sym typeface="Montserrat"/>
              </a:rPr>
              <a:t>Scientific thinking isn't an "add-on" to faith; it is baked into the Prophetic requirement to "read" and "reflect" on the universe. The Prophet (SAW) didn't just give answers; he taught a framework for asking better questions.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206" name="Shape 206"/>
        <p:cNvGrpSpPr/>
        <p:nvPr/>
      </p:nvGrpSpPr>
      <p:grpSpPr>
        <a:xfrm>
          <a:off x="0" y="0"/>
          <a:ext cx="0" cy="0"/>
          <a:chOff x="0" y="0"/>
          <a:chExt cx="0" cy="0"/>
        </a:xfrm>
      </p:grpSpPr>
      <p:pic>
        <p:nvPicPr>
          <p:cNvPr descr="image.png" id="207" name="Google Shape;207;p24"/>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08" name="Google Shape;208;p24"/>
          <p:cNvSpPr txBox="1"/>
          <p:nvPr/>
        </p:nvSpPr>
        <p:spPr>
          <a:xfrm>
            <a:off x="495300" y="571500"/>
            <a:ext cx="11201400" cy="1524000"/>
          </a:xfrm>
          <a:prstGeom prst="rect">
            <a:avLst/>
          </a:prstGeom>
          <a:noFill/>
          <a:ln>
            <a:noFill/>
          </a:ln>
        </p:spPr>
        <p:txBody>
          <a:bodyPr anchorCtr="0" anchor="t" bIns="0" lIns="0" spcFirstLastPara="1" rIns="0" wrap="square" tIns="0">
            <a:spAutoFit/>
          </a:bodyPr>
          <a:lstStyle/>
          <a:p>
            <a:pPr indent="0" lvl="0" marL="0" marR="0" rtl="0" algn="ctr">
              <a:spcBef>
                <a:spcPts val="0"/>
              </a:spcBef>
              <a:spcAft>
                <a:spcPts val="0"/>
              </a:spcAft>
              <a:buNone/>
            </a:pPr>
            <a:r>
              <a:rPr b="1" i="0" lang="en-US" sz="9000" u="none" cap="none" strike="noStrike">
                <a:solidFill>
                  <a:srgbClr val="D4AF37"/>
                </a:solidFill>
                <a:latin typeface="Playfair Display"/>
                <a:ea typeface="Playfair Display"/>
                <a:cs typeface="Playfair Display"/>
                <a:sym typeface="Playfair Display"/>
              </a:rPr>
              <a:t>Questions?</a:t>
            </a:r>
            <a:endParaRPr/>
          </a:p>
        </p:txBody>
      </p:sp>
      <p:sp>
        <p:nvSpPr>
          <p:cNvPr id="209" name="Google Shape;209;p24"/>
          <p:cNvSpPr txBox="1"/>
          <p:nvPr/>
        </p:nvSpPr>
        <p:spPr>
          <a:xfrm>
            <a:off x="762000" y="2095500"/>
            <a:ext cx="10668000" cy="428625"/>
          </a:xfrm>
          <a:prstGeom prst="rect">
            <a:avLst/>
          </a:prstGeom>
          <a:noFill/>
          <a:ln>
            <a:noFill/>
          </a:ln>
        </p:spPr>
        <p:txBody>
          <a:bodyPr anchorCtr="0" anchor="t" bIns="0" lIns="0" spcFirstLastPara="1" rIns="0" wrap="square" tIns="0">
            <a:spAutoFit/>
          </a:bodyPr>
          <a:lstStyle/>
          <a:p>
            <a:pPr indent="0" lvl="0" marL="0" marR="0" rtl="0" algn="ctr">
              <a:lnSpc>
                <a:spcPct val="150000"/>
              </a:lnSpc>
              <a:spcBef>
                <a:spcPts val="0"/>
              </a:spcBef>
              <a:spcAft>
                <a:spcPts val="0"/>
              </a:spcAft>
              <a:buNone/>
            </a:pPr>
            <a:r>
              <a:rPr b="0" i="0" lang="en-US" sz="2250" u="none" cap="none" strike="noStrike">
                <a:solidFill>
                  <a:srgbClr val="FDFBF7"/>
                </a:solidFill>
                <a:latin typeface="Montserrat"/>
                <a:ea typeface="Montserrat"/>
                <a:cs typeface="Montserrat"/>
                <a:sym typeface="Montserrat"/>
              </a:rPr>
              <a:t>Exploring the Intersection of Reason and Revelation</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064E3B"/>
        </a:solidFill>
      </p:bgPr>
    </p:bg>
    <p:spTree>
      <p:nvGrpSpPr>
        <p:cNvPr id="213" name="Shape 213"/>
        <p:cNvGrpSpPr/>
        <p:nvPr/>
      </p:nvGrpSpPr>
      <p:grpSpPr>
        <a:xfrm>
          <a:off x="0" y="0"/>
          <a:ext cx="0" cy="0"/>
          <a:chOff x="0" y="0"/>
          <a:chExt cx="0" cy="0"/>
        </a:xfrm>
      </p:grpSpPr>
      <p:pic>
        <p:nvPicPr>
          <p:cNvPr descr="image.png" id="214" name="Google Shape;214;p25"/>
          <p:cNvPicPr preferRelativeResize="0"/>
          <p:nvPr/>
        </p:nvPicPr>
        <p:blipFill rotWithShape="1">
          <a:blip r:embed="rId3">
            <a:alphaModFix/>
          </a:blip>
          <a:srcRect b="0" l="0" r="0" t="0"/>
          <a:stretch/>
        </p:blipFill>
        <p:spPr>
          <a:xfrm>
            <a:off x="0" y="0"/>
            <a:ext cx="12192000" cy="6858000"/>
          </a:xfrm>
          <a:prstGeom prst="rect">
            <a:avLst/>
          </a:prstGeom>
          <a:noFill/>
          <a:ln>
            <a:noFill/>
          </a:ln>
        </p:spPr>
      </p:pic>
      <p:sp>
        <p:nvSpPr>
          <p:cNvPr id="215" name="Google Shape;215;p25"/>
          <p:cNvSpPr txBox="1"/>
          <p:nvPr/>
        </p:nvSpPr>
        <p:spPr>
          <a:xfrm>
            <a:off x="762000" y="571500"/>
            <a:ext cx="11201400" cy="571500"/>
          </a:xfrm>
          <a:prstGeom prst="rect">
            <a:avLst/>
          </a:prstGeom>
          <a:noFill/>
          <a:ln>
            <a:noFill/>
          </a:ln>
        </p:spPr>
        <p:txBody>
          <a:bodyPr anchorCtr="0" anchor="t" bIns="0" lIns="0" spcFirstLastPara="1" rIns="0" wrap="square" tIns="0">
            <a:spAutoFit/>
          </a:bodyPr>
          <a:lstStyle/>
          <a:p>
            <a:pPr indent="0" lvl="0" marL="0" marR="0" rtl="0" algn="l">
              <a:spcBef>
                <a:spcPts val="0"/>
              </a:spcBef>
              <a:spcAft>
                <a:spcPts val="0"/>
              </a:spcAft>
              <a:buNone/>
            </a:pPr>
            <a:r>
              <a:rPr b="1" i="0" lang="en-US" sz="3300" u="none" cap="none" strike="noStrike">
                <a:solidFill>
                  <a:srgbClr val="D4AF37"/>
                </a:solidFill>
                <a:latin typeface="Playfair Display"/>
                <a:ea typeface="Playfair Display"/>
                <a:cs typeface="Playfair Display"/>
                <a:sym typeface="Playfair Display"/>
              </a:rPr>
              <a:t>Image Sources</a:t>
            </a:r>
            <a:endParaRPr/>
          </a:p>
        </p:txBody>
      </p:sp>
      <p:sp>
        <p:nvSpPr>
          <p:cNvPr id="216" name="Google Shape;216;p25"/>
          <p:cNvSpPr/>
          <p:nvPr/>
        </p:nvSpPr>
        <p:spPr>
          <a:xfrm>
            <a:off x="762000" y="1276350"/>
            <a:ext cx="10668000" cy="9525"/>
          </a:xfrm>
          <a:prstGeom prst="rect">
            <a:avLst/>
          </a:prstGeom>
          <a:solidFill>
            <a:srgbClr val="D4AF37"/>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7" name="Google Shape;217;p25"/>
          <p:cNvSpPr/>
          <p:nvPr/>
        </p:nvSpPr>
        <p:spPr>
          <a:xfrm>
            <a:off x="762000" y="2652712"/>
            <a:ext cx="10668000" cy="942975"/>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8" name="Google Shape;218;p25"/>
          <p:cNvSpPr/>
          <p:nvPr/>
        </p:nvSpPr>
        <p:spPr>
          <a:xfrm>
            <a:off x="762000" y="3595687"/>
            <a:ext cx="10668000" cy="771525"/>
          </a:xfrm>
          <a:prstGeom prst="rect">
            <a:avLst/>
          </a:prstGeom>
          <a:no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9" name="Google Shape;219;p25"/>
          <p:cNvSpPr/>
          <p:nvPr/>
        </p:nvSpPr>
        <p:spPr>
          <a:xfrm>
            <a:off x="762000" y="3586162"/>
            <a:ext cx="10668000"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0" name="Google Shape;220;p25"/>
          <p:cNvSpPr/>
          <p:nvPr/>
        </p:nvSpPr>
        <p:spPr>
          <a:xfrm>
            <a:off x="762000" y="3586162"/>
            <a:ext cx="10668000"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1" name="Google Shape;221;p25"/>
          <p:cNvSpPr/>
          <p:nvPr/>
        </p:nvSpPr>
        <p:spPr>
          <a:xfrm>
            <a:off x="762000" y="4357687"/>
            <a:ext cx="10668000"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2" name="Google Shape;222;p25"/>
          <p:cNvSpPr/>
          <p:nvPr/>
        </p:nvSpPr>
        <p:spPr>
          <a:xfrm>
            <a:off x="762000" y="4357687"/>
            <a:ext cx="10668000" cy="9525"/>
          </a:xfrm>
          <a:prstGeom prst="rect">
            <a:avLst/>
          </a:prstGeom>
          <a:solidFill>
            <a:srgbClr val="757575"/>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pic>
        <p:nvPicPr>
          <p:cNvPr descr="image.png" id="223" name="Google Shape;223;p25"/>
          <p:cNvPicPr preferRelativeResize="0"/>
          <p:nvPr/>
        </p:nvPicPr>
        <p:blipFill rotWithShape="1">
          <a:blip r:embed="rId4">
            <a:alphaModFix/>
          </a:blip>
          <a:srcRect b="0" l="0" r="0" t="0"/>
          <a:stretch/>
        </p:blipFill>
        <p:spPr>
          <a:xfrm>
            <a:off x="762000" y="2881312"/>
            <a:ext cx="857250" cy="476250"/>
          </a:xfrm>
          <a:prstGeom prst="rect">
            <a:avLst/>
          </a:prstGeom>
          <a:noFill/>
          <a:ln>
            <a:noFill/>
          </a:ln>
        </p:spPr>
      </p:pic>
      <p:sp>
        <p:nvSpPr>
          <p:cNvPr id="224" name="Google Shape;224;p25"/>
          <p:cNvSpPr txBox="1"/>
          <p:nvPr/>
        </p:nvSpPr>
        <p:spPr>
          <a:xfrm>
            <a:off x="1857375" y="2795587"/>
            <a:ext cx="9572625" cy="371475"/>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n-US" sz="975" u="none" cap="none" strike="noStrike">
                <a:solidFill>
                  <a:srgbClr val="FDFBF7"/>
                </a:solidFill>
                <a:latin typeface="Montserrat"/>
                <a:ea typeface="Montserrat"/>
                <a:cs typeface="Montserrat"/>
                <a:sym typeface="Montserrat"/>
              </a:rPr>
              <a:t>https://substackcdn.com/image/fetch/$s_!pGgi!,f_auto,q_auto:good,fl_progressive:steep/https%3A%2F%2Fsubstack-post-media.s3.amazonaws.com%2Fpublic%2Fimages%2F2aacfea8-7608-4031-8b27-dcd7b911cd1a_1028x746.png</a:t>
            </a:r>
            <a:endParaRPr/>
          </a:p>
        </p:txBody>
      </p:sp>
      <p:sp>
        <p:nvSpPr>
          <p:cNvPr id="225" name="Google Shape;225;p25"/>
          <p:cNvSpPr txBox="1"/>
          <p:nvPr/>
        </p:nvSpPr>
        <p:spPr>
          <a:xfrm>
            <a:off x="1857375" y="3214687"/>
            <a:ext cx="9572625" cy="228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200" u="none" cap="none" strike="noStrike">
                <a:solidFill>
                  <a:srgbClr val="FDFBF7"/>
                </a:solidFill>
                <a:latin typeface="Montserrat"/>
                <a:ea typeface="Montserrat"/>
                <a:cs typeface="Montserrat"/>
                <a:sym typeface="Montserrat"/>
              </a:rPr>
              <a:t>Source: </a:t>
            </a:r>
            <a:r>
              <a:rPr b="0" i="0" lang="en-US" sz="1200" u="none" cap="none" strike="noStrike">
                <a:solidFill>
                  <a:srgbClr val="4F46E5"/>
                </a:solidFill>
                <a:latin typeface="Montserrat"/>
                <a:ea typeface="Montserrat"/>
                <a:cs typeface="Montserrat"/>
                <a:sym typeface="Montserrat"/>
              </a:rPr>
              <a:t>www.astralcodexten.com</a:t>
            </a:r>
            <a:endParaRPr/>
          </a:p>
        </p:txBody>
      </p:sp>
      <p:pic>
        <p:nvPicPr>
          <p:cNvPr descr="image.png" id="226" name="Google Shape;226;p25"/>
          <p:cNvPicPr preferRelativeResize="0"/>
          <p:nvPr/>
        </p:nvPicPr>
        <p:blipFill rotWithShape="1">
          <a:blip r:embed="rId5">
            <a:alphaModFix/>
          </a:blip>
          <a:srcRect b="0" l="0" r="0" t="0"/>
          <a:stretch/>
        </p:blipFill>
        <p:spPr>
          <a:xfrm>
            <a:off x="762000" y="3738562"/>
            <a:ext cx="857250" cy="476250"/>
          </a:xfrm>
          <a:prstGeom prst="rect">
            <a:avLst/>
          </a:prstGeom>
          <a:noFill/>
          <a:ln>
            <a:noFill/>
          </a:ln>
        </p:spPr>
      </p:pic>
      <p:sp>
        <p:nvSpPr>
          <p:cNvPr id="227" name="Google Shape;227;p25"/>
          <p:cNvSpPr txBox="1"/>
          <p:nvPr/>
        </p:nvSpPr>
        <p:spPr>
          <a:xfrm>
            <a:off x="1857375" y="3745706"/>
            <a:ext cx="9572625" cy="185737"/>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n-US" sz="975" u="none" cap="none" strike="noStrike">
                <a:solidFill>
                  <a:srgbClr val="FDFBF7"/>
                </a:solidFill>
                <a:latin typeface="Montserrat"/>
                <a:ea typeface="Montserrat"/>
                <a:cs typeface="Montserrat"/>
                <a:sym typeface="Montserrat"/>
              </a:rPr>
              <a:t>https://cdn.arabsstock.com/uploads/images/337230/harvest-season-close-up-of-a-preview-337230.jpg</a:t>
            </a:r>
            <a:endParaRPr/>
          </a:p>
        </p:txBody>
      </p:sp>
      <p:sp>
        <p:nvSpPr>
          <p:cNvPr id="228" name="Google Shape;228;p25"/>
          <p:cNvSpPr txBox="1"/>
          <p:nvPr/>
        </p:nvSpPr>
        <p:spPr>
          <a:xfrm>
            <a:off x="1857375" y="3979068"/>
            <a:ext cx="9572625" cy="228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200" u="none" cap="none" strike="noStrike">
                <a:solidFill>
                  <a:srgbClr val="FDFBF7"/>
                </a:solidFill>
                <a:latin typeface="Montserrat"/>
                <a:ea typeface="Montserrat"/>
                <a:cs typeface="Montserrat"/>
                <a:sym typeface="Montserrat"/>
              </a:rPr>
              <a:t>Source: </a:t>
            </a:r>
            <a:r>
              <a:rPr b="0" i="0" lang="en-US" sz="1200" u="none" cap="none" strike="noStrike">
                <a:solidFill>
                  <a:srgbClr val="4F46E5"/>
                </a:solidFill>
                <a:latin typeface="Montserrat"/>
                <a:ea typeface="Montserrat"/>
                <a:cs typeface="Montserrat"/>
                <a:sym typeface="Montserrat"/>
              </a:rPr>
              <a:t>arabsstock.com</a:t>
            </a:r>
            <a:endParaRPr/>
          </a:p>
        </p:txBody>
      </p:sp>
      <p:pic>
        <p:nvPicPr>
          <p:cNvPr descr="image.png" id="229" name="Google Shape;229;p25"/>
          <p:cNvPicPr preferRelativeResize="0"/>
          <p:nvPr/>
        </p:nvPicPr>
        <p:blipFill rotWithShape="1">
          <a:blip r:embed="rId6">
            <a:alphaModFix/>
          </a:blip>
          <a:srcRect b="0" l="0" r="0" t="0"/>
          <a:stretch/>
        </p:blipFill>
        <p:spPr>
          <a:xfrm>
            <a:off x="762000" y="4595812"/>
            <a:ext cx="857250" cy="476250"/>
          </a:xfrm>
          <a:prstGeom prst="rect">
            <a:avLst/>
          </a:prstGeom>
          <a:noFill/>
          <a:ln>
            <a:noFill/>
          </a:ln>
        </p:spPr>
      </p:pic>
      <p:sp>
        <p:nvSpPr>
          <p:cNvPr id="230" name="Google Shape;230;p25"/>
          <p:cNvSpPr txBox="1"/>
          <p:nvPr/>
        </p:nvSpPr>
        <p:spPr>
          <a:xfrm>
            <a:off x="1857375" y="4510087"/>
            <a:ext cx="9572625" cy="371475"/>
          </a:xfrm>
          <a:prstGeom prst="rect">
            <a:avLst/>
          </a:prstGeom>
          <a:noFill/>
          <a:ln>
            <a:noFill/>
          </a:ln>
        </p:spPr>
        <p:txBody>
          <a:bodyPr anchorCtr="0" anchor="t" bIns="0" lIns="0" spcFirstLastPara="1" rIns="0" wrap="square" tIns="0">
            <a:spAutoFit/>
          </a:bodyPr>
          <a:lstStyle/>
          <a:p>
            <a:pPr indent="0" lvl="0" marL="0" marR="0" rtl="0" algn="l">
              <a:lnSpc>
                <a:spcPct val="149948"/>
              </a:lnSpc>
              <a:spcBef>
                <a:spcPts val="0"/>
              </a:spcBef>
              <a:spcAft>
                <a:spcPts val="0"/>
              </a:spcAft>
              <a:buNone/>
            </a:pPr>
            <a:r>
              <a:rPr b="0" i="0" lang="en-US" sz="975" u="none" cap="none" strike="noStrike">
                <a:solidFill>
                  <a:srgbClr val="FDFBF7"/>
                </a:solidFill>
                <a:latin typeface="Montserrat"/>
                <a:ea typeface="Montserrat"/>
                <a:cs typeface="Montserrat"/>
                <a:sym typeface="Montserrat"/>
              </a:rPr>
              <a:t>https://history.rcp.ac.uk/sites/default/files/styles/large_two_column_images/public/2019-11/MSTR46%20-%20Mansur%201656%20female%20reproduction%20smaller_1-min.jpg.webp?itok=9j8MRj1f</a:t>
            </a:r>
            <a:endParaRPr/>
          </a:p>
        </p:txBody>
      </p:sp>
      <p:sp>
        <p:nvSpPr>
          <p:cNvPr id="231" name="Google Shape;231;p25"/>
          <p:cNvSpPr txBox="1"/>
          <p:nvPr/>
        </p:nvSpPr>
        <p:spPr>
          <a:xfrm>
            <a:off x="1857375" y="4929187"/>
            <a:ext cx="9572625" cy="228600"/>
          </a:xfrm>
          <a:prstGeom prst="rect">
            <a:avLst/>
          </a:prstGeom>
          <a:noFill/>
          <a:ln>
            <a:noFill/>
          </a:ln>
        </p:spPr>
        <p:txBody>
          <a:bodyPr anchorCtr="0" anchor="t" bIns="0" lIns="0" spcFirstLastPara="1" rIns="0" wrap="square" tIns="0">
            <a:spAutoFit/>
          </a:bodyPr>
          <a:lstStyle/>
          <a:p>
            <a:pPr indent="0" lvl="0" marL="0" marR="0" rtl="0" algn="l">
              <a:lnSpc>
                <a:spcPct val="150000"/>
              </a:lnSpc>
              <a:spcBef>
                <a:spcPts val="0"/>
              </a:spcBef>
              <a:spcAft>
                <a:spcPts val="0"/>
              </a:spcAft>
              <a:buNone/>
            </a:pPr>
            <a:r>
              <a:rPr b="0" i="0" lang="en-US" sz="1200" u="none" cap="none" strike="noStrike">
                <a:solidFill>
                  <a:srgbClr val="FDFBF7"/>
                </a:solidFill>
                <a:latin typeface="Montserrat"/>
                <a:ea typeface="Montserrat"/>
                <a:cs typeface="Montserrat"/>
                <a:sym typeface="Montserrat"/>
              </a:rPr>
              <a:t>Source: </a:t>
            </a:r>
            <a:r>
              <a:rPr b="0" i="0" lang="en-US" sz="1200" u="none" cap="none" strike="noStrike">
                <a:solidFill>
                  <a:srgbClr val="4F46E5"/>
                </a:solidFill>
                <a:latin typeface="Montserrat"/>
                <a:ea typeface="Montserrat"/>
                <a:cs typeface="Montserrat"/>
                <a:sym typeface="Montserrat"/>
              </a:rPr>
              <a:t>history.rcp.ac.uk</a:t>
            </a:r>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